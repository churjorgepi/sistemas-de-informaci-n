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07267ef7-1a91-d7cf-a88e-d1822577f6a4}">
          <p14:sldIdLst>
            <p14:sldId id="256"/>
          </p14:sldIdLst>
        </p14:section>
        <p14:section name="Introducción" id="{5e56eef7-e47c-bf67-011a-3fbd56ae39ed}">
          <p14:sldIdLst>
            <p14:sldId id="257"/>
            <p14:sldId id="258"/>
            <p14:sldId id="259"/>
          </p14:sldIdLst>
        </p14:section>
        <p14:section name="Ejercicio 1" id="{ac06596b-1620-1709-2ec3-ecbd16fd9ac7}">
          <p14:sldIdLst>
            <p14:sldId id="260"/>
            <p14:sldId id="261"/>
            <p14:sldId id="262"/>
          </p14:sldIdLst>
        </p14:section>
        <p14:section name="Ejercicio 2" id="{63b4dfc8-de86-5e63-1b37-43a8d8dfd95c}">
          <p14:sldIdLst>
            <p14:sldId id="263"/>
            <p14:sldId id="264"/>
            <p14:sldId id="265"/>
          </p14:sldIdLst>
        </p14:section>
        <p14:section name="Ejercicio 3" id="{f518627b-c8ba-c980-6c08-f8cf7e022cc0}">
          <p14:sldIdLst>
            <p14:sldId id="266"/>
            <p14:sldId id="267"/>
            <p14:sldId id="268"/>
            <p14:sldId id="269"/>
          </p14:sldIdLst>
        </p14:section>
        <p14:section name="Ejercicio 4" id="{c4418ed8-e8a9-aa19-84a4-ee662890c4c9}">
          <p14:sldIdLst>
            <p14:sldId id="270"/>
            <p14:sldId id="271"/>
            <p14:sldId id="272"/>
            <p14:sldId id="273"/>
          </p14:sldIdLst>
        </p14:section>
        <p14:section name="Análisis comparativo" id="{1eef8e6c-a547-c645-d412-36d87f2e4a98}">
          <p14:sldIdLst>
            <p14:sldId id="274"/>
          </p14:sldIdLst>
        </p14:section>
        <p14:section name="Preguntas ETL" id="{b44697b4-ede0-67a3-fc82-69c995dc98b2}">
          <p14:sldIdLst>
            <p14:sldId id="275"/>
            <p14:sldId id="276"/>
            <p14:sldId id="277"/>
          </p14:sldIdLst>
        </p14:section>
        <p14:section name="Cierre" id="{2492dfe5-0cbd-ea3a-41ef-106d2267b28c}">
          <p14:sldIdLst>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Ingreso por producto (millones COP)</a:t>
            </a:r>
          </a:p>
        </c:rich>
      </c:tx>
      <c:layout/>
      <c:overlay val="0"/>
    </c:title>
    <c:autoTitleDeleted val="0"/>
    <c:plotArea>
      <c:layout/>
      <c:barChart>
        <c:barDir val="bar"/>
        <c:grouping val="clustered"/>
        <c:varyColors val="0"/>
        <c:ser>
          <c:idx val="0"/>
          <c:order val="0"/>
          <c:tx>
            <c:strRef>
              <c:f>Sheet1!$B$1</c:f>
              <c:strCache>
                <c:ptCount val="1"/>
                <c:pt idx="0">
                  <c:v>Ingreso</c:v>
                </c:pt>
              </c:strCache>
            </c:strRef>
          </c:tx>
          <c:spPr>
            <a:solidFill>
              <a:srgbClr val="2A78D6"/>
            </a:solidFill>
            <a:effectLst/>
          </c:spPr>
          <c:invertIfNegative val="0"/>
          <c:dLbls>
            <c:numFmt formatCode="$0.00&quot;M&quot;"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cat>
            <c:multiLvlStrRef>
              <c:f>Sheet1!$A$2:$A$5</c:f>
              <c:multiLvlStrCache>
                <c:ptCount val="4"/>
                <c:lvl>
                  <c:pt idx="0">
                    <c:v>Audífonos</c:v>
                  </c:pt>
                  <c:pt idx="1">
                    <c:v>Teclado</c:v>
                  </c:pt>
                  <c:pt idx="2">
                    <c:v>Mouse</c:v>
                  </c:pt>
                  <c:pt idx="3">
                    <c:v>Monitor</c:v>
                  </c:pt>
                </c:lvl>
              </c:multiLvlStrCache>
            </c:multiLvlStrRef>
          </c:cat>
          <c:val>
            <c:numRef>
              <c:f>Sheet1!$B$2:$B$5</c:f>
              <c:numCache>
                <c:formatCode>General</c:formatCode>
                <c:ptCount val="4"/>
                <c:pt idx="0">
                  <c:v>2.05</c:v>
                </c:pt>
                <c:pt idx="1">
                  <c:v>2.9925</c:v>
                </c:pt>
                <c:pt idx="2">
                  <c:v>3.25125</c:v>
                </c:pt>
                <c:pt idx="3">
                  <c:v>4.455</c:v>
                </c:pt>
              </c:numCache>
            </c:numRef>
          </c:val>
        </c:ser>
        <c:dLbls>
          <c:numFmt formatCode="$0.00&quot;M&quot;"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5.5"/>
          <c:min val="0"/>
        </c:scaling>
        <c:delete val="0"/>
        <c:axPos val="b"/>
        <c:majorGridlines>
          <c:spPr>
            <a:ln w="9525" cap="flat">
              <a:solidFill>
                <a:srgbClr val="E3E7EE"/>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Ingreso por región (millones COP)</a:t>
            </a:r>
          </a:p>
        </c:rich>
      </c:tx>
      <c:layout/>
      <c:overlay val="0"/>
    </c:title>
    <c:autoTitleDeleted val="0"/>
    <c:plotArea>
      <c:layout/>
      <c:barChart>
        <c:barDir val="col"/>
        <c:grouping val="clustered"/>
        <c:varyColors val="0"/>
        <c:ser>
          <c:idx val="0"/>
          <c:order val="0"/>
          <c:tx>
            <c:strRef>
              <c:f>Sheet1!$B$1</c:f>
              <c:strCache>
                <c:ptCount val="1"/>
                <c:pt idx="0">
                  <c:v>Ingreso</c:v>
                </c:pt>
              </c:strCache>
            </c:strRef>
          </c:tx>
          <c:spPr>
            <a:solidFill>
              <a:srgbClr val="2A78D6"/>
            </a:solidFill>
            <a:effectLst/>
          </c:spPr>
          <c:invertIfNegative val="0"/>
          <c:dLbls>
            <c:numFmt formatCode="$0.00&quot;M&quot;"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cat>
            <c:multiLvlStrRef>
              <c:f>Sheet1!$A$2:$A$4</c:f>
              <c:multiLvlStrCache>
                <c:ptCount val="3"/>
                <c:lvl>
                  <c:pt idx="0">
                    <c:v>Centro</c:v>
                  </c:pt>
                  <c:pt idx="1">
                    <c:v>Sur</c:v>
                  </c:pt>
                  <c:pt idx="2">
                    <c:v>Norte</c:v>
                  </c:pt>
                </c:lvl>
              </c:multiLvlStrCache>
            </c:multiLvlStrRef>
          </c:cat>
          <c:val>
            <c:numRef>
              <c:f>Sheet1!$B$2:$B$4</c:f>
              <c:numCache>
                <c:formatCode>General</c:formatCode>
                <c:ptCount val="3"/>
                <c:pt idx="0">
                  <c:v>5.1145</c:v>
                </c:pt>
                <c:pt idx="1">
                  <c:v>4.24125</c:v>
                </c:pt>
                <c:pt idx="2">
                  <c:v>3.393</c:v>
                </c:pt>
              </c:numCache>
            </c:numRef>
          </c:val>
        </c:ser>
        <c:dLbls>
          <c:numFmt formatCode="$0.00&quot;M&quot;"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Espera promedio por sede (minutos)</a:t>
            </a:r>
          </a:p>
        </c:rich>
      </c:tx>
      <c:layout/>
      <c:overlay val="0"/>
    </c:title>
    <c:autoTitleDeleted val="0"/>
    <c:plotArea>
      <c:layout/>
      <c:barChart>
        <c:barDir val="col"/>
        <c:grouping val="clustered"/>
        <c:varyColors val="0"/>
        <c:ser>
          <c:idx val="0"/>
          <c:order val="0"/>
          <c:tx>
            <c:strRef>
              <c:f>Sheet1!$B$1</c:f>
              <c:strCache>
                <c:ptCount val="1"/>
                <c:pt idx="0">
                  <c:v>Minutos</c:v>
                </c:pt>
              </c:strCache>
            </c:strRef>
          </c:tx>
          <c:spPr>
            <a:solidFill>
              <a:srgbClr val="EB6834"/>
            </a:solidFill>
            <a:effectLst/>
          </c:spPr>
          <c:invertIfNegative val="0"/>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dPt>
            <c:idx val="2"/>
            <c:invertIfNegative val="0"/>
            <c:bubble3D val="0"/>
            <c:spPr>
              <a:solidFill>
                <a:srgbClr val="2A78D6"/>
              </a:solidFill>
              <a:effectLst/>
            </c:spPr>
          </c:dPt>
          <c:cat>
            <c:multiLvlStrRef>
              <c:f>Sheet1!$A$2:$A$4</c:f>
              <c:multiLvlStrCache>
                <c:ptCount val="3"/>
                <c:lvl>
                  <c:pt idx="0">
                    <c:v>Sur</c:v>
                  </c:pt>
                  <c:pt idx="1">
                    <c:v>Centro</c:v>
                  </c:pt>
                  <c:pt idx="2">
                    <c:v>Norte</c:v>
                  </c:pt>
                </c:lvl>
              </c:multiLvlStrCache>
            </c:multiLvlStrRef>
          </c:cat>
          <c:val>
            <c:numRef>
              <c:f>Sheet1!$B$2:$B$4</c:f>
              <c:numCache>
                <c:formatCode>General</c:formatCode>
                <c:ptCount val="3"/>
                <c:pt idx="0">
                  <c:v>51</c:v>
                </c:pt>
                <c:pt idx="1">
                  <c:v>37.77</c:v>
                </c:pt>
                <c:pt idx="2">
                  <c:v>33</c:v>
                </c:pt>
              </c:numCache>
            </c:numRef>
          </c:val>
        </c:ser>
        <c:dLbls>
          <c:numFmt formatCode="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Satisfacción promedio por servicio (1 a 5)</a:t>
            </a:r>
          </a:p>
        </c:rich>
      </c:tx>
      <c:layout/>
      <c:overlay val="0"/>
    </c:title>
    <c:autoTitleDeleted val="0"/>
    <c:plotArea>
      <c:layout/>
      <c:barChart>
        <c:barDir val="col"/>
        <c:grouping val="clustered"/>
        <c:varyColors val="0"/>
        <c:ser>
          <c:idx val="0"/>
          <c:order val="0"/>
          <c:tx>
            <c:strRef>
              <c:f>Sheet1!$B$1</c:f>
              <c:strCache>
                <c:ptCount val="1"/>
                <c:pt idx="0">
                  <c:v>Satisfacción</c:v>
                </c:pt>
              </c:strCache>
            </c:strRef>
          </c:tx>
          <c:spPr>
            <a:solidFill>
              <a:srgbClr val="2A78D6"/>
            </a:solidFill>
            <a:effectLst/>
          </c:spPr>
          <c:invertIfNegative val="0"/>
          <c:dLbls>
            <c:numFmt formatCode="0.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2A78D6"/>
              </a:solidFill>
              <a:effectLst/>
            </c:spPr>
          </c:dPt>
          <c:dPt>
            <c:idx val="2"/>
            <c:invertIfNegative val="0"/>
            <c:bubble3D val="0"/>
            <c:spPr>
              <a:solidFill>
                <a:srgbClr val="EB6834"/>
              </a:solidFill>
              <a:effectLst/>
            </c:spPr>
          </c:dPt>
          <c:cat>
            <c:multiLvlStrRef>
              <c:f>Sheet1!$A$2:$A$4</c:f>
              <c:multiLvlStrCache>
                <c:ptCount val="3"/>
                <c:lvl>
                  <c:pt idx="0">
                    <c:v>Consulta</c:v>
                  </c:pt>
                  <c:pt idx="1">
                    <c:v>Laboratorio</c:v>
                  </c:pt>
                  <c:pt idx="2">
                    <c:v>Urgencias</c:v>
                  </c:pt>
                </c:lvl>
              </c:multiLvlStrCache>
            </c:multiLvlStrRef>
          </c:cat>
          <c:val>
            <c:numRef>
              <c:f>Sheet1!$B$2:$B$4</c:f>
              <c:numCache>
                <c:formatCode>General</c:formatCode>
                <c:ptCount val="3"/>
                <c:pt idx="0">
                  <c:v>3.25</c:v>
                </c:pt>
                <c:pt idx="1">
                  <c:v>3.0833</c:v>
                </c:pt>
                <c:pt idx="2">
                  <c:v>2.6364</c:v>
                </c:pt>
              </c:numCache>
            </c:numRef>
          </c:val>
        </c:ser>
        <c:dLbls>
          <c:numFmt formatCode="0.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Retraso promedio por transportista (días)</a:t>
            </a:r>
          </a:p>
        </c:rich>
      </c:tx>
      <c:layout/>
      <c:overlay val="0"/>
    </c:title>
    <c:autoTitleDeleted val="0"/>
    <c:plotArea>
      <c:layout/>
      <c:barChart>
        <c:barDir val="col"/>
        <c:grouping val="clustered"/>
        <c:varyColors val="0"/>
        <c:ser>
          <c:idx val="0"/>
          <c:order val="0"/>
          <c:tx>
            <c:strRef>
              <c:f>Sheet1!$B$1</c:f>
              <c:strCache>
                <c:ptCount val="1"/>
                <c:pt idx="0">
                  <c:v>Días</c:v>
                </c:pt>
              </c:strCache>
            </c:strRef>
          </c:tx>
          <c:spPr>
            <a:solidFill>
              <a:srgbClr val="EB6834"/>
            </a:solidFill>
            <a:effectLst/>
          </c:spPr>
          <c:invertIfNegative val="0"/>
          <c:dLbls>
            <c:numFmt formatCode="0.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dPt>
            <c:idx val="2"/>
            <c:invertIfNegative val="0"/>
            <c:bubble3D val="0"/>
            <c:spPr>
              <a:solidFill>
                <a:srgbClr val="2A78D6"/>
              </a:solidFill>
              <a:effectLst/>
            </c:spPr>
          </c:dPt>
          <c:cat>
            <c:multiLvlStrRef>
              <c:f>Sheet1!$A$2:$A$4</c:f>
              <c:multiLvlStrCache>
                <c:ptCount val="3"/>
                <c:lvl>
                  <c:pt idx="0">
                    <c:v>T1</c:v>
                  </c:pt>
                  <c:pt idx="1">
                    <c:v>T2</c:v>
                  </c:pt>
                  <c:pt idx="2">
                    <c:v>T3</c:v>
                  </c:pt>
                </c:lvl>
              </c:multiLvlStrCache>
            </c:multiLvlStrRef>
          </c:cat>
          <c:val>
            <c:numRef>
              <c:f>Sheet1!$B$2:$B$4</c:f>
              <c:numCache>
                <c:formatCode>General</c:formatCode>
                <c:ptCount val="3"/>
                <c:pt idx="0">
                  <c:v>1.2727</c:v>
                </c:pt>
                <c:pt idx="1">
                  <c:v>1.25</c:v>
                </c:pt>
                <c:pt idx="2">
                  <c:v>1.0833</c:v>
                </c:pt>
              </c:numCache>
            </c:numRef>
          </c:val>
        </c:ser>
        <c:dLbls>
          <c:numFmt formatCode="0.0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9525" cap="flat">
              <a:solidFill>
                <a:srgbClr val="E3E7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Costo promedio válido por zona (COP)</a:t>
            </a:r>
          </a:p>
        </c:rich>
      </c:tx>
      <c:layout/>
      <c:overlay val="0"/>
    </c:title>
    <c:autoTitleDeleted val="0"/>
    <c:plotArea>
      <c:layout/>
      <c:barChart>
        <c:barDir val="col"/>
        <c:grouping val="clustered"/>
        <c:varyColors val="0"/>
        <c:ser>
          <c:idx val="0"/>
          <c:order val="0"/>
          <c:tx>
            <c:strRef>
              <c:f>Sheet1!$B$1</c:f>
              <c:strCache>
                <c:ptCount val="1"/>
                <c:pt idx="0">
                  <c:v>COP</c:v>
                </c:pt>
              </c:strCache>
            </c:strRef>
          </c:tx>
          <c:spPr>
            <a:solidFill>
              <a:srgbClr val="2A78D6"/>
            </a:solidFill>
            <a:effectLst/>
          </c:spPr>
          <c:invertIfNegative val="0"/>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cat>
            <c:multiLvlStrRef>
              <c:f>Sheet1!$A$2:$A$4</c:f>
              <c:multiLvlStrCache>
                <c:ptCount val="3"/>
                <c:lvl>
                  <c:pt idx="0">
                    <c:v>Urbana</c:v>
                  </c:pt>
                  <c:pt idx="1">
                    <c:v>Rural</c:v>
                  </c:pt>
                  <c:pt idx="2">
                    <c:v>Mixta</c:v>
                  </c:pt>
                </c:lvl>
              </c:multiLvlStrCache>
            </c:multiLvlStrRef>
          </c:cat>
          <c:val>
            <c:numRef>
              <c:f>Sheet1!$B$2:$B$4</c:f>
              <c:numCache>
                <c:formatCode>General</c:formatCode>
                <c:ptCount val="3"/>
                <c:pt idx="0">
                  <c:v>23576.92</c:v>
                </c:pt>
                <c:pt idx="1">
                  <c:v>26000</c:v>
                </c:pt>
                <c:pt idx="2">
                  <c:v>29500</c:v>
                </c:pt>
              </c:numCache>
            </c:numRef>
          </c:val>
        </c:ser>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36000"/>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Clientes por categoría</a:t>
            </a:r>
          </a:p>
        </c:rich>
      </c:tx>
      <c:layout/>
      <c:overlay val="0"/>
    </c:title>
    <c:autoTitleDeleted val="0"/>
    <c:plotArea>
      <c:layout/>
      <c:barChart>
        <c:barDir val="col"/>
        <c:grouping val="clustered"/>
        <c:varyColors val="0"/>
        <c:ser>
          <c:idx val="0"/>
          <c:order val="0"/>
          <c:tx>
            <c:strRef>
              <c:f>Sheet1!$B$1</c:f>
              <c:strCache>
                <c:ptCount val="1"/>
                <c:pt idx="0">
                  <c:v>Clientes</c:v>
                </c:pt>
              </c:strCache>
            </c:strRef>
          </c:tx>
          <c:spPr>
            <a:solidFill>
              <a:srgbClr val="2A78D6"/>
            </a:solidFill>
            <a:effectLst/>
          </c:spPr>
          <c:invertIfNegative val="0"/>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9A9A95"/>
              </a:solidFill>
              <a:effectLst/>
            </c:spPr>
          </c:dPt>
          <c:dPt>
            <c:idx val="2"/>
            <c:invertIfNegative val="0"/>
            <c:bubble3D val="0"/>
            <c:spPr>
              <a:solidFill>
                <a:srgbClr val="EB6834"/>
              </a:solidFill>
              <a:effectLst/>
            </c:spPr>
          </c:dPt>
          <c:dPt>
            <c:idx val="3"/>
            <c:invertIfNegative val="0"/>
            <c:bubble3D val="0"/>
            <c:spPr>
              <a:solidFill>
                <a:srgbClr val="C9C9C4"/>
              </a:solidFill>
              <a:effectLst/>
            </c:spPr>
          </c:dPt>
          <c:cat>
            <c:multiLvlStrRef>
              <c:f>Sheet1!$A$2:$A$5</c:f>
              <c:multiLvlStrCache>
                <c:ptCount val="4"/>
                <c:lvl>
                  <c:pt idx="0">
                    <c:v>Alto valor</c:v>
                  </c:pt>
                  <c:pt idx="1">
                    <c:v>Otros</c:v>
                  </c:pt>
                  <c:pt idx="2">
                    <c:v>En seguimiento</c:v>
                  </c:pt>
                  <c:pt idx="3">
                    <c:v>No clasif.</c:v>
                  </c:pt>
                </c:lvl>
              </c:multiLvlStrCache>
            </c:multiLvlStrRef>
          </c:cat>
          <c:val>
            <c:numRef>
              <c:f>Sheet1!$B$2:$B$5</c:f>
              <c:numCache>
                <c:formatCode>General</c:formatCode>
                <c:ptCount val="4"/>
                <c:pt idx="0">
                  <c:v>14</c:v>
                </c:pt>
                <c:pt idx="1">
                  <c:v>15</c:v>
                </c:pt>
                <c:pt idx="2">
                  <c:v>5</c:v>
                </c:pt>
                <c:pt idx="3">
                  <c:v>2</c:v>
                </c:pt>
              </c:numCache>
            </c:numRef>
          </c:val>
        </c:ser>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9525" cap="flat">
              <a:solidFill>
                <a:srgbClr val="E3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6B6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Jorge Piñeros y les presento el Data Intelligence Challenge: cuatro casos donde hice ETL, calculé indicadores y tomé una decisión con cada uno. Dos casos los hice en Power BI y dos en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es aplicar ETL y llegar a una decisión con cifras. Trabajé con tres organizaciones y cuatro archivos de 36 registros cada uno, 144 en total. Cada archivo traía 3 anomalías puestas a propósito, 12 en total. Mi regla fue no inventar valores y no borrar filas.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orden de la presentación: primero el objetivo y el método, luego los cuatro ejercicios, después la tabla comparativa, las tres respuestas ETL, conclusiones, recomendaciones, fuentes y anexos.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Uso siempre el mismo método. Extraigo y miro el estado original, transformo con un criterio claro, cargo el dato preparado y recién ahí calculo indicadores. La regla que más importa: no inventar valores.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1, el ETL. Importé el CSV en Power BI y en Power Query limpié Region y Canal: había una región ' norte ' y un canal 'web ' con espacios, que sin limpiar crean categorías separadas. Después creé Ingreso_Esperado y Diferencia. La única anomalía de negocio es la venta V020, registrada en 295.000 cuando debía ser 270.000.
Si me toca este ejercicio en la demostración: abrir el .pbix, mostrar Pasos aplicados en Power Query, la tabla Ventas y el tablero con las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Indicadores del ejercicio 1: esperado 12.723.750, registrado 12.748.750, diferencia 25.000, una sola fila con discrepancia. Top 3 de productos: Monitor, Mouse y Teclado. Los cuatro productos vendieron 45 unidades, así que la diferencia es de precio. Región y canal coinciden casi perfecto.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priorizar Monitor y el canal Distribuidor. Monitor aporta casi 35% del ingreso. Distribuidor aporta 40% y tiene el ticket más alto, 426 mil por venta. Además hay que corregir la factura V020 y poner una validación automática.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2. En VidaPlus la sede ' centro ' tenía espacios, una atención no tiene tiempo de espera y otra tiene satisfacción 6 en una escala de 1 a 5. A la vacía no le puse cero ni promedio, la dejé vacía y la saqué solo de los cálculos de tiempo. A la de 6 la marqué inválida.
Demostración si me toca: Power Query con la columna Intervalo_Espera, tabla Atenciones y panel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Indicadores del ejercicio 2: 36 atenciones, 24 atendidas y 12 canceladas. El porcentaje de esperas de más de 40 minutos es 51,4%: 18 de 35, porque la atención A018 no tiene tiempo y no entra al denominador. Si dividiera entre 36 daría 50%. La espera promedio más alta es la de la sede Sur con 51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prioridad es Urgencias en la sede Sur: la espera más alta, la satisfacción más baja y todas las cancelaciones. Aclaro la limitación: en estos datos sede, servicio y estado son lo mismo, así que no puedo decir cuál factor causa el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3 en Python. Cargué el CSV, miré head, info e isna. Encontré una zona con espacios, un costo negativo y un envío sin días reales. El costo negativo lo pasé a NaN, no lo reemplacé; y el retraso lo calculé como el máximo entre real menos planeado y cero.
Demostración si me toca: abrir el notebook en Colab, ejecutar las celdas de lectura, limpieza e indicadores y mostrar el CSV exportado.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Indicadores del ejercicio 3: de 35 envíos con tiempos válidos, 14 llegaron a tiempo y 21 retrasados, o sea 60%. T1 tiene el mayor porcentaje, 63,6%, pero la diferencia con T2 y T3 es pequeña. Dato importante: los 12 envíos de T3 figuran como Devuelto.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T1 entra primero al plan de mejora porque tiene el mayor retraso, pero la diferencia es mínima y el problema es de todos. A T3 hay que auditarlo aparte porque todos sus envíos están devueltos. Y recordar el caso del costo negativo: si no lo limpio, Rural parece más barata que Urbana, cuando en realidad es más cara.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capturas reales de la salida del notebook. La primera muestra la limpieza: la zona corregida, el costo negativo y el envío sin tiempo. La segunda muestra los indicadores y, abajo, el costo por zona sin limpiar, para comparar con el limpio.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4. Estandaricé la ciudad, convertí a número y marqué como inválidas las compras negativas y el gasto faltante. Luego clasifiqué con la regla de la guía en este orden: primero si faltan datos, luego Alto valor, luego En seguimiento, y el resto Otros.
Demostración si me toca: ejecutar las celdas de clasificación en el notebook y mostrar value_counts y el CSV exportado.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Indicadores del ejercicio 4: 14 clientes de Alto valor, 15 Otros, 5 En seguimiento y 2 No clasificables. El gasto total es 9.880.000. Los de Alto valor son el 39% de los clientes pero el 70% del gasto. El top 5 son cinco clientes empatados en 640.000. Y hay 5 clientes de Alto valor que llevan más de 60 días sin comprar: son la prioridad de recuperación.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campaña en dos fases. Primero recuperar a los cinco Alto valor que llevan más de 60 días sin comprar, porque ya demostraron que compran y gastan bien. Después fidelizar al top 5. Y hay dos clientes, C006 y C014, que están a cinco mil pesos de ser Alto valor. El gráfico de dispersión tiene los puntos movidos un poquito solo para que se vean, los valores no cambian.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Capturas reales del notebook del ejercicio 4: arriba la limpieza y abajo los indicadores por categoría.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Comparando las cuatro bases: todas tenían exactamente tres anomalías, 8,3% de las filas, y todas se pudieron tratar sin borrar filas. La diferencia está en el tipo de problema: NovaMarket ventas tiene el único error de negocio, la facturación; VidaPlus y RutaExpress tienen faltantes o valores fuera de rango que afectan promedios; en clientes el problema impide clasificar a dos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Extract. Al juntar fuentes pueden venir con formatos distintos, incompletas, con otra codificación o duplicadas. Para verificar cuento filas y columnas, reviso tipos y faltantes, y comparo archivos. En el laboratorio pasó todo: los cuatro CSV traen BOM, hay textos con espacios, hay vacíos y el zip traía un archivo duplicado que comprobé con diff que era idéntico.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Transform. Es imprescindible depurar porque un dato malo entra al promedio sin avisar. El caso principal: el envío E022 tiene un costo de menos 5.000. Si lo dejo, la zona Rural queda en 23.182 y parece más barata que la Urbana. Al marcarlo como inválido, Rural queda en 26.000 y es más cara. La decisión de tarifas sería la contraria. Otros casos: la satisfacción 6 que esconde parte del problema de Urgencias, y la espera vacía que si la tratara como cero bajaría el promedio de Norte.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Load. Los datos originales son la copia con todas sus anomalías y no se tocan. Los preparados son los que uso para calcular. La trazabilidad: guardo los limpios en archivos nuevos, en Power BI quedan los pasos aplicados, en Python el notebook con comentarios, las anomalías las marco en columnas propias en vez de borrar filas, y tengo una bitácora de los 12 cambios.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conclusiones. Uno: los datos tenían pocos problemas pero con efecto real en las decisiones. Dos: en NovaMarket el ingreso está muy concentrado en Monitor, el canal Distribuidor y los clientes de Alto valor. Tres: VidaPlus y RutaExpress tienen problemas de servicio generales, no de un solo punto.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recomendaciones. Primero validar en la fuente para que estos errores no se repitan. Segundo, planes de mejora con metas: bajar la espera de Urgencias en Sur a menos de 40 minutos y trabajar con T1 y T3. Tercero, una campaña en dos fases con los clientes que identifiqué.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fuentes: el material de clase y la documentación oficial de Power Query, DAX, pandas y matplotlib.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los anexos están el código del notebook, los archivos depurados y las capturas complementarias. También el informe completo en Word y PDF tiene la bitácora y el código de Power Query y DAX.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esto termino. Quedo atento a la demostración del ejercicio que elija el profesor: en los de Power BI muestro los pasos aplicados y el tablero; en los de Python ejecuto el notebook en Colab de arriba hacia 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ULO">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Data Intelligence Challenge · Jorge Piñeros · Universidad EAN</a:t>
            </a:r>
            <a:endParaRPr lang="en-US" sz="1000" dirty="0"/>
          </a:p>
        </p:txBody>
      </p:sp>
      <p:sp>
        <p:nvSpPr>
          <p:cNvPr id="3" name="Text 1"/>
          <p:cNvSpPr/>
          <p:nvPr>
            <p:ph idx="101" type="title" hasCustomPrompt="1"/>
          </p:nvPr>
        </p:nvSpPr>
        <p:spPr>
          <a:xfrm>
            <a:off x="548640" y="274320"/>
            <a:ext cx="11091672" cy="8686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822960"/>
            <a:ext cx="7315200" cy="365760"/>
          </a:xfrm>
          <a:prstGeom prst="rect">
            <a:avLst/>
          </a:prstGeom>
          <a:noFill/>
          <a:ln/>
        </p:spPr>
        <p:txBody>
          <a:bodyPr wrap="square" lIns="0" tIns="0" rIns="0" bIns="0" rtlCol="0" anchor="t"/>
          <a:lstStyle/>
          <a:p>
            <a:pPr indent="0" marL="0">
              <a:buNone/>
            </a:pPr>
            <a:r>
              <a:rPr lang="en-US" sz="1600" b="1" dirty="0">
                <a:solidFill>
                  <a:schemeClr val="bg2"/>
                </a:solidFill>
              </a:rPr>
              <a:t>UNIVERSIDAD EAN · BOGOTÁ</a:t>
            </a:r>
            <a:endParaRPr lang="en-US" sz="1600" dirty="0"/>
          </a:p>
        </p:txBody>
      </p:sp>
      <p:sp>
        <p:nvSpPr>
          <p:cNvPr id="3" name="Text 1"/>
          <p:cNvSpPr txBox="1"/>
          <p:nvPr/>
        </p:nvSpPr>
        <p:spPr>
          <a:xfrm>
            <a:off x="822960" y="1828800"/>
            <a:ext cx="7315200" cy="457200"/>
          </a:xfrm>
          <a:prstGeom prst="rect">
            <a:avLst/>
          </a:prstGeom>
          <a:noFill/>
          <a:ln/>
        </p:spPr>
        <p:txBody>
          <a:bodyPr wrap="square" lIns="0" tIns="0" rIns="0" bIns="0" rtlCol="0" anchor="t"/>
          <a:lstStyle/>
          <a:p>
            <a:pPr indent="0" marL="0">
              <a:buNone/>
            </a:pPr>
            <a:r>
              <a:rPr lang="en-US" sz="2200" dirty="0">
                <a:solidFill>
                  <a:schemeClr val="bg2"/>
                </a:solidFill>
              </a:rPr>
              <a:t>Learning Activity 3</a:t>
            </a:r>
            <a:endParaRPr lang="en-US" sz="2200" dirty="0"/>
          </a:p>
        </p:txBody>
      </p:sp>
      <p:sp>
        <p:nvSpPr>
          <p:cNvPr id="4" name="Text 2"/>
          <p:cNvSpPr txBox="1"/>
          <p:nvPr/>
        </p:nvSpPr>
        <p:spPr>
          <a:xfrm>
            <a:off x="822960" y="2331720"/>
            <a:ext cx="10515600" cy="914400"/>
          </a:xfrm>
          <a:prstGeom prst="rect">
            <a:avLst/>
          </a:prstGeom>
          <a:noFill/>
          <a:ln/>
        </p:spPr>
        <p:txBody>
          <a:bodyPr wrap="square" lIns="0" tIns="0" rIns="0" bIns="0" rtlCol="0" anchor="t"/>
          <a:lstStyle/>
          <a:p>
            <a:pPr indent="0" marL="0">
              <a:buNone/>
            </a:pPr>
            <a:r>
              <a:rPr lang="en-US" sz="4800" b="1" dirty="0">
                <a:solidFill>
                  <a:schemeClr val="bg1"/>
                </a:solidFill>
              </a:rPr>
              <a:t>DATA INTELLIGENCE CHALLENGE</a:t>
            </a:r>
            <a:endParaRPr lang="en-US" sz="4800" dirty="0"/>
          </a:p>
        </p:txBody>
      </p:sp>
      <p:sp>
        <p:nvSpPr>
          <p:cNvPr id="5" name="Text 3"/>
          <p:cNvSpPr txBox="1"/>
          <p:nvPr/>
        </p:nvSpPr>
        <p:spPr>
          <a:xfrm>
            <a:off x="822960" y="3383280"/>
            <a:ext cx="8686800" cy="822960"/>
          </a:xfrm>
          <a:prstGeom prst="rect">
            <a:avLst/>
          </a:prstGeom>
          <a:noFill/>
          <a:ln/>
        </p:spPr>
        <p:txBody>
          <a:bodyPr wrap="square" lIns="0" tIns="0" rIns="0" bIns="0" rtlCol="0" anchor="t"/>
          <a:lstStyle/>
          <a:p>
            <a:pPr indent="0" marL="0">
              <a:buNone/>
            </a:pPr>
            <a:r>
              <a:rPr lang="en-US" sz="2200" dirty="0">
                <a:solidFill>
                  <a:schemeClr val="bg2"/>
                </a:solidFill>
              </a:rPr>
              <a:t>ETL, indicadores y decisiones con datos de NovaMarket, VidaPlus y RutaExpress</a:t>
            </a:r>
            <a:endParaRPr lang="en-US" sz="2200" dirty="0"/>
          </a:p>
        </p:txBody>
      </p:sp>
      <p:sp>
        <p:nvSpPr>
          <p:cNvPr id="6" name="Text 4"/>
          <p:cNvSpPr txBox="1"/>
          <p:nvPr/>
        </p:nvSpPr>
        <p:spPr>
          <a:xfrm>
            <a:off x="822960" y="5029200"/>
            <a:ext cx="7315200" cy="411480"/>
          </a:xfrm>
          <a:prstGeom prst="rect">
            <a:avLst/>
          </a:prstGeom>
          <a:noFill/>
          <a:ln/>
        </p:spPr>
        <p:txBody>
          <a:bodyPr wrap="square" lIns="0" tIns="0" rIns="0" bIns="0" rtlCol="0" anchor="t"/>
          <a:lstStyle/>
          <a:p>
            <a:pPr indent="0" marL="0">
              <a:buNone/>
            </a:pPr>
            <a:r>
              <a:rPr lang="en-US" sz="2200" b="1" dirty="0">
                <a:solidFill>
                  <a:schemeClr val="bg1"/>
                </a:solidFill>
              </a:rPr>
              <a:t>Jorge Piñeros</a:t>
            </a:r>
            <a:endParaRPr lang="en-US" sz="2200" dirty="0"/>
          </a:p>
        </p:txBody>
      </p:sp>
      <p:sp>
        <p:nvSpPr>
          <p:cNvPr id="7" name="Text 5"/>
          <p:cNvSpPr txBox="1"/>
          <p:nvPr/>
        </p:nvSpPr>
        <p:spPr>
          <a:xfrm>
            <a:off x="822960" y="5486400"/>
            <a:ext cx="10058400" cy="365760"/>
          </a:xfrm>
          <a:prstGeom prst="rect">
            <a:avLst/>
          </a:prstGeom>
          <a:noFill/>
          <a:ln/>
        </p:spPr>
        <p:txBody>
          <a:bodyPr wrap="square" lIns="0" tIns="0" rIns="0" bIns="0" rtlCol="0" anchor="t"/>
          <a:lstStyle/>
          <a:p>
            <a:pPr indent="0" marL="0">
              <a:buNone/>
            </a:pPr>
            <a:r>
              <a:rPr lang="en-US" sz="1500" dirty="0">
                <a:solidFill>
                  <a:schemeClr val="bg2"/>
                </a:solidFill>
              </a:rPr>
              <a:t>Materia y docente: ______________________   ·   25 de octubre de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Objetivo e introducción</a:t>
            </a:r>
            <a:endParaRPr lang="en-US" sz="3000" dirty="0"/>
          </a:p>
        </p:txBody>
      </p:sp>
      <p:sp>
        <p:nvSpPr>
          <p:cNvPr id="3" name="Text 1"/>
          <p:cNvSpPr txBox="1"/>
          <p:nvPr/>
        </p:nvSpPr>
        <p:spPr>
          <a:xfrm>
            <a:off x="548640" y="1371600"/>
            <a:ext cx="5120640" cy="365760"/>
          </a:xfrm>
          <a:prstGeom prst="rect">
            <a:avLst/>
          </a:prstGeom>
          <a:noFill/>
          <a:ln/>
        </p:spPr>
        <p:txBody>
          <a:bodyPr wrap="square" lIns="0" tIns="0" rIns="0" bIns="0" rtlCol="0" anchor="t"/>
          <a:lstStyle/>
          <a:p>
            <a:pPr indent="0" marL="0">
              <a:buNone/>
            </a:pPr>
            <a:r>
              <a:rPr lang="en-US" sz="2000" b="1" dirty="0">
                <a:solidFill>
                  <a:schemeClr val="accent1"/>
                </a:solidFill>
              </a:rPr>
              <a:t>Objetivo</a:t>
            </a:r>
            <a:endParaRPr lang="en-US" sz="2000" dirty="0"/>
          </a:p>
        </p:txBody>
      </p:sp>
      <p:sp>
        <p:nvSpPr>
          <p:cNvPr id="4" name="Text 2"/>
          <p:cNvSpPr txBox="1"/>
          <p:nvPr/>
        </p:nvSpPr>
        <p:spPr>
          <a:xfrm>
            <a:off x="548640" y="1783080"/>
            <a:ext cx="5120640" cy="1463040"/>
          </a:xfrm>
          <a:prstGeom prst="rect">
            <a:avLst/>
          </a:prstGeom>
          <a:noFill/>
          <a:ln/>
        </p:spPr>
        <p:txBody>
          <a:bodyPr wrap="square" lIns="0" tIns="0" rIns="0" bIns="0" rtlCol="0" anchor="t"/>
          <a:lstStyle/>
          <a:p>
            <a:pPr indent="0" marL="0">
              <a:buNone/>
            </a:pPr>
            <a:r>
              <a:rPr lang="en-US" sz="1700" dirty="0">
                <a:solidFill>
                  <a:schemeClr val="tx1"/>
                </a:solidFill>
              </a:rPr>
              <a:t>Aplicar procesos ETL (extraer, transformar y cargar) para preparar, analizar y visualizar datos con Power BI y Python, y generar indicadores verificables que sustenten decisiones.</a:t>
            </a:r>
            <a:endParaRPr lang="en-US" sz="1700" dirty="0"/>
          </a:p>
        </p:txBody>
      </p:sp>
      <p:sp>
        <p:nvSpPr>
          <p:cNvPr id="5" name="Text 3"/>
          <p:cNvSpPr txBox="1"/>
          <p:nvPr/>
        </p:nvSpPr>
        <p:spPr>
          <a:xfrm>
            <a:off x="548640" y="3383280"/>
            <a:ext cx="5120640" cy="365760"/>
          </a:xfrm>
          <a:prstGeom prst="rect">
            <a:avLst/>
          </a:prstGeom>
          <a:noFill/>
          <a:ln/>
        </p:spPr>
        <p:txBody>
          <a:bodyPr wrap="square" lIns="0" tIns="0" rIns="0" bIns="0" rtlCol="0" anchor="t"/>
          <a:lstStyle/>
          <a:p>
            <a:pPr indent="0" marL="0">
              <a:buNone/>
            </a:pPr>
            <a:r>
              <a:rPr lang="en-US" sz="2000" b="1" dirty="0">
                <a:solidFill>
                  <a:schemeClr val="accent1"/>
                </a:solidFill>
              </a:rPr>
              <a:t>Cómo trabajé</a:t>
            </a:r>
            <a:endParaRPr lang="en-US" sz="2000" dirty="0"/>
          </a:p>
        </p:txBody>
      </p:sp>
      <p:sp>
        <p:nvSpPr>
          <p:cNvPr id="6" name="Text 4"/>
          <p:cNvSpPr txBox="1"/>
          <p:nvPr/>
        </p:nvSpPr>
        <p:spPr>
          <a:xfrm>
            <a:off x="548640" y="3794760"/>
            <a:ext cx="5120640" cy="21031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Originales intactos; todo lo limpio va en archivos nuevos</a:t>
            </a:r>
            <a:endParaRPr lang="en-US" sz="1600" dirty="0"/>
          </a:p>
          <a:p>
            <a:pPr marL="342900" indent="-342900">
              <a:spcAft>
                <a:spcPts val="600"/>
              </a:spcAft>
              <a:buSzPct val="100000"/>
              <a:buChar char="•"/>
            </a:pPr>
            <a:r>
              <a:rPr lang="en-US" sz="1600" dirty="0">
                <a:solidFill>
                  <a:schemeClr val="tx1"/>
                </a:solidFill>
              </a:rPr>
              <a:t>Nunca inventé valores: lo faltante o inválido se marca y se excluye</a:t>
            </a:r>
            <a:endParaRPr lang="en-US" sz="1600" dirty="0"/>
          </a:p>
          <a:p>
            <a:pPr marL="342900" indent="-342900">
              <a:spcAft>
                <a:spcPts val="600"/>
              </a:spcAft>
              <a:buSzPct val="100000"/>
              <a:buChar char="•"/>
            </a:pPr>
            <a:r>
              <a:rPr lang="en-US" sz="1600" dirty="0">
                <a:solidFill>
                  <a:schemeClr val="tx1"/>
                </a:solidFill>
              </a:rPr>
              <a:t>Ninguna fila eliminada: 36 entran, 36 salen</a:t>
            </a:r>
            <a:endParaRPr lang="en-US" sz="1600" dirty="0"/>
          </a:p>
        </p:txBody>
      </p:sp>
      <p:sp>
        <p:nvSpPr>
          <p:cNvPr id="7" name="Shape 5"/>
          <p:cNvSpPr/>
          <p:nvPr/>
        </p:nvSpPr>
        <p:spPr>
          <a:xfrm>
            <a:off x="6217920" y="1371600"/>
            <a:ext cx="5422392" cy="1051560"/>
          </a:xfrm>
          <a:prstGeom prst="roundRect">
            <a:avLst>
              <a:gd name="adj" fmla="val 6957"/>
            </a:avLst>
          </a:prstGeom>
          <a:solidFill>
            <a:schemeClr val="bg2"/>
          </a:solidFill>
          <a:ln w="12700">
            <a:solidFill>
              <a:schemeClr val="bg2"/>
            </a:solidFill>
            <a:prstDash val="solid"/>
          </a:ln>
        </p:spPr>
      </p:sp>
      <p:sp>
        <p:nvSpPr>
          <p:cNvPr id="8" name="Shape 6"/>
          <p:cNvSpPr/>
          <p:nvPr/>
        </p:nvSpPr>
        <p:spPr>
          <a:xfrm>
            <a:off x="6400800" y="1554480"/>
            <a:ext cx="685800" cy="685800"/>
          </a:xfrm>
          <a:prstGeom prst="ellipse">
            <a:avLst/>
          </a:prstGeom>
          <a:solidFill>
            <a:schemeClr val="accent1"/>
          </a:solidFill>
          <a:ln w="12700">
            <a:solidFill>
              <a:schemeClr val="accent1"/>
            </a:solidFill>
            <a:prstDash val="solid"/>
          </a:ln>
        </p:spPr>
      </p:sp>
      <p:pic>
        <p:nvPicPr>
          <p:cNvPr id="9" name="Image 0" descr="preencoded.png">    </p:cNvPr>
          <p:cNvPicPr>
            <a:picLocks noChangeAspect="1"/>
          </p:cNvPicPr>
          <p:nvPr/>
        </p:nvPicPr>
        <p:blipFill>
          <a:blip r:embed="rId1"/>
          <a:stretch>
            <a:fillRect/>
          </a:stretch>
        </p:blipFill>
        <p:spPr>
          <a:xfrm>
            <a:off x="6572250" y="1725930"/>
            <a:ext cx="342900" cy="342900"/>
          </a:xfrm>
          <a:prstGeom prst="rect">
            <a:avLst/>
          </a:prstGeom>
        </p:spPr>
      </p:pic>
      <p:sp>
        <p:nvSpPr>
          <p:cNvPr id="10" name="Text 7"/>
          <p:cNvSpPr txBox="1"/>
          <p:nvPr/>
        </p:nvSpPr>
        <p:spPr>
          <a:xfrm>
            <a:off x="7269480" y="1536192"/>
            <a:ext cx="4206240" cy="365760"/>
          </a:xfrm>
          <a:prstGeom prst="rect">
            <a:avLst/>
          </a:prstGeom>
          <a:noFill/>
          <a:ln/>
        </p:spPr>
        <p:txBody>
          <a:bodyPr wrap="square" lIns="0" tIns="0" rIns="0" bIns="0" rtlCol="0" anchor="t"/>
          <a:lstStyle/>
          <a:p>
            <a:pPr indent="0" marL="0">
              <a:buNone/>
            </a:pPr>
            <a:r>
              <a:rPr lang="en-US" sz="1800" b="1" dirty="0">
                <a:solidFill>
                  <a:schemeClr val="tx2"/>
                </a:solidFill>
              </a:rPr>
              <a:t>NovaMarket (retail)</a:t>
            </a:r>
            <a:endParaRPr lang="en-US" sz="1800" dirty="0"/>
          </a:p>
        </p:txBody>
      </p:sp>
      <p:sp>
        <p:nvSpPr>
          <p:cNvPr id="11" name="Text 8"/>
          <p:cNvSpPr txBox="1"/>
          <p:nvPr/>
        </p:nvSpPr>
        <p:spPr>
          <a:xfrm>
            <a:off x="7269480" y="1920240"/>
            <a:ext cx="4206240" cy="365760"/>
          </a:xfrm>
          <a:prstGeom prst="rect">
            <a:avLst/>
          </a:prstGeom>
          <a:noFill/>
          <a:ln/>
        </p:spPr>
        <p:txBody>
          <a:bodyPr wrap="square" lIns="0" tIns="0" rIns="0" bIns="0" rtlCol="0" anchor="t"/>
          <a:lstStyle/>
          <a:p>
            <a:pPr indent="0" marL="0">
              <a:buNone/>
            </a:pPr>
            <a:r>
              <a:rPr lang="en-US" sz="1500" dirty="0">
                <a:solidFill>
                  <a:schemeClr val="tx1"/>
                </a:solidFill>
              </a:rPr>
              <a:t>Ventas y clientes · 72 registros</a:t>
            </a:r>
            <a:endParaRPr lang="en-US" sz="1500" dirty="0"/>
          </a:p>
        </p:txBody>
      </p:sp>
      <p:sp>
        <p:nvSpPr>
          <p:cNvPr id="12" name="Shape 9"/>
          <p:cNvSpPr/>
          <p:nvPr/>
        </p:nvSpPr>
        <p:spPr>
          <a:xfrm>
            <a:off x="6217920" y="2560320"/>
            <a:ext cx="5422392" cy="1051560"/>
          </a:xfrm>
          <a:prstGeom prst="roundRect">
            <a:avLst>
              <a:gd name="adj" fmla="val 6957"/>
            </a:avLst>
          </a:prstGeom>
          <a:solidFill>
            <a:schemeClr val="bg2"/>
          </a:solidFill>
          <a:ln w="12700">
            <a:solidFill>
              <a:schemeClr val="bg2"/>
            </a:solidFill>
            <a:prstDash val="solid"/>
          </a:ln>
        </p:spPr>
      </p:sp>
      <p:sp>
        <p:nvSpPr>
          <p:cNvPr id="13" name="Shape 10"/>
          <p:cNvSpPr/>
          <p:nvPr/>
        </p:nvSpPr>
        <p:spPr>
          <a:xfrm>
            <a:off x="6400800" y="2743200"/>
            <a:ext cx="685800" cy="685800"/>
          </a:xfrm>
          <a:prstGeom prst="ellipse">
            <a:avLst/>
          </a:prstGeom>
          <a:solidFill>
            <a:schemeClr val="accent1"/>
          </a:solidFill>
          <a:ln w="12700">
            <a:solidFill>
              <a:schemeClr val="accent1"/>
            </a:solidFill>
            <a:prstDash val="solid"/>
          </a:ln>
        </p:spPr>
      </p:sp>
      <p:pic>
        <p:nvPicPr>
          <p:cNvPr id="14" name="Image 1" descr="preencoded.png">    </p:cNvPr>
          <p:cNvPicPr>
            <a:picLocks noChangeAspect="1"/>
          </p:cNvPicPr>
          <p:nvPr/>
        </p:nvPicPr>
        <p:blipFill>
          <a:blip r:embed="rId2"/>
          <a:stretch>
            <a:fillRect/>
          </a:stretch>
        </p:blipFill>
        <p:spPr>
          <a:xfrm>
            <a:off x="6572250" y="2914650"/>
            <a:ext cx="342900" cy="342900"/>
          </a:xfrm>
          <a:prstGeom prst="rect">
            <a:avLst/>
          </a:prstGeom>
        </p:spPr>
      </p:pic>
      <p:sp>
        <p:nvSpPr>
          <p:cNvPr id="15" name="Text 11"/>
          <p:cNvSpPr txBox="1"/>
          <p:nvPr/>
        </p:nvSpPr>
        <p:spPr>
          <a:xfrm>
            <a:off x="7269480" y="2724912"/>
            <a:ext cx="4206240" cy="365760"/>
          </a:xfrm>
          <a:prstGeom prst="rect">
            <a:avLst/>
          </a:prstGeom>
          <a:noFill/>
          <a:ln/>
        </p:spPr>
        <p:txBody>
          <a:bodyPr wrap="square" lIns="0" tIns="0" rIns="0" bIns="0" rtlCol="0" anchor="t"/>
          <a:lstStyle/>
          <a:p>
            <a:pPr indent="0" marL="0">
              <a:buNone/>
            </a:pPr>
            <a:r>
              <a:rPr lang="en-US" sz="1800" b="1" dirty="0">
                <a:solidFill>
                  <a:schemeClr val="tx2"/>
                </a:solidFill>
              </a:rPr>
              <a:t>VidaPlus (salud)</a:t>
            </a:r>
            <a:endParaRPr lang="en-US" sz="1800" dirty="0"/>
          </a:p>
        </p:txBody>
      </p:sp>
      <p:sp>
        <p:nvSpPr>
          <p:cNvPr id="16" name="Text 12"/>
          <p:cNvSpPr txBox="1"/>
          <p:nvPr/>
        </p:nvSpPr>
        <p:spPr>
          <a:xfrm>
            <a:off x="7269480" y="3108960"/>
            <a:ext cx="4206240" cy="365760"/>
          </a:xfrm>
          <a:prstGeom prst="rect">
            <a:avLst/>
          </a:prstGeom>
          <a:noFill/>
          <a:ln/>
        </p:spPr>
        <p:txBody>
          <a:bodyPr wrap="square" lIns="0" tIns="0" rIns="0" bIns="0" rtlCol="0" anchor="t"/>
          <a:lstStyle/>
          <a:p>
            <a:pPr indent="0" marL="0">
              <a:buNone/>
            </a:pPr>
            <a:r>
              <a:rPr lang="en-US" sz="1500" dirty="0">
                <a:solidFill>
                  <a:schemeClr val="tx1"/>
                </a:solidFill>
              </a:rPr>
              <a:t>Atenciones · 36 registros</a:t>
            </a:r>
            <a:endParaRPr lang="en-US" sz="1500" dirty="0"/>
          </a:p>
        </p:txBody>
      </p:sp>
      <p:sp>
        <p:nvSpPr>
          <p:cNvPr id="17" name="Shape 13"/>
          <p:cNvSpPr/>
          <p:nvPr/>
        </p:nvSpPr>
        <p:spPr>
          <a:xfrm>
            <a:off x="6217920" y="3749040"/>
            <a:ext cx="5422392" cy="1051560"/>
          </a:xfrm>
          <a:prstGeom prst="roundRect">
            <a:avLst>
              <a:gd name="adj" fmla="val 6957"/>
            </a:avLst>
          </a:prstGeom>
          <a:solidFill>
            <a:schemeClr val="bg2"/>
          </a:solidFill>
          <a:ln w="12700">
            <a:solidFill>
              <a:schemeClr val="bg2"/>
            </a:solidFill>
            <a:prstDash val="solid"/>
          </a:ln>
        </p:spPr>
      </p:sp>
      <p:sp>
        <p:nvSpPr>
          <p:cNvPr id="18" name="Shape 14"/>
          <p:cNvSpPr/>
          <p:nvPr/>
        </p:nvSpPr>
        <p:spPr>
          <a:xfrm>
            <a:off x="6400800" y="3931920"/>
            <a:ext cx="685800" cy="685800"/>
          </a:xfrm>
          <a:prstGeom prst="ellipse">
            <a:avLst/>
          </a:prstGeom>
          <a:solidFill>
            <a:schemeClr val="accent1"/>
          </a:solidFill>
          <a:ln w="12700">
            <a:solidFill>
              <a:schemeClr val="accent1"/>
            </a:solidFill>
            <a:prstDash val="solid"/>
          </a:ln>
        </p:spPr>
      </p:sp>
      <p:pic>
        <p:nvPicPr>
          <p:cNvPr id="19" name="Image 2" descr="preencoded.png">    </p:cNvPr>
          <p:cNvPicPr>
            <a:picLocks noChangeAspect="1"/>
          </p:cNvPicPr>
          <p:nvPr/>
        </p:nvPicPr>
        <p:blipFill>
          <a:blip r:embed="rId3"/>
          <a:stretch>
            <a:fillRect/>
          </a:stretch>
        </p:blipFill>
        <p:spPr>
          <a:xfrm>
            <a:off x="6572250" y="4103370"/>
            <a:ext cx="342900" cy="342900"/>
          </a:xfrm>
          <a:prstGeom prst="rect">
            <a:avLst/>
          </a:prstGeom>
        </p:spPr>
      </p:pic>
      <p:sp>
        <p:nvSpPr>
          <p:cNvPr id="20" name="Text 15"/>
          <p:cNvSpPr txBox="1"/>
          <p:nvPr/>
        </p:nvSpPr>
        <p:spPr>
          <a:xfrm>
            <a:off x="7269480" y="3913632"/>
            <a:ext cx="4206240" cy="365760"/>
          </a:xfrm>
          <a:prstGeom prst="rect">
            <a:avLst/>
          </a:prstGeom>
          <a:noFill/>
          <a:ln/>
        </p:spPr>
        <p:txBody>
          <a:bodyPr wrap="square" lIns="0" tIns="0" rIns="0" bIns="0" rtlCol="0" anchor="t"/>
          <a:lstStyle/>
          <a:p>
            <a:pPr indent="0" marL="0">
              <a:buNone/>
            </a:pPr>
            <a:r>
              <a:rPr lang="en-US" sz="1800" b="1" dirty="0">
                <a:solidFill>
                  <a:schemeClr val="tx2"/>
                </a:solidFill>
              </a:rPr>
              <a:t>RutaExpress (logística)</a:t>
            </a:r>
            <a:endParaRPr lang="en-US" sz="1800" dirty="0"/>
          </a:p>
        </p:txBody>
      </p:sp>
      <p:sp>
        <p:nvSpPr>
          <p:cNvPr id="21" name="Text 16"/>
          <p:cNvSpPr txBox="1"/>
          <p:nvPr/>
        </p:nvSpPr>
        <p:spPr>
          <a:xfrm>
            <a:off x="7269480" y="4297680"/>
            <a:ext cx="4206240" cy="365760"/>
          </a:xfrm>
          <a:prstGeom prst="rect">
            <a:avLst/>
          </a:prstGeom>
          <a:noFill/>
          <a:ln/>
        </p:spPr>
        <p:txBody>
          <a:bodyPr wrap="square" lIns="0" tIns="0" rIns="0" bIns="0" rtlCol="0" anchor="t"/>
          <a:lstStyle/>
          <a:p>
            <a:pPr indent="0" marL="0">
              <a:buNone/>
            </a:pPr>
            <a:r>
              <a:rPr lang="en-US" sz="1500" dirty="0">
                <a:solidFill>
                  <a:schemeClr val="tx1"/>
                </a:solidFill>
              </a:rPr>
              <a:t>Envíos · 36 registros</a:t>
            </a:r>
            <a:endParaRPr lang="en-US" sz="1500" dirty="0"/>
          </a:p>
        </p:txBody>
      </p:sp>
      <p:sp>
        <p:nvSpPr>
          <p:cNvPr id="22" name="Shape 17"/>
          <p:cNvSpPr/>
          <p:nvPr/>
        </p:nvSpPr>
        <p:spPr>
          <a:xfrm>
            <a:off x="6217920" y="5029200"/>
            <a:ext cx="2651760" cy="1188720"/>
          </a:xfrm>
          <a:prstGeom prst="roundRect">
            <a:avLst>
              <a:gd name="adj" fmla="val 6154"/>
            </a:avLst>
          </a:prstGeom>
          <a:solidFill>
            <a:schemeClr val="bg2"/>
          </a:solidFill>
          <a:ln w="12700">
            <a:solidFill>
              <a:schemeClr val="bg2"/>
            </a:solidFill>
            <a:prstDash val="solid"/>
          </a:ln>
        </p:spPr>
      </p:sp>
      <p:sp>
        <p:nvSpPr>
          <p:cNvPr id="23" name="Text 18"/>
          <p:cNvSpPr txBox="1"/>
          <p:nvPr/>
        </p:nvSpPr>
        <p:spPr>
          <a:xfrm>
            <a:off x="6355080" y="5138928"/>
            <a:ext cx="2377440" cy="594360"/>
          </a:xfrm>
          <a:prstGeom prst="rect">
            <a:avLst/>
          </a:prstGeom>
          <a:noFill/>
          <a:ln/>
        </p:spPr>
        <p:txBody>
          <a:bodyPr wrap="square" lIns="0" tIns="0" rIns="0" bIns="0" rtlCol="0" anchor="ctr"/>
          <a:lstStyle/>
          <a:p>
            <a:pPr indent="0" marL="0">
              <a:buNone/>
            </a:pPr>
            <a:r>
              <a:rPr lang="en-US" sz="3400" b="1" dirty="0">
                <a:solidFill>
                  <a:schemeClr val="accent1"/>
                </a:solidFill>
              </a:rPr>
              <a:t>144</a:t>
            </a:r>
            <a:endParaRPr lang="en-US" sz="3400" dirty="0"/>
          </a:p>
        </p:txBody>
      </p:sp>
      <p:sp>
        <p:nvSpPr>
          <p:cNvPr id="24" name="Text 19"/>
          <p:cNvSpPr txBox="1"/>
          <p:nvPr/>
        </p:nvSpPr>
        <p:spPr>
          <a:xfrm>
            <a:off x="6355080" y="5718658"/>
            <a:ext cx="2377440" cy="451714"/>
          </a:xfrm>
          <a:prstGeom prst="rect">
            <a:avLst/>
          </a:prstGeom>
          <a:noFill/>
          <a:ln/>
        </p:spPr>
        <p:txBody>
          <a:bodyPr wrap="square" lIns="0" tIns="0" rIns="0" bIns="0" rtlCol="0" anchor="t"/>
          <a:lstStyle/>
          <a:p>
            <a:pPr indent="0" marL="0">
              <a:buNone/>
            </a:pPr>
            <a:r>
              <a:rPr lang="en-US" sz="1300" dirty="0">
                <a:solidFill>
                  <a:schemeClr val="tx1"/>
                </a:solidFill>
              </a:rPr>
              <a:t>registros en 4 archivos</a:t>
            </a:r>
            <a:endParaRPr lang="en-US" sz="1300" dirty="0"/>
          </a:p>
        </p:txBody>
      </p:sp>
      <p:sp>
        <p:nvSpPr>
          <p:cNvPr id="25" name="Shape 20"/>
          <p:cNvSpPr/>
          <p:nvPr/>
        </p:nvSpPr>
        <p:spPr>
          <a:xfrm>
            <a:off x="8988552" y="5029200"/>
            <a:ext cx="2651760" cy="1188720"/>
          </a:xfrm>
          <a:prstGeom prst="roundRect">
            <a:avLst>
              <a:gd name="adj" fmla="val 6154"/>
            </a:avLst>
          </a:prstGeom>
          <a:solidFill>
            <a:schemeClr val="bg2"/>
          </a:solidFill>
          <a:ln w="12700">
            <a:solidFill>
              <a:schemeClr val="bg2"/>
            </a:solidFill>
            <a:prstDash val="solid"/>
          </a:ln>
        </p:spPr>
      </p:sp>
      <p:sp>
        <p:nvSpPr>
          <p:cNvPr id="26" name="Text 21"/>
          <p:cNvSpPr txBox="1"/>
          <p:nvPr/>
        </p:nvSpPr>
        <p:spPr>
          <a:xfrm>
            <a:off x="9125712" y="5138928"/>
            <a:ext cx="2377440" cy="594360"/>
          </a:xfrm>
          <a:prstGeom prst="rect">
            <a:avLst/>
          </a:prstGeom>
          <a:noFill/>
          <a:ln/>
        </p:spPr>
        <p:txBody>
          <a:bodyPr wrap="square" lIns="0" tIns="0" rIns="0" bIns="0" rtlCol="0" anchor="ctr"/>
          <a:lstStyle/>
          <a:p>
            <a:pPr indent="0" marL="0">
              <a:buNone/>
            </a:pPr>
            <a:r>
              <a:rPr lang="en-US" sz="3400" b="1" dirty="0">
                <a:solidFill>
                  <a:schemeClr val="accent2"/>
                </a:solidFill>
              </a:rPr>
              <a:t>12</a:t>
            </a:r>
            <a:endParaRPr lang="en-US" sz="3400" dirty="0"/>
          </a:p>
        </p:txBody>
      </p:sp>
      <p:sp>
        <p:nvSpPr>
          <p:cNvPr id="27" name="Text 22"/>
          <p:cNvSpPr txBox="1"/>
          <p:nvPr/>
        </p:nvSpPr>
        <p:spPr>
          <a:xfrm>
            <a:off x="9125712" y="5718658"/>
            <a:ext cx="2377440" cy="451714"/>
          </a:xfrm>
          <a:prstGeom prst="rect">
            <a:avLst/>
          </a:prstGeom>
          <a:noFill/>
          <a:ln/>
        </p:spPr>
        <p:txBody>
          <a:bodyPr wrap="square" lIns="0" tIns="0" rIns="0" bIns="0" rtlCol="0" anchor="t"/>
          <a:lstStyle/>
          <a:p>
            <a:pPr indent="0" marL="0">
              <a:buNone/>
            </a:pPr>
            <a:r>
              <a:rPr lang="en-US" sz="1300" dirty="0">
                <a:solidFill>
                  <a:schemeClr val="tx1"/>
                </a:solidFill>
              </a:rPr>
              <a:t>anomalías encontradas</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Tabla de contenido</a:t>
            </a:r>
            <a:endParaRPr lang="en-US" sz="3000" dirty="0"/>
          </a:p>
        </p:txBody>
      </p:sp>
      <p:sp>
        <p:nvSpPr>
          <p:cNvPr id="3" name="Shape 1"/>
          <p:cNvSpPr/>
          <p:nvPr/>
        </p:nvSpPr>
        <p:spPr>
          <a:xfrm>
            <a:off x="548640" y="1417320"/>
            <a:ext cx="5440680" cy="658368"/>
          </a:xfrm>
          <a:prstGeom prst="roundRect">
            <a:avLst>
              <a:gd name="adj" fmla="val 11111"/>
            </a:avLst>
          </a:prstGeom>
          <a:solidFill>
            <a:schemeClr val="bg2"/>
          </a:solidFill>
          <a:ln w="12700">
            <a:solidFill>
              <a:schemeClr val="bg2"/>
            </a:solidFill>
            <a:prstDash val="solid"/>
          </a:ln>
        </p:spPr>
      </p:sp>
      <p:sp>
        <p:nvSpPr>
          <p:cNvPr id="4" name="Shape 2"/>
          <p:cNvSpPr/>
          <p:nvPr/>
        </p:nvSpPr>
        <p:spPr>
          <a:xfrm>
            <a:off x="685800" y="1517904"/>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685800" y="15179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80160" y="1508760"/>
            <a:ext cx="4572000" cy="475488"/>
          </a:xfrm>
          <a:prstGeom prst="rect">
            <a:avLst/>
          </a:prstGeom>
          <a:noFill/>
          <a:ln/>
        </p:spPr>
        <p:txBody>
          <a:bodyPr wrap="square" lIns="0" tIns="0" rIns="0" bIns="0" rtlCol="0" anchor="ctr"/>
          <a:lstStyle/>
          <a:p>
            <a:pPr indent="0" marL="0">
              <a:buNone/>
            </a:pPr>
            <a:r>
              <a:rPr lang="en-US" sz="1600" dirty="0">
                <a:solidFill>
                  <a:schemeClr val="tx1"/>
                </a:solidFill>
              </a:rPr>
              <a:t>Objetivo e introducción</a:t>
            </a:r>
            <a:endParaRPr lang="en-US" sz="1600" dirty="0"/>
          </a:p>
        </p:txBody>
      </p:sp>
      <p:sp>
        <p:nvSpPr>
          <p:cNvPr id="7" name="Shape 5"/>
          <p:cNvSpPr/>
          <p:nvPr/>
        </p:nvSpPr>
        <p:spPr>
          <a:xfrm>
            <a:off x="548640" y="2221992"/>
            <a:ext cx="5440680" cy="658368"/>
          </a:xfrm>
          <a:prstGeom prst="roundRect">
            <a:avLst>
              <a:gd name="adj" fmla="val 11111"/>
            </a:avLst>
          </a:prstGeom>
          <a:solidFill>
            <a:schemeClr val="bg2"/>
          </a:solidFill>
          <a:ln w="12700">
            <a:solidFill>
              <a:schemeClr val="bg2"/>
            </a:solidFill>
            <a:prstDash val="solid"/>
          </a:ln>
        </p:spPr>
      </p:sp>
      <p:sp>
        <p:nvSpPr>
          <p:cNvPr id="8" name="Shape 6"/>
          <p:cNvSpPr/>
          <p:nvPr/>
        </p:nvSpPr>
        <p:spPr>
          <a:xfrm>
            <a:off x="685800" y="2322576"/>
            <a:ext cx="457200" cy="457200"/>
          </a:xfrm>
          <a:prstGeom prst="ellipse">
            <a:avLst/>
          </a:prstGeom>
          <a:solidFill>
            <a:schemeClr val="accent1"/>
          </a:solidFill>
          <a:ln w="12700">
            <a:solidFill>
              <a:schemeClr val="accent1"/>
            </a:solidFill>
            <a:prstDash val="solid"/>
          </a:ln>
        </p:spPr>
      </p:sp>
      <p:sp>
        <p:nvSpPr>
          <p:cNvPr id="9" name="Text 7"/>
          <p:cNvSpPr txBox="1"/>
          <p:nvPr/>
        </p:nvSpPr>
        <p:spPr>
          <a:xfrm>
            <a:off x="685800" y="2322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280160" y="2313432"/>
            <a:ext cx="4572000" cy="475488"/>
          </a:xfrm>
          <a:prstGeom prst="rect">
            <a:avLst/>
          </a:prstGeom>
          <a:noFill/>
          <a:ln/>
        </p:spPr>
        <p:txBody>
          <a:bodyPr wrap="square" lIns="0" tIns="0" rIns="0" bIns="0" rtlCol="0" anchor="ctr"/>
          <a:lstStyle/>
          <a:p>
            <a:pPr indent="0" marL="0">
              <a:buNone/>
            </a:pPr>
            <a:r>
              <a:rPr lang="en-US" sz="1600" dirty="0">
                <a:solidFill>
                  <a:schemeClr val="tx1"/>
                </a:solidFill>
              </a:rPr>
              <a:t>Método ETL</a:t>
            </a:r>
            <a:endParaRPr lang="en-US" sz="1600" dirty="0"/>
          </a:p>
        </p:txBody>
      </p:sp>
      <p:sp>
        <p:nvSpPr>
          <p:cNvPr id="11" name="Shape 9"/>
          <p:cNvSpPr/>
          <p:nvPr/>
        </p:nvSpPr>
        <p:spPr>
          <a:xfrm>
            <a:off x="548640" y="3026664"/>
            <a:ext cx="5440680" cy="658368"/>
          </a:xfrm>
          <a:prstGeom prst="roundRect">
            <a:avLst>
              <a:gd name="adj" fmla="val 11111"/>
            </a:avLst>
          </a:prstGeom>
          <a:solidFill>
            <a:schemeClr val="bg2"/>
          </a:solidFill>
          <a:ln w="12700">
            <a:solidFill>
              <a:schemeClr val="bg2"/>
            </a:solidFill>
            <a:prstDash val="solid"/>
          </a:ln>
        </p:spPr>
      </p:sp>
      <p:sp>
        <p:nvSpPr>
          <p:cNvPr id="12" name="Shape 10"/>
          <p:cNvSpPr/>
          <p:nvPr/>
        </p:nvSpPr>
        <p:spPr>
          <a:xfrm>
            <a:off x="685800" y="3127248"/>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685800" y="31272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280160" y="3118104"/>
            <a:ext cx="4572000" cy="475488"/>
          </a:xfrm>
          <a:prstGeom prst="rect">
            <a:avLst/>
          </a:prstGeom>
          <a:noFill/>
          <a:ln/>
        </p:spPr>
        <p:txBody>
          <a:bodyPr wrap="square" lIns="0" tIns="0" rIns="0" bIns="0" rtlCol="0" anchor="ctr"/>
          <a:lstStyle/>
          <a:p>
            <a:pPr indent="0" marL="0">
              <a:buNone/>
            </a:pPr>
            <a:r>
              <a:rPr lang="en-US" sz="1600" dirty="0">
                <a:solidFill>
                  <a:schemeClr val="tx1"/>
                </a:solidFill>
              </a:rPr>
              <a:t>Ejercicio 1 — NovaMarket ventas (Power BI)</a:t>
            </a:r>
            <a:endParaRPr lang="en-US" sz="1600" dirty="0"/>
          </a:p>
        </p:txBody>
      </p:sp>
      <p:sp>
        <p:nvSpPr>
          <p:cNvPr id="15" name="Shape 13"/>
          <p:cNvSpPr/>
          <p:nvPr/>
        </p:nvSpPr>
        <p:spPr>
          <a:xfrm>
            <a:off x="548640" y="3831336"/>
            <a:ext cx="5440680" cy="658368"/>
          </a:xfrm>
          <a:prstGeom prst="roundRect">
            <a:avLst>
              <a:gd name="adj" fmla="val 11111"/>
            </a:avLst>
          </a:prstGeom>
          <a:solidFill>
            <a:schemeClr val="bg2"/>
          </a:solidFill>
          <a:ln w="12700">
            <a:solidFill>
              <a:schemeClr val="bg2"/>
            </a:solidFill>
            <a:prstDash val="solid"/>
          </a:ln>
        </p:spPr>
      </p:sp>
      <p:sp>
        <p:nvSpPr>
          <p:cNvPr id="16" name="Shape 14"/>
          <p:cNvSpPr/>
          <p:nvPr/>
        </p:nvSpPr>
        <p:spPr>
          <a:xfrm>
            <a:off x="685800" y="3931920"/>
            <a:ext cx="457200" cy="457200"/>
          </a:xfrm>
          <a:prstGeom prst="ellipse">
            <a:avLst/>
          </a:prstGeom>
          <a:solidFill>
            <a:schemeClr val="accent1"/>
          </a:solidFill>
          <a:ln w="12700">
            <a:solidFill>
              <a:schemeClr val="accent1"/>
            </a:solidFill>
            <a:prstDash val="solid"/>
          </a:ln>
        </p:spPr>
      </p:sp>
      <p:sp>
        <p:nvSpPr>
          <p:cNvPr id="17" name="Text 15"/>
          <p:cNvSpPr txBox="1"/>
          <p:nvPr/>
        </p:nvSpPr>
        <p:spPr>
          <a:xfrm>
            <a:off x="68580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1280160" y="3922776"/>
            <a:ext cx="4572000" cy="475488"/>
          </a:xfrm>
          <a:prstGeom prst="rect">
            <a:avLst/>
          </a:prstGeom>
          <a:noFill/>
          <a:ln/>
        </p:spPr>
        <p:txBody>
          <a:bodyPr wrap="square" lIns="0" tIns="0" rIns="0" bIns="0" rtlCol="0" anchor="ctr"/>
          <a:lstStyle/>
          <a:p>
            <a:pPr indent="0" marL="0">
              <a:buNone/>
            </a:pPr>
            <a:r>
              <a:rPr lang="en-US" sz="1600" dirty="0">
                <a:solidFill>
                  <a:schemeClr val="tx1"/>
                </a:solidFill>
              </a:rPr>
              <a:t>Ejercicio 2 — VidaPlus (Power BI)</a:t>
            </a:r>
            <a:endParaRPr lang="en-US" sz="1600" dirty="0"/>
          </a:p>
        </p:txBody>
      </p:sp>
      <p:sp>
        <p:nvSpPr>
          <p:cNvPr id="19" name="Shape 17"/>
          <p:cNvSpPr/>
          <p:nvPr/>
        </p:nvSpPr>
        <p:spPr>
          <a:xfrm>
            <a:off x="548640" y="4636008"/>
            <a:ext cx="5440680" cy="658368"/>
          </a:xfrm>
          <a:prstGeom prst="roundRect">
            <a:avLst>
              <a:gd name="adj" fmla="val 11111"/>
            </a:avLst>
          </a:prstGeom>
          <a:solidFill>
            <a:schemeClr val="bg2"/>
          </a:solidFill>
          <a:ln w="12700">
            <a:solidFill>
              <a:schemeClr val="bg2"/>
            </a:solidFill>
            <a:prstDash val="solid"/>
          </a:ln>
        </p:spPr>
      </p:sp>
      <p:sp>
        <p:nvSpPr>
          <p:cNvPr id="20" name="Shape 18"/>
          <p:cNvSpPr/>
          <p:nvPr/>
        </p:nvSpPr>
        <p:spPr>
          <a:xfrm>
            <a:off x="685800" y="4736592"/>
            <a:ext cx="457200" cy="457200"/>
          </a:xfrm>
          <a:prstGeom prst="ellipse">
            <a:avLst/>
          </a:prstGeom>
          <a:solidFill>
            <a:schemeClr val="accent1"/>
          </a:solidFill>
          <a:ln w="12700">
            <a:solidFill>
              <a:schemeClr val="accent1"/>
            </a:solidFill>
            <a:prstDash val="solid"/>
          </a:ln>
        </p:spPr>
      </p:sp>
      <p:sp>
        <p:nvSpPr>
          <p:cNvPr id="21" name="Text 19"/>
          <p:cNvSpPr txBox="1"/>
          <p:nvPr/>
        </p:nvSpPr>
        <p:spPr>
          <a:xfrm>
            <a:off x="685800" y="47365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280160" y="4727448"/>
            <a:ext cx="4572000" cy="475488"/>
          </a:xfrm>
          <a:prstGeom prst="rect">
            <a:avLst/>
          </a:prstGeom>
          <a:noFill/>
          <a:ln/>
        </p:spPr>
        <p:txBody>
          <a:bodyPr wrap="square" lIns="0" tIns="0" rIns="0" bIns="0" rtlCol="0" anchor="ctr"/>
          <a:lstStyle/>
          <a:p>
            <a:pPr indent="0" marL="0">
              <a:buNone/>
            </a:pPr>
            <a:r>
              <a:rPr lang="en-US" sz="1600" dirty="0">
                <a:solidFill>
                  <a:schemeClr val="tx1"/>
                </a:solidFill>
              </a:rPr>
              <a:t>Ejercicio 3 — RutaExpress (Python)</a:t>
            </a:r>
            <a:endParaRPr lang="en-US" sz="1600" dirty="0"/>
          </a:p>
        </p:txBody>
      </p:sp>
      <p:sp>
        <p:nvSpPr>
          <p:cNvPr id="23" name="Shape 21"/>
          <p:cNvSpPr/>
          <p:nvPr/>
        </p:nvSpPr>
        <p:spPr>
          <a:xfrm>
            <a:off x="548640" y="5440680"/>
            <a:ext cx="5440680" cy="658368"/>
          </a:xfrm>
          <a:prstGeom prst="roundRect">
            <a:avLst>
              <a:gd name="adj" fmla="val 11111"/>
            </a:avLst>
          </a:prstGeom>
          <a:solidFill>
            <a:schemeClr val="bg2"/>
          </a:solidFill>
          <a:ln w="12700">
            <a:solidFill>
              <a:schemeClr val="bg2"/>
            </a:solidFill>
            <a:prstDash val="solid"/>
          </a:ln>
        </p:spPr>
      </p:sp>
      <p:sp>
        <p:nvSpPr>
          <p:cNvPr id="24" name="Shape 22"/>
          <p:cNvSpPr/>
          <p:nvPr/>
        </p:nvSpPr>
        <p:spPr>
          <a:xfrm>
            <a:off x="685800" y="5541264"/>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685800" y="55412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 24"/>
          <p:cNvSpPr txBox="1"/>
          <p:nvPr/>
        </p:nvSpPr>
        <p:spPr>
          <a:xfrm>
            <a:off x="1280160" y="5532120"/>
            <a:ext cx="4572000" cy="475488"/>
          </a:xfrm>
          <a:prstGeom prst="rect">
            <a:avLst/>
          </a:prstGeom>
          <a:noFill/>
          <a:ln/>
        </p:spPr>
        <p:txBody>
          <a:bodyPr wrap="square" lIns="0" tIns="0" rIns="0" bIns="0" rtlCol="0" anchor="ctr"/>
          <a:lstStyle/>
          <a:p>
            <a:pPr indent="0" marL="0">
              <a:buNone/>
            </a:pPr>
            <a:r>
              <a:rPr lang="en-US" sz="1600" dirty="0">
                <a:solidFill>
                  <a:schemeClr val="tx1"/>
                </a:solidFill>
              </a:rPr>
              <a:t>Ejercicio 4 — NovaMarket clientes (Python)</a:t>
            </a:r>
            <a:endParaRPr lang="en-US" sz="1600" dirty="0"/>
          </a:p>
        </p:txBody>
      </p:sp>
      <p:sp>
        <p:nvSpPr>
          <p:cNvPr id="27" name="Shape 25"/>
          <p:cNvSpPr/>
          <p:nvPr/>
        </p:nvSpPr>
        <p:spPr>
          <a:xfrm>
            <a:off x="6172200" y="1417320"/>
            <a:ext cx="5440680" cy="658368"/>
          </a:xfrm>
          <a:prstGeom prst="roundRect">
            <a:avLst>
              <a:gd name="adj" fmla="val 11111"/>
            </a:avLst>
          </a:prstGeom>
          <a:solidFill>
            <a:schemeClr val="bg2"/>
          </a:solidFill>
          <a:ln w="12700">
            <a:solidFill>
              <a:schemeClr val="bg2"/>
            </a:solidFill>
            <a:prstDash val="solid"/>
          </a:ln>
        </p:spPr>
      </p:sp>
      <p:sp>
        <p:nvSpPr>
          <p:cNvPr id="28" name="Shape 26"/>
          <p:cNvSpPr/>
          <p:nvPr/>
        </p:nvSpPr>
        <p:spPr>
          <a:xfrm>
            <a:off x="6309360" y="1517904"/>
            <a:ext cx="457200" cy="457200"/>
          </a:xfrm>
          <a:prstGeom prst="ellipse">
            <a:avLst/>
          </a:prstGeom>
          <a:solidFill>
            <a:schemeClr val="accent1"/>
          </a:solidFill>
          <a:ln w="12700">
            <a:solidFill>
              <a:schemeClr val="accent1"/>
            </a:solidFill>
            <a:prstDash val="solid"/>
          </a:ln>
        </p:spPr>
      </p:sp>
      <p:sp>
        <p:nvSpPr>
          <p:cNvPr id="29" name="Text 27"/>
          <p:cNvSpPr txBox="1"/>
          <p:nvPr/>
        </p:nvSpPr>
        <p:spPr>
          <a:xfrm>
            <a:off x="6309360" y="15179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0" name="Text 28"/>
          <p:cNvSpPr txBox="1"/>
          <p:nvPr/>
        </p:nvSpPr>
        <p:spPr>
          <a:xfrm>
            <a:off x="6903720" y="1508760"/>
            <a:ext cx="4572000" cy="475488"/>
          </a:xfrm>
          <a:prstGeom prst="rect">
            <a:avLst/>
          </a:prstGeom>
          <a:noFill/>
          <a:ln/>
        </p:spPr>
        <p:txBody>
          <a:bodyPr wrap="square" lIns="0" tIns="0" rIns="0" bIns="0" rtlCol="0" anchor="ctr"/>
          <a:lstStyle/>
          <a:p>
            <a:pPr indent="0" marL="0">
              <a:buNone/>
            </a:pPr>
            <a:r>
              <a:rPr lang="en-US" sz="1600" dirty="0">
                <a:solidFill>
                  <a:schemeClr val="tx1"/>
                </a:solidFill>
              </a:rPr>
              <a:t>Comparativa de hallazgos y calidad de datos</a:t>
            </a:r>
            <a:endParaRPr lang="en-US" sz="1600" dirty="0"/>
          </a:p>
        </p:txBody>
      </p:sp>
      <p:sp>
        <p:nvSpPr>
          <p:cNvPr id="31" name="Shape 29"/>
          <p:cNvSpPr/>
          <p:nvPr/>
        </p:nvSpPr>
        <p:spPr>
          <a:xfrm>
            <a:off x="6172200" y="2221992"/>
            <a:ext cx="5440680" cy="658368"/>
          </a:xfrm>
          <a:prstGeom prst="roundRect">
            <a:avLst>
              <a:gd name="adj" fmla="val 11111"/>
            </a:avLst>
          </a:prstGeom>
          <a:solidFill>
            <a:schemeClr val="bg2"/>
          </a:solidFill>
          <a:ln w="12700">
            <a:solidFill>
              <a:schemeClr val="bg2"/>
            </a:solidFill>
            <a:prstDash val="solid"/>
          </a:ln>
        </p:spPr>
      </p:sp>
      <p:sp>
        <p:nvSpPr>
          <p:cNvPr id="32" name="Shape 30"/>
          <p:cNvSpPr/>
          <p:nvPr/>
        </p:nvSpPr>
        <p:spPr>
          <a:xfrm>
            <a:off x="6309360" y="2322576"/>
            <a:ext cx="457200" cy="457200"/>
          </a:xfrm>
          <a:prstGeom prst="ellipse">
            <a:avLst/>
          </a:prstGeom>
          <a:solidFill>
            <a:schemeClr val="accent1"/>
          </a:solidFill>
          <a:ln w="12700">
            <a:solidFill>
              <a:schemeClr val="accent1"/>
            </a:solidFill>
            <a:prstDash val="solid"/>
          </a:ln>
        </p:spPr>
      </p:sp>
      <p:sp>
        <p:nvSpPr>
          <p:cNvPr id="33" name="Text 31"/>
          <p:cNvSpPr txBox="1"/>
          <p:nvPr/>
        </p:nvSpPr>
        <p:spPr>
          <a:xfrm>
            <a:off x="6309360" y="2322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34" name="Text 32"/>
          <p:cNvSpPr txBox="1"/>
          <p:nvPr/>
        </p:nvSpPr>
        <p:spPr>
          <a:xfrm>
            <a:off x="6903720" y="2313432"/>
            <a:ext cx="4572000" cy="475488"/>
          </a:xfrm>
          <a:prstGeom prst="rect">
            <a:avLst/>
          </a:prstGeom>
          <a:noFill/>
          <a:ln/>
        </p:spPr>
        <p:txBody>
          <a:bodyPr wrap="square" lIns="0" tIns="0" rIns="0" bIns="0" rtlCol="0" anchor="ctr"/>
          <a:lstStyle/>
          <a:p>
            <a:pPr indent="0" marL="0">
              <a:buNone/>
            </a:pPr>
            <a:r>
              <a:rPr lang="en-US" sz="1600" dirty="0">
                <a:solidFill>
                  <a:schemeClr val="tx1"/>
                </a:solidFill>
              </a:rPr>
              <a:t>Respuestas ETL: Extract, Transform, Load</a:t>
            </a:r>
            <a:endParaRPr lang="en-US" sz="1600" dirty="0"/>
          </a:p>
        </p:txBody>
      </p:sp>
      <p:sp>
        <p:nvSpPr>
          <p:cNvPr id="35" name="Shape 33"/>
          <p:cNvSpPr/>
          <p:nvPr/>
        </p:nvSpPr>
        <p:spPr>
          <a:xfrm>
            <a:off x="6172200" y="3026664"/>
            <a:ext cx="5440680" cy="658368"/>
          </a:xfrm>
          <a:prstGeom prst="roundRect">
            <a:avLst>
              <a:gd name="adj" fmla="val 11111"/>
            </a:avLst>
          </a:prstGeom>
          <a:solidFill>
            <a:schemeClr val="bg2"/>
          </a:solidFill>
          <a:ln w="12700">
            <a:solidFill>
              <a:schemeClr val="bg2"/>
            </a:solidFill>
            <a:prstDash val="solid"/>
          </a:ln>
        </p:spPr>
      </p:sp>
      <p:sp>
        <p:nvSpPr>
          <p:cNvPr id="36" name="Shape 34"/>
          <p:cNvSpPr/>
          <p:nvPr/>
        </p:nvSpPr>
        <p:spPr>
          <a:xfrm>
            <a:off x="6309360" y="3127248"/>
            <a:ext cx="457200" cy="457200"/>
          </a:xfrm>
          <a:prstGeom prst="ellipse">
            <a:avLst/>
          </a:prstGeom>
          <a:solidFill>
            <a:schemeClr val="accent1"/>
          </a:solidFill>
          <a:ln w="12700">
            <a:solidFill>
              <a:schemeClr val="accent1"/>
            </a:solidFill>
            <a:prstDash val="solid"/>
          </a:ln>
        </p:spPr>
      </p:sp>
      <p:sp>
        <p:nvSpPr>
          <p:cNvPr id="37" name="Text 35"/>
          <p:cNvSpPr txBox="1"/>
          <p:nvPr/>
        </p:nvSpPr>
        <p:spPr>
          <a:xfrm>
            <a:off x="6309360" y="31272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sp>
        <p:nvSpPr>
          <p:cNvPr id="38" name="Text 36"/>
          <p:cNvSpPr txBox="1"/>
          <p:nvPr/>
        </p:nvSpPr>
        <p:spPr>
          <a:xfrm>
            <a:off x="6903720" y="3118104"/>
            <a:ext cx="4572000" cy="475488"/>
          </a:xfrm>
          <a:prstGeom prst="rect">
            <a:avLst/>
          </a:prstGeom>
          <a:noFill/>
          <a:ln/>
        </p:spPr>
        <p:txBody>
          <a:bodyPr wrap="square" lIns="0" tIns="0" rIns="0" bIns="0" rtlCol="0" anchor="ctr"/>
          <a:lstStyle/>
          <a:p>
            <a:pPr indent="0" marL="0">
              <a:buNone/>
            </a:pPr>
            <a:r>
              <a:rPr lang="en-US" sz="1600" dirty="0">
                <a:solidFill>
                  <a:schemeClr val="tx1"/>
                </a:solidFill>
              </a:rPr>
              <a:t>Conclusiones</a:t>
            </a:r>
            <a:endParaRPr lang="en-US" sz="1600" dirty="0"/>
          </a:p>
        </p:txBody>
      </p:sp>
      <p:sp>
        <p:nvSpPr>
          <p:cNvPr id="39" name="Shape 37"/>
          <p:cNvSpPr/>
          <p:nvPr/>
        </p:nvSpPr>
        <p:spPr>
          <a:xfrm>
            <a:off x="6172200" y="3831336"/>
            <a:ext cx="5440680" cy="658368"/>
          </a:xfrm>
          <a:prstGeom prst="roundRect">
            <a:avLst>
              <a:gd name="adj" fmla="val 11111"/>
            </a:avLst>
          </a:prstGeom>
          <a:solidFill>
            <a:schemeClr val="bg2"/>
          </a:solidFill>
          <a:ln w="12700">
            <a:solidFill>
              <a:schemeClr val="bg2"/>
            </a:solidFill>
            <a:prstDash val="solid"/>
          </a:ln>
        </p:spPr>
      </p:sp>
      <p:sp>
        <p:nvSpPr>
          <p:cNvPr id="40" name="Shape 38"/>
          <p:cNvSpPr/>
          <p:nvPr/>
        </p:nvSpPr>
        <p:spPr>
          <a:xfrm>
            <a:off x="6309360" y="3931920"/>
            <a:ext cx="457200" cy="457200"/>
          </a:xfrm>
          <a:prstGeom prst="ellipse">
            <a:avLst/>
          </a:prstGeom>
          <a:solidFill>
            <a:schemeClr val="accent1"/>
          </a:solidFill>
          <a:ln w="12700">
            <a:solidFill>
              <a:schemeClr val="accent1"/>
            </a:solidFill>
            <a:prstDash val="solid"/>
          </a:ln>
        </p:spPr>
      </p:sp>
      <p:sp>
        <p:nvSpPr>
          <p:cNvPr id="41" name="Text 39"/>
          <p:cNvSpPr txBox="1"/>
          <p:nvPr/>
        </p:nvSpPr>
        <p:spPr>
          <a:xfrm>
            <a:off x="6309360" y="3931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sp>
        <p:nvSpPr>
          <p:cNvPr id="42" name="Text 40"/>
          <p:cNvSpPr txBox="1"/>
          <p:nvPr/>
        </p:nvSpPr>
        <p:spPr>
          <a:xfrm>
            <a:off x="6903720" y="3922776"/>
            <a:ext cx="4572000" cy="475488"/>
          </a:xfrm>
          <a:prstGeom prst="rect">
            <a:avLst/>
          </a:prstGeom>
          <a:noFill/>
          <a:ln/>
        </p:spPr>
        <p:txBody>
          <a:bodyPr wrap="square" lIns="0" tIns="0" rIns="0" bIns="0" rtlCol="0" anchor="ctr"/>
          <a:lstStyle/>
          <a:p>
            <a:pPr indent="0" marL="0">
              <a:buNone/>
            </a:pPr>
            <a:r>
              <a:rPr lang="en-US" sz="1600" dirty="0">
                <a:solidFill>
                  <a:schemeClr val="tx1"/>
                </a:solidFill>
              </a:rPr>
              <a:t>Recomendaciones</a:t>
            </a:r>
            <a:endParaRPr lang="en-US" sz="1600" dirty="0"/>
          </a:p>
        </p:txBody>
      </p:sp>
      <p:sp>
        <p:nvSpPr>
          <p:cNvPr id="43" name="Shape 41"/>
          <p:cNvSpPr/>
          <p:nvPr/>
        </p:nvSpPr>
        <p:spPr>
          <a:xfrm>
            <a:off x="6172200" y="4636008"/>
            <a:ext cx="5440680" cy="658368"/>
          </a:xfrm>
          <a:prstGeom prst="roundRect">
            <a:avLst>
              <a:gd name="adj" fmla="val 11111"/>
            </a:avLst>
          </a:prstGeom>
          <a:solidFill>
            <a:schemeClr val="bg2"/>
          </a:solidFill>
          <a:ln w="12700">
            <a:solidFill>
              <a:schemeClr val="bg2"/>
            </a:solidFill>
            <a:prstDash val="solid"/>
          </a:ln>
        </p:spPr>
      </p:sp>
      <p:sp>
        <p:nvSpPr>
          <p:cNvPr id="44" name="Shape 42"/>
          <p:cNvSpPr/>
          <p:nvPr/>
        </p:nvSpPr>
        <p:spPr>
          <a:xfrm>
            <a:off x="6309360" y="4736592"/>
            <a:ext cx="457200" cy="457200"/>
          </a:xfrm>
          <a:prstGeom prst="ellipse">
            <a:avLst/>
          </a:prstGeom>
          <a:solidFill>
            <a:schemeClr val="accent1"/>
          </a:solidFill>
          <a:ln w="12700">
            <a:solidFill>
              <a:schemeClr val="accent1"/>
            </a:solidFill>
            <a:prstDash val="solid"/>
          </a:ln>
        </p:spPr>
      </p:sp>
      <p:sp>
        <p:nvSpPr>
          <p:cNvPr id="45" name="Text 43"/>
          <p:cNvSpPr txBox="1"/>
          <p:nvPr/>
        </p:nvSpPr>
        <p:spPr>
          <a:xfrm>
            <a:off x="6309360" y="47365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11</a:t>
            </a:r>
            <a:endParaRPr lang="en-US" sz="1600" dirty="0"/>
          </a:p>
        </p:txBody>
      </p:sp>
      <p:sp>
        <p:nvSpPr>
          <p:cNvPr id="46" name="Text 44"/>
          <p:cNvSpPr txBox="1"/>
          <p:nvPr/>
        </p:nvSpPr>
        <p:spPr>
          <a:xfrm>
            <a:off x="6903720" y="4727448"/>
            <a:ext cx="4572000" cy="475488"/>
          </a:xfrm>
          <a:prstGeom prst="rect">
            <a:avLst/>
          </a:prstGeom>
          <a:noFill/>
          <a:ln/>
        </p:spPr>
        <p:txBody>
          <a:bodyPr wrap="square" lIns="0" tIns="0" rIns="0" bIns="0" rtlCol="0" anchor="ctr"/>
          <a:lstStyle/>
          <a:p>
            <a:pPr indent="0" marL="0">
              <a:buNone/>
            </a:pPr>
            <a:r>
              <a:rPr lang="en-US" sz="1600" dirty="0">
                <a:solidFill>
                  <a:schemeClr val="tx1"/>
                </a:solidFill>
              </a:rPr>
              <a:t>Fuentes</a:t>
            </a:r>
            <a:endParaRPr lang="en-US" sz="1600" dirty="0"/>
          </a:p>
        </p:txBody>
      </p:sp>
      <p:sp>
        <p:nvSpPr>
          <p:cNvPr id="47" name="Shape 45"/>
          <p:cNvSpPr/>
          <p:nvPr/>
        </p:nvSpPr>
        <p:spPr>
          <a:xfrm>
            <a:off x="6172200" y="5440680"/>
            <a:ext cx="5440680" cy="658368"/>
          </a:xfrm>
          <a:prstGeom prst="roundRect">
            <a:avLst>
              <a:gd name="adj" fmla="val 11111"/>
            </a:avLst>
          </a:prstGeom>
          <a:solidFill>
            <a:schemeClr val="bg2"/>
          </a:solidFill>
          <a:ln w="12700">
            <a:solidFill>
              <a:schemeClr val="bg2"/>
            </a:solidFill>
            <a:prstDash val="solid"/>
          </a:ln>
        </p:spPr>
      </p:sp>
      <p:sp>
        <p:nvSpPr>
          <p:cNvPr id="48" name="Shape 46"/>
          <p:cNvSpPr/>
          <p:nvPr/>
        </p:nvSpPr>
        <p:spPr>
          <a:xfrm>
            <a:off x="6309360" y="5541264"/>
            <a:ext cx="457200" cy="457200"/>
          </a:xfrm>
          <a:prstGeom prst="ellipse">
            <a:avLst/>
          </a:prstGeom>
          <a:solidFill>
            <a:schemeClr val="accent1"/>
          </a:solidFill>
          <a:ln w="12700">
            <a:solidFill>
              <a:schemeClr val="accent1"/>
            </a:solidFill>
            <a:prstDash val="solid"/>
          </a:ln>
        </p:spPr>
      </p:sp>
      <p:sp>
        <p:nvSpPr>
          <p:cNvPr id="49" name="Text 47"/>
          <p:cNvSpPr txBox="1"/>
          <p:nvPr/>
        </p:nvSpPr>
        <p:spPr>
          <a:xfrm>
            <a:off x="6309360" y="554126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12</a:t>
            </a:r>
            <a:endParaRPr lang="en-US" sz="1600" dirty="0"/>
          </a:p>
        </p:txBody>
      </p:sp>
      <p:sp>
        <p:nvSpPr>
          <p:cNvPr id="50" name="Text 48"/>
          <p:cNvSpPr txBox="1"/>
          <p:nvPr/>
        </p:nvSpPr>
        <p:spPr>
          <a:xfrm>
            <a:off x="6903720" y="5532120"/>
            <a:ext cx="4572000" cy="475488"/>
          </a:xfrm>
          <a:prstGeom prst="rect">
            <a:avLst/>
          </a:prstGeom>
          <a:noFill/>
          <a:ln/>
        </p:spPr>
        <p:txBody>
          <a:bodyPr wrap="square" lIns="0" tIns="0" rIns="0" bIns="0" rtlCol="0" anchor="ctr"/>
          <a:lstStyle/>
          <a:p>
            <a:pPr indent="0" marL="0">
              <a:buNone/>
            </a:pPr>
            <a:r>
              <a:rPr lang="en-US" sz="1600" dirty="0">
                <a:solidFill>
                  <a:schemeClr val="tx1"/>
                </a:solidFill>
              </a:rPr>
              <a:t>Anexos y demostración</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Método ETL aplicado en los cuatro ejercicios</a:t>
            </a:r>
            <a:endParaRPr lang="en-US" sz="3000" dirty="0"/>
          </a:p>
        </p:txBody>
      </p:sp>
      <p:sp>
        <p:nvSpPr>
          <p:cNvPr id="3" name="Shape 1"/>
          <p:cNvSpPr/>
          <p:nvPr/>
        </p:nvSpPr>
        <p:spPr>
          <a:xfrm>
            <a:off x="548640" y="1463040"/>
            <a:ext cx="2697480" cy="3291840"/>
          </a:xfrm>
          <a:prstGeom prst="roundRect">
            <a:avLst>
              <a:gd name="adj" fmla="val 2712"/>
            </a:avLst>
          </a:prstGeom>
          <a:solidFill>
            <a:schemeClr val="bg2"/>
          </a:solidFill>
          <a:ln w="12700">
            <a:solidFill>
              <a:schemeClr val="bg2"/>
            </a:solidFill>
            <a:prstDash val="solid"/>
          </a:ln>
        </p:spPr>
      </p:sp>
      <p:sp>
        <p:nvSpPr>
          <p:cNvPr id="4" name="Shape 2"/>
          <p:cNvSpPr/>
          <p:nvPr/>
        </p:nvSpPr>
        <p:spPr>
          <a:xfrm>
            <a:off x="731520" y="1645920"/>
            <a:ext cx="777240" cy="77724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925830" y="1840230"/>
            <a:ext cx="388620" cy="388620"/>
          </a:xfrm>
          <a:prstGeom prst="rect">
            <a:avLst/>
          </a:prstGeom>
        </p:spPr>
      </p:pic>
      <p:sp>
        <p:nvSpPr>
          <p:cNvPr id="6" name="Text 3"/>
          <p:cNvSpPr txBox="1"/>
          <p:nvPr/>
        </p:nvSpPr>
        <p:spPr>
          <a:xfrm>
            <a:off x="731520" y="2606040"/>
            <a:ext cx="2377440" cy="457200"/>
          </a:xfrm>
          <a:prstGeom prst="rect">
            <a:avLst/>
          </a:prstGeom>
          <a:noFill/>
          <a:ln/>
        </p:spPr>
        <p:txBody>
          <a:bodyPr wrap="square" lIns="0" tIns="0" rIns="0" bIns="0" rtlCol="0" anchor="t"/>
          <a:lstStyle/>
          <a:p>
            <a:pPr indent="0" marL="0">
              <a:buNone/>
            </a:pPr>
            <a:r>
              <a:rPr lang="en-US" sz="2200" b="1" dirty="0">
                <a:solidFill>
                  <a:schemeClr val="tx2"/>
                </a:solidFill>
              </a:rPr>
              <a:t>1. Extraer</a:t>
            </a:r>
            <a:endParaRPr lang="en-US" sz="2200" dirty="0"/>
          </a:p>
        </p:txBody>
      </p:sp>
      <p:sp>
        <p:nvSpPr>
          <p:cNvPr id="7" name="Text 4"/>
          <p:cNvSpPr txBox="1"/>
          <p:nvPr/>
        </p:nvSpPr>
        <p:spPr>
          <a:xfrm>
            <a:off x="731520" y="3108960"/>
            <a:ext cx="2377440" cy="1554480"/>
          </a:xfrm>
          <a:prstGeom prst="rect">
            <a:avLst/>
          </a:prstGeom>
          <a:noFill/>
          <a:ln/>
        </p:spPr>
        <p:txBody>
          <a:bodyPr wrap="square" lIns="0" tIns="0" rIns="0" bIns="0" rtlCol="0" anchor="t"/>
          <a:lstStyle/>
          <a:p>
            <a:pPr indent="0" marL="0">
              <a:buNone/>
            </a:pPr>
            <a:r>
              <a:rPr lang="en-US" sz="1500" dirty="0">
                <a:solidFill>
                  <a:schemeClr val="tx1"/>
                </a:solidFill>
              </a:rPr>
              <a:t>Importar el CSV y mostrar filas, columnas y tipos. Guardar el estado original.</a:t>
            </a:r>
            <a:endParaRPr lang="en-US" sz="1500" dirty="0"/>
          </a:p>
        </p:txBody>
      </p:sp>
      <p:sp>
        <p:nvSpPr>
          <p:cNvPr id="8" name="Shape 5"/>
          <p:cNvSpPr/>
          <p:nvPr/>
        </p:nvSpPr>
        <p:spPr>
          <a:xfrm>
            <a:off x="3383280" y="1463040"/>
            <a:ext cx="2697480" cy="3291840"/>
          </a:xfrm>
          <a:prstGeom prst="roundRect">
            <a:avLst>
              <a:gd name="adj" fmla="val 2712"/>
            </a:avLst>
          </a:prstGeom>
          <a:solidFill>
            <a:schemeClr val="bg2"/>
          </a:solidFill>
          <a:ln w="12700">
            <a:solidFill>
              <a:schemeClr val="bg2"/>
            </a:solidFill>
            <a:prstDash val="solid"/>
          </a:ln>
        </p:spPr>
      </p:sp>
      <p:sp>
        <p:nvSpPr>
          <p:cNvPr id="9" name="Shape 6"/>
          <p:cNvSpPr/>
          <p:nvPr/>
        </p:nvSpPr>
        <p:spPr>
          <a:xfrm>
            <a:off x="3566160" y="1645920"/>
            <a:ext cx="777240" cy="77724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3760470" y="1840230"/>
            <a:ext cx="388620" cy="388620"/>
          </a:xfrm>
          <a:prstGeom prst="rect">
            <a:avLst/>
          </a:prstGeom>
        </p:spPr>
      </p:pic>
      <p:sp>
        <p:nvSpPr>
          <p:cNvPr id="11" name="Text 7"/>
          <p:cNvSpPr txBox="1"/>
          <p:nvPr/>
        </p:nvSpPr>
        <p:spPr>
          <a:xfrm>
            <a:off x="3566160" y="2606040"/>
            <a:ext cx="2377440" cy="457200"/>
          </a:xfrm>
          <a:prstGeom prst="rect">
            <a:avLst/>
          </a:prstGeom>
          <a:noFill/>
          <a:ln/>
        </p:spPr>
        <p:txBody>
          <a:bodyPr wrap="square" lIns="0" tIns="0" rIns="0" bIns="0" rtlCol="0" anchor="t"/>
          <a:lstStyle/>
          <a:p>
            <a:pPr indent="0" marL="0">
              <a:buNone/>
            </a:pPr>
            <a:r>
              <a:rPr lang="en-US" sz="2200" b="1" dirty="0">
                <a:solidFill>
                  <a:schemeClr val="tx2"/>
                </a:solidFill>
              </a:rPr>
              <a:t>2. Transformar</a:t>
            </a:r>
            <a:endParaRPr lang="en-US" sz="2200" dirty="0"/>
          </a:p>
        </p:txBody>
      </p:sp>
      <p:sp>
        <p:nvSpPr>
          <p:cNvPr id="12" name="Text 8"/>
          <p:cNvSpPr txBox="1"/>
          <p:nvPr/>
        </p:nvSpPr>
        <p:spPr>
          <a:xfrm>
            <a:off x="3566160" y="3108960"/>
            <a:ext cx="2377440" cy="1554480"/>
          </a:xfrm>
          <a:prstGeom prst="rect">
            <a:avLst/>
          </a:prstGeom>
          <a:noFill/>
          <a:ln/>
        </p:spPr>
        <p:txBody>
          <a:bodyPr wrap="square" lIns="0" tIns="0" rIns="0" bIns="0" rtlCol="0" anchor="t"/>
          <a:lstStyle/>
          <a:p>
            <a:pPr indent="0" marL="0">
              <a:buNone/>
            </a:pPr>
            <a:r>
              <a:rPr lang="en-US" sz="1500" dirty="0">
                <a:solidFill>
                  <a:schemeClr val="tx1"/>
                </a:solidFill>
              </a:rPr>
              <a:t>Estandarizar textos, validar rangos y faltantes. Corregir o marcar con criterio explícito.</a:t>
            </a:r>
            <a:endParaRPr lang="en-US" sz="1500" dirty="0"/>
          </a:p>
        </p:txBody>
      </p:sp>
      <p:sp>
        <p:nvSpPr>
          <p:cNvPr id="13" name="Shape 9"/>
          <p:cNvSpPr/>
          <p:nvPr/>
        </p:nvSpPr>
        <p:spPr>
          <a:xfrm>
            <a:off x="6217920" y="1463040"/>
            <a:ext cx="2697480" cy="3291840"/>
          </a:xfrm>
          <a:prstGeom prst="roundRect">
            <a:avLst>
              <a:gd name="adj" fmla="val 2712"/>
            </a:avLst>
          </a:prstGeom>
          <a:solidFill>
            <a:schemeClr val="bg2"/>
          </a:solidFill>
          <a:ln w="12700">
            <a:solidFill>
              <a:schemeClr val="bg2"/>
            </a:solidFill>
            <a:prstDash val="solid"/>
          </a:ln>
        </p:spPr>
      </p:sp>
      <p:sp>
        <p:nvSpPr>
          <p:cNvPr id="14" name="Shape 10"/>
          <p:cNvSpPr/>
          <p:nvPr/>
        </p:nvSpPr>
        <p:spPr>
          <a:xfrm>
            <a:off x="6400800" y="1645920"/>
            <a:ext cx="777240" cy="777240"/>
          </a:xfrm>
          <a:prstGeom prst="ellipse">
            <a:avLst/>
          </a:prstGeom>
          <a:solidFill>
            <a:schemeClr val="accent3"/>
          </a:solidFill>
          <a:ln w="12700">
            <a:solidFill>
              <a:schemeClr val="accent3"/>
            </a:solidFill>
            <a:prstDash val="solid"/>
          </a:ln>
        </p:spPr>
      </p:sp>
      <p:pic>
        <p:nvPicPr>
          <p:cNvPr id="15" name="Image 2" descr="preencoded.png">    </p:cNvPr>
          <p:cNvPicPr>
            <a:picLocks noChangeAspect="1"/>
          </p:cNvPicPr>
          <p:nvPr/>
        </p:nvPicPr>
        <p:blipFill>
          <a:blip r:embed="rId3"/>
          <a:stretch>
            <a:fillRect/>
          </a:stretch>
        </p:blipFill>
        <p:spPr>
          <a:xfrm>
            <a:off x="6595110" y="1840230"/>
            <a:ext cx="388620" cy="388620"/>
          </a:xfrm>
          <a:prstGeom prst="rect">
            <a:avLst/>
          </a:prstGeom>
        </p:spPr>
      </p:pic>
      <p:sp>
        <p:nvSpPr>
          <p:cNvPr id="16" name="Text 11"/>
          <p:cNvSpPr txBox="1"/>
          <p:nvPr/>
        </p:nvSpPr>
        <p:spPr>
          <a:xfrm>
            <a:off x="6400800" y="2606040"/>
            <a:ext cx="2377440" cy="457200"/>
          </a:xfrm>
          <a:prstGeom prst="rect">
            <a:avLst/>
          </a:prstGeom>
          <a:noFill/>
          <a:ln/>
        </p:spPr>
        <p:txBody>
          <a:bodyPr wrap="square" lIns="0" tIns="0" rIns="0" bIns="0" rtlCol="0" anchor="t"/>
          <a:lstStyle/>
          <a:p>
            <a:pPr indent="0" marL="0">
              <a:buNone/>
            </a:pPr>
            <a:r>
              <a:rPr lang="en-US" sz="2200" b="1" dirty="0">
                <a:solidFill>
                  <a:schemeClr val="tx2"/>
                </a:solidFill>
              </a:rPr>
              <a:t>3. Cargar</a:t>
            </a:r>
            <a:endParaRPr lang="en-US" sz="2200" dirty="0"/>
          </a:p>
        </p:txBody>
      </p:sp>
      <p:sp>
        <p:nvSpPr>
          <p:cNvPr id="17" name="Text 12"/>
          <p:cNvSpPr txBox="1"/>
          <p:nvPr/>
        </p:nvSpPr>
        <p:spPr>
          <a:xfrm>
            <a:off x="6400800" y="3108960"/>
            <a:ext cx="2377440" cy="1554480"/>
          </a:xfrm>
          <a:prstGeom prst="rect">
            <a:avLst/>
          </a:prstGeom>
          <a:noFill/>
          <a:ln/>
        </p:spPr>
        <p:txBody>
          <a:bodyPr wrap="square" lIns="0" tIns="0" rIns="0" bIns="0" rtlCol="0" anchor="t"/>
          <a:lstStyle/>
          <a:p>
            <a:pPr indent="0" marL="0">
              <a:buNone/>
            </a:pPr>
            <a:r>
              <a:rPr lang="en-US" sz="1500" dirty="0">
                <a:solidFill>
                  <a:schemeClr val="tx1"/>
                </a:solidFill>
              </a:rPr>
              <a:t>Power BI: Cerrar y aplicar. Python: exportar el CSV depurado. Dejar evidencia.</a:t>
            </a:r>
            <a:endParaRPr lang="en-US" sz="1500" dirty="0"/>
          </a:p>
        </p:txBody>
      </p:sp>
      <p:sp>
        <p:nvSpPr>
          <p:cNvPr id="18" name="Shape 13"/>
          <p:cNvSpPr/>
          <p:nvPr/>
        </p:nvSpPr>
        <p:spPr>
          <a:xfrm>
            <a:off x="9052560" y="1463040"/>
            <a:ext cx="2697480" cy="3291840"/>
          </a:xfrm>
          <a:prstGeom prst="roundRect">
            <a:avLst>
              <a:gd name="adj" fmla="val 2712"/>
            </a:avLst>
          </a:prstGeom>
          <a:solidFill>
            <a:schemeClr val="bg2"/>
          </a:solidFill>
          <a:ln w="12700">
            <a:solidFill>
              <a:schemeClr val="bg2"/>
            </a:solidFill>
            <a:prstDash val="solid"/>
          </a:ln>
        </p:spPr>
      </p:sp>
      <p:sp>
        <p:nvSpPr>
          <p:cNvPr id="19" name="Shape 14"/>
          <p:cNvSpPr/>
          <p:nvPr/>
        </p:nvSpPr>
        <p:spPr>
          <a:xfrm>
            <a:off x="9235440" y="1645920"/>
            <a:ext cx="777240" cy="777240"/>
          </a:xfrm>
          <a:prstGeom prst="ellipse">
            <a:avLst/>
          </a:prstGeom>
          <a:solidFill>
            <a:schemeClr val="accent5"/>
          </a:solidFill>
          <a:ln w="12700">
            <a:solidFill>
              <a:schemeClr val="accent5"/>
            </a:solidFill>
            <a:prstDash val="solid"/>
          </a:ln>
        </p:spPr>
      </p:sp>
      <p:pic>
        <p:nvPicPr>
          <p:cNvPr id="20" name="Image 3" descr="preencoded.png">    </p:cNvPr>
          <p:cNvPicPr>
            <a:picLocks noChangeAspect="1"/>
          </p:cNvPicPr>
          <p:nvPr/>
        </p:nvPicPr>
        <p:blipFill>
          <a:blip r:embed="rId4"/>
          <a:stretch>
            <a:fillRect/>
          </a:stretch>
        </p:blipFill>
        <p:spPr>
          <a:xfrm>
            <a:off x="9429750" y="1840230"/>
            <a:ext cx="388620" cy="388620"/>
          </a:xfrm>
          <a:prstGeom prst="rect">
            <a:avLst/>
          </a:prstGeom>
        </p:spPr>
      </p:pic>
      <p:sp>
        <p:nvSpPr>
          <p:cNvPr id="21" name="Text 15"/>
          <p:cNvSpPr txBox="1"/>
          <p:nvPr/>
        </p:nvSpPr>
        <p:spPr>
          <a:xfrm>
            <a:off x="9235440" y="2606040"/>
            <a:ext cx="2377440" cy="457200"/>
          </a:xfrm>
          <a:prstGeom prst="rect">
            <a:avLst/>
          </a:prstGeom>
          <a:noFill/>
          <a:ln/>
        </p:spPr>
        <p:txBody>
          <a:bodyPr wrap="square" lIns="0" tIns="0" rIns="0" bIns="0" rtlCol="0" anchor="t"/>
          <a:lstStyle/>
          <a:p>
            <a:pPr indent="0" marL="0">
              <a:buNone/>
            </a:pPr>
            <a:r>
              <a:rPr lang="en-US" sz="2200" b="1" dirty="0">
                <a:solidFill>
                  <a:schemeClr val="tx2"/>
                </a:solidFill>
              </a:rPr>
              <a:t>4. Analizar</a:t>
            </a:r>
            <a:endParaRPr lang="en-US" sz="2200" dirty="0"/>
          </a:p>
        </p:txBody>
      </p:sp>
      <p:sp>
        <p:nvSpPr>
          <p:cNvPr id="22" name="Text 16"/>
          <p:cNvSpPr txBox="1"/>
          <p:nvPr/>
        </p:nvSpPr>
        <p:spPr>
          <a:xfrm>
            <a:off x="9235440" y="3108960"/>
            <a:ext cx="2377440" cy="1554480"/>
          </a:xfrm>
          <a:prstGeom prst="rect">
            <a:avLst/>
          </a:prstGeom>
          <a:noFill/>
          <a:ln/>
        </p:spPr>
        <p:txBody>
          <a:bodyPr wrap="square" lIns="0" tIns="0" rIns="0" bIns="0" rtlCol="0" anchor="t"/>
          <a:lstStyle/>
          <a:p>
            <a:pPr indent="0" marL="0">
              <a:buNone/>
            </a:pPr>
            <a:r>
              <a:rPr lang="en-US" sz="1500" dirty="0">
                <a:solidFill>
                  <a:schemeClr val="tx1"/>
                </a:solidFill>
              </a:rPr>
              <a:t>Indicadores, gráficos y una decisión gerencial justificada con cifras.</a:t>
            </a:r>
            <a:endParaRPr lang="en-US" sz="1500" dirty="0"/>
          </a:p>
        </p:txBody>
      </p:sp>
      <p:sp>
        <p:nvSpPr>
          <p:cNvPr id="23" name="Shape 17"/>
          <p:cNvSpPr/>
          <p:nvPr/>
        </p:nvSpPr>
        <p:spPr>
          <a:xfrm>
            <a:off x="548640" y="5029200"/>
            <a:ext cx="11091672" cy="1188720"/>
          </a:xfrm>
          <a:prstGeom prst="roundRect">
            <a:avLst>
              <a:gd name="adj" fmla="val 6154"/>
            </a:avLst>
          </a:prstGeom>
          <a:solidFill>
            <a:schemeClr val="bg2"/>
          </a:solidFill>
          <a:ln w="12700">
            <a:solidFill>
              <a:schemeClr val="bg2"/>
            </a:solidFill>
            <a:prstDash val="solid"/>
          </a:ln>
        </p:spPr>
      </p:sp>
      <p:sp>
        <p:nvSpPr>
          <p:cNvPr id="24" name="Text 18"/>
          <p:cNvSpPr txBox="1"/>
          <p:nvPr/>
        </p:nvSpPr>
        <p:spPr>
          <a:xfrm>
            <a:off x="777240" y="5166360"/>
            <a:ext cx="10607040" cy="914400"/>
          </a:xfrm>
          <a:prstGeom prst="rect">
            <a:avLst/>
          </a:prstGeom>
          <a:noFill/>
          <a:ln/>
        </p:spPr>
        <p:txBody>
          <a:bodyPr wrap="square" lIns="0" tIns="0" rIns="0" bIns="0" rtlCol="0" anchor="ctr"/>
          <a:lstStyle/>
          <a:p>
            <a:pPr indent="0" marL="0">
              <a:buNone/>
            </a:pPr>
            <a:r>
              <a:rPr lang="en-US" sz="1700" b="1" dirty="0">
                <a:solidFill>
                  <a:schemeClr val="accent2"/>
                </a:solidFill>
              </a:rPr>
              <a:t>Regla de oro: </a:t>
            </a:r>
            <a:pPr indent="0" marL="0">
              <a:buNone/>
            </a:pPr>
            <a:r>
              <a:rPr lang="en-US" sz="1700" dirty="0">
                <a:solidFill>
                  <a:schemeClr val="tx1"/>
                </a:solidFill>
              </a:rPr>
              <a:t>no inventar valores. Lo inválido o faltante queda vacío, se marca en una columna aparte y solo se excluye del cálculo que lo necesita. Cada cambio queda en una bitácora (12 cambios en total).</a:t>
            </a:r>
            <a:endParaRPr lang="en-US" sz="17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1 — NovaMarket ventas: proceso ETL</a:t>
            </a:r>
            <a:endParaRPr lang="en-US" sz="3000" dirty="0"/>
          </a:p>
        </p:txBody>
      </p:sp>
      <p:sp>
        <p:nvSpPr>
          <p:cNvPr id="3" name="Shape 1"/>
          <p:cNvSpPr/>
          <p:nvPr/>
        </p:nvSpPr>
        <p:spPr>
          <a:xfrm>
            <a:off x="548640" y="1325880"/>
            <a:ext cx="11091672"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731520" y="1371600"/>
            <a:ext cx="10698480" cy="777240"/>
          </a:xfrm>
          <a:prstGeom prst="rect">
            <a:avLst/>
          </a:prstGeom>
          <a:noFill/>
          <a:ln/>
        </p:spPr>
        <p:txBody>
          <a:bodyPr wrap="square" lIns="0" tIns="0" rIns="0" bIns="0" rtlCol="0" anchor="ctr"/>
          <a:lstStyle/>
          <a:p>
            <a:pPr indent="0" marL="0">
              <a:buNone/>
            </a:pPr>
            <a:r>
              <a:rPr lang="en-US" sz="1500" b="1" dirty="0">
                <a:solidFill>
                  <a:schemeClr val="accent1"/>
                </a:solidFill>
              </a:rPr>
              <a:t>Enunciado. </a:t>
            </a:r>
            <a:pPr indent="0" marL="0">
              <a:buNone/>
            </a:pPr>
            <a:r>
              <a:rPr lang="en-US" sz="1500" dirty="0">
                <a:solidFill>
                  <a:schemeClr val="tx1"/>
                </a:solidFill>
              </a:rPr>
              <a:t>Identificar productos, regiones y canales de mayores ingresos y verificar errores de facturación (36 ventas, 9 columnas).</a:t>
            </a:r>
            <a:endParaRPr lang="en-US" sz="1500" dirty="0"/>
          </a:p>
        </p:txBody>
      </p:sp>
      <p:sp>
        <p:nvSpPr>
          <p:cNvPr id="5" name="Text 3"/>
          <p:cNvSpPr txBox="1"/>
          <p:nvPr/>
        </p:nvSpPr>
        <p:spPr>
          <a:xfrm>
            <a:off x="548640" y="2331720"/>
            <a:ext cx="3291840" cy="365760"/>
          </a:xfrm>
          <a:prstGeom prst="rect">
            <a:avLst/>
          </a:prstGeom>
          <a:noFill/>
          <a:ln/>
        </p:spPr>
        <p:txBody>
          <a:bodyPr wrap="square" lIns="0" tIns="0" rIns="0" bIns="0" rtlCol="0" anchor="t"/>
          <a:lstStyle/>
          <a:p>
            <a:pPr indent="0" marL="0">
              <a:buNone/>
            </a:pPr>
            <a:r>
              <a:rPr lang="en-US" sz="1800" b="1" dirty="0">
                <a:solidFill>
                  <a:schemeClr val="tx2"/>
                </a:solidFill>
              </a:rPr>
              <a:t>E · Extraer</a:t>
            </a:r>
            <a:endParaRPr lang="en-US" sz="1800" dirty="0"/>
          </a:p>
        </p:txBody>
      </p:sp>
      <p:sp>
        <p:nvSpPr>
          <p:cNvPr id="6" name="Text 4"/>
          <p:cNvSpPr txBox="1"/>
          <p:nvPr/>
        </p:nvSpPr>
        <p:spPr>
          <a:xfrm>
            <a:off x="548640" y="2743200"/>
            <a:ext cx="32918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Obtener datos → Texto/CSV. 36 filas, 9 columnas, 4 productos, 3 regiones, 3 canales.</a:t>
            </a:r>
            <a:endParaRPr lang="en-US" sz="1400" dirty="0"/>
          </a:p>
        </p:txBody>
      </p:sp>
      <p:sp>
        <p:nvSpPr>
          <p:cNvPr id="7" name="Text 5"/>
          <p:cNvSpPr txBox="1"/>
          <p:nvPr/>
        </p:nvSpPr>
        <p:spPr>
          <a:xfrm>
            <a:off x="3977640" y="2331720"/>
            <a:ext cx="4480560" cy="365760"/>
          </a:xfrm>
          <a:prstGeom prst="rect">
            <a:avLst/>
          </a:prstGeom>
          <a:noFill/>
          <a:ln/>
        </p:spPr>
        <p:txBody>
          <a:bodyPr wrap="square" lIns="0" tIns="0" rIns="0" bIns="0" rtlCol="0" anchor="t"/>
          <a:lstStyle/>
          <a:p>
            <a:pPr indent="0" marL="0">
              <a:buNone/>
            </a:pPr>
            <a:r>
              <a:rPr lang="en-US" sz="1800" b="1" dirty="0">
                <a:solidFill>
                  <a:schemeClr val="tx2"/>
                </a:solidFill>
              </a:rPr>
              <a:t>T · Transformar</a:t>
            </a:r>
            <a:endParaRPr lang="en-US" sz="1800" dirty="0"/>
          </a:p>
        </p:txBody>
      </p:sp>
      <p:sp>
        <p:nvSpPr>
          <p:cNvPr id="8" name="Text 6"/>
          <p:cNvSpPr txBox="1"/>
          <p:nvPr/>
        </p:nvSpPr>
        <p:spPr>
          <a:xfrm>
            <a:off x="3977640" y="2743200"/>
            <a:ext cx="448056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Region y Canal: recortar y capitalizar</a:t>
            </a:r>
            <a:endParaRPr lang="en-US" sz="1400" dirty="0"/>
          </a:p>
          <a:p>
            <a:pPr marL="342900" indent="-342900">
              <a:spcAft>
                <a:spcPts val="600"/>
              </a:spcAft>
              <a:buSzPct val="100000"/>
              <a:buChar char="•"/>
            </a:pPr>
            <a:r>
              <a:rPr lang="en-US" sz="1400" dirty="0">
                <a:solidFill>
                  <a:schemeClr val="tx1"/>
                </a:solidFill>
              </a:rPr>
              <a:t>Tipos: fecha, enteros y decimal</a:t>
            </a:r>
            <a:endParaRPr lang="en-US" sz="1400" dirty="0"/>
          </a:p>
          <a:p>
            <a:pPr marL="342900" indent="-342900">
              <a:spcAft>
                <a:spcPts val="600"/>
              </a:spcAft>
              <a:buSzPct val="100000"/>
              <a:buChar char="•"/>
            </a:pPr>
            <a:r>
              <a:rPr lang="en-US" sz="1400" dirty="0">
                <a:solidFill>
                  <a:schemeClr val="tx1"/>
                </a:solidFill>
              </a:rPr>
              <a:t>Ingreso_Esperado = Unidades × Precio × (1 − Desc/100)</a:t>
            </a:r>
            <a:endParaRPr lang="en-US" sz="1400" dirty="0"/>
          </a:p>
          <a:p>
            <a:pPr marL="342900" indent="-342900">
              <a:spcAft>
                <a:spcPts val="600"/>
              </a:spcAft>
              <a:buSzPct val="100000"/>
              <a:buChar char="•"/>
            </a:pPr>
            <a:r>
              <a:rPr lang="en-US" sz="1400" dirty="0">
                <a:solidFill>
                  <a:schemeClr val="tx1"/>
                </a:solidFill>
              </a:rPr>
              <a:t>Diferencia = Registrado − Esperado</a:t>
            </a:r>
            <a:endParaRPr lang="en-US" sz="1400" dirty="0"/>
          </a:p>
        </p:txBody>
      </p:sp>
      <p:sp>
        <p:nvSpPr>
          <p:cNvPr id="9" name="Text 7"/>
          <p:cNvSpPr txBox="1"/>
          <p:nvPr/>
        </p:nvSpPr>
        <p:spPr>
          <a:xfrm>
            <a:off x="8595360" y="2331720"/>
            <a:ext cx="3044952" cy="365760"/>
          </a:xfrm>
          <a:prstGeom prst="rect">
            <a:avLst/>
          </a:prstGeom>
          <a:noFill/>
          <a:ln/>
        </p:spPr>
        <p:txBody>
          <a:bodyPr wrap="square" lIns="0" tIns="0" rIns="0" bIns="0" rtlCol="0" anchor="t"/>
          <a:lstStyle/>
          <a:p>
            <a:pPr indent="0" marL="0">
              <a:buNone/>
            </a:pPr>
            <a:r>
              <a:rPr lang="en-US" sz="1800" b="1" dirty="0">
                <a:solidFill>
                  <a:schemeClr val="tx2"/>
                </a:solidFill>
              </a:rPr>
              <a:t>L · Cargar</a:t>
            </a:r>
            <a:endParaRPr lang="en-US" sz="1800" dirty="0"/>
          </a:p>
        </p:txBody>
      </p:sp>
      <p:sp>
        <p:nvSpPr>
          <p:cNvPr id="10" name="Text 8"/>
          <p:cNvSpPr txBox="1"/>
          <p:nvPr/>
        </p:nvSpPr>
        <p:spPr>
          <a:xfrm>
            <a:off x="8595360" y="2743200"/>
            <a:ext cx="304495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Cerrar y aplicar → tabla Ventas y medidas DAX (totales, filas con discrepancia).</a:t>
            </a:r>
            <a:endParaRPr lang="en-US" sz="1400" dirty="0"/>
          </a:p>
        </p:txBody>
      </p:sp>
      <p:sp>
        <p:nvSpPr>
          <p:cNvPr id="11" name="Text 9"/>
          <p:cNvSpPr txBox="1"/>
          <p:nvPr/>
        </p:nvSpPr>
        <p:spPr>
          <a:xfrm>
            <a:off x="548640" y="4343400"/>
            <a:ext cx="7315200" cy="320040"/>
          </a:xfrm>
          <a:prstGeom prst="rect">
            <a:avLst/>
          </a:prstGeom>
          <a:noFill/>
          <a:ln/>
        </p:spPr>
        <p:txBody>
          <a:bodyPr wrap="square" lIns="0" tIns="0" rIns="0" bIns="0" rtlCol="0" anchor="t"/>
          <a:lstStyle/>
          <a:p>
            <a:pPr indent="0" marL="0">
              <a:buNone/>
            </a:pPr>
            <a:r>
              <a:rPr lang="en-US" sz="1600" b="1" dirty="0">
                <a:solidFill>
                  <a:schemeClr val="accent2"/>
                </a:solidFill>
              </a:rPr>
              <a:t>Anomalías encontradas y tratamiento</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91672" cy="914400"/>
        </p:xfrm>
        <a:graphic>
          <a:graphicData uri="http://schemas.openxmlformats.org/drawingml/2006/table">
            <a:tbl>
              <a:tblPr/>
              <a:tblGrid>
                <a:gridCol w="1005840"/>
                <a:gridCol w="2194560"/>
                <a:gridCol w="2926080"/>
                <a:gridCol w="4965192"/>
              </a:tblGrid>
              <a:tr h="384048">
                <a:tc>
                  <a:txBody>
                    <a:bodyPr/>
                    <a:lstStyle/>
                    <a:p>
                      <a:pPr algn="l" indent="0" marL="0">
                        <a:buNone/>
                      </a:pPr>
                      <a:r>
                        <a:rPr lang="en-US" sz="1300" b="1" dirty="0">
                          <a:solidFill>
                            <a:srgbClr val="FFFFFF"/>
                          </a:solidFill>
                        </a:rPr>
                        <a:t>ID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Campo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Valor original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Tratamiento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V009</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Region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 norte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Recortar + capitalizar → Norte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V028</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Canal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"web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Recortar + capitalizar → Web</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V020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Ingreso_Registrado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$295.000 (esperado $270.000)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Se marca con Diferencia (+$25.000); no se modifica el valor</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1 — Indicadores</a:t>
            </a:r>
            <a:endParaRPr lang="en-US" sz="3000" dirty="0"/>
          </a:p>
        </p:txBody>
      </p:sp>
      <p:sp>
        <p:nvSpPr>
          <p:cNvPr id="3" name="Shape 1"/>
          <p:cNvSpPr/>
          <p:nvPr/>
        </p:nvSpPr>
        <p:spPr>
          <a:xfrm>
            <a:off x="548640" y="1325880"/>
            <a:ext cx="265176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685800" y="1435608"/>
            <a:ext cx="2377440" cy="685800"/>
          </a:xfrm>
          <a:prstGeom prst="rect">
            <a:avLst/>
          </a:prstGeom>
          <a:noFill/>
          <a:ln/>
        </p:spPr>
        <p:txBody>
          <a:bodyPr wrap="square" lIns="0" tIns="0" rIns="0" bIns="0" rtlCol="0" anchor="ctr"/>
          <a:lstStyle/>
          <a:p>
            <a:pPr indent="0" marL="0">
              <a:buNone/>
            </a:pPr>
            <a:r>
              <a:rPr lang="en-US" sz="2800" b="1" dirty="0">
                <a:solidFill>
                  <a:schemeClr val="accent1"/>
                </a:solidFill>
              </a:rPr>
              <a:t>$12.723.750</a:t>
            </a:r>
            <a:endParaRPr lang="en-US" sz="2800" dirty="0"/>
          </a:p>
        </p:txBody>
      </p:sp>
      <p:sp>
        <p:nvSpPr>
          <p:cNvPr id="5" name="Text 3"/>
          <p:cNvSpPr txBox="1"/>
          <p:nvPr/>
        </p:nvSpPr>
        <p:spPr>
          <a:xfrm>
            <a:off x="68580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ingreso esperado total</a:t>
            </a:r>
            <a:endParaRPr lang="en-US" sz="1300" dirty="0"/>
          </a:p>
        </p:txBody>
      </p:sp>
      <p:sp>
        <p:nvSpPr>
          <p:cNvPr id="6" name="Shape 4"/>
          <p:cNvSpPr/>
          <p:nvPr/>
        </p:nvSpPr>
        <p:spPr>
          <a:xfrm>
            <a:off x="3337560" y="1325880"/>
            <a:ext cx="265176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3474720" y="1435608"/>
            <a:ext cx="2377440" cy="685800"/>
          </a:xfrm>
          <a:prstGeom prst="rect">
            <a:avLst/>
          </a:prstGeom>
          <a:noFill/>
          <a:ln/>
        </p:spPr>
        <p:txBody>
          <a:bodyPr wrap="square" lIns="0" tIns="0" rIns="0" bIns="0" rtlCol="0" anchor="ctr"/>
          <a:lstStyle/>
          <a:p>
            <a:pPr indent="0" marL="0">
              <a:buNone/>
            </a:pPr>
            <a:r>
              <a:rPr lang="en-US" sz="2800" b="1" dirty="0">
                <a:solidFill>
                  <a:schemeClr val="accent1"/>
                </a:solidFill>
              </a:rPr>
              <a:t>$12.748.750</a:t>
            </a:r>
            <a:endParaRPr lang="en-US" sz="2800" dirty="0"/>
          </a:p>
        </p:txBody>
      </p:sp>
      <p:sp>
        <p:nvSpPr>
          <p:cNvPr id="8" name="Text 6"/>
          <p:cNvSpPr txBox="1"/>
          <p:nvPr/>
        </p:nvSpPr>
        <p:spPr>
          <a:xfrm>
            <a:off x="347472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ingreso registrado total</a:t>
            </a:r>
            <a:endParaRPr lang="en-US" sz="1300" dirty="0"/>
          </a:p>
        </p:txBody>
      </p:sp>
      <p:sp>
        <p:nvSpPr>
          <p:cNvPr id="9" name="Shape 7"/>
          <p:cNvSpPr/>
          <p:nvPr/>
        </p:nvSpPr>
        <p:spPr>
          <a:xfrm>
            <a:off x="6126480" y="1325880"/>
            <a:ext cx="265176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6263640" y="1435608"/>
            <a:ext cx="2377440" cy="685800"/>
          </a:xfrm>
          <a:prstGeom prst="rect">
            <a:avLst/>
          </a:prstGeom>
          <a:noFill/>
          <a:ln/>
        </p:spPr>
        <p:txBody>
          <a:bodyPr wrap="square" lIns="0" tIns="0" rIns="0" bIns="0" rtlCol="0" anchor="ctr"/>
          <a:lstStyle/>
          <a:p>
            <a:pPr indent="0" marL="0">
              <a:buNone/>
            </a:pPr>
            <a:r>
              <a:rPr lang="en-US" sz="2800" b="1" dirty="0">
                <a:solidFill>
                  <a:schemeClr val="accent2"/>
                </a:solidFill>
              </a:rPr>
              <a:t>+$25.000</a:t>
            </a:r>
            <a:endParaRPr lang="en-US" sz="2800" dirty="0"/>
          </a:p>
        </p:txBody>
      </p:sp>
      <p:sp>
        <p:nvSpPr>
          <p:cNvPr id="11" name="Text 9"/>
          <p:cNvSpPr txBox="1"/>
          <p:nvPr/>
        </p:nvSpPr>
        <p:spPr>
          <a:xfrm>
            <a:off x="626364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diferencia total (0,2 %)</a:t>
            </a:r>
            <a:endParaRPr lang="en-US" sz="1300" dirty="0"/>
          </a:p>
        </p:txBody>
      </p:sp>
      <p:sp>
        <p:nvSpPr>
          <p:cNvPr id="12" name="Shape 10"/>
          <p:cNvSpPr/>
          <p:nvPr/>
        </p:nvSpPr>
        <p:spPr>
          <a:xfrm>
            <a:off x="8915400" y="1325880"/>
            <a:ext cx="2724912" cy="137160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9052560" y="1435608"/>
            <a:ext cx="2450592" cy="685800"/>
          </a:xfrm>
          <a:prstGeom prst="rect">
            <a:avLst/>
          </a:prstGeom>
          <a:noFill/>
          <a:ln/>
        </p:spPr>
        <p:txBody>
          <a:bodyPr wrap="square" lIns="0" tIns="0" rIns="0" bIns="0" rtlCol="0" anchor="ctr"/>
          <a:lstStyle/>
          <a:p>
            <a:pPr indent="0" marL="0">
              <a:buNone/>
            </a:pPr>
            <a:r>
              <a:rPr lang="en-US" sz="2800" b="1" dirty="0">
                <a:solidFill>
                  <a:schemeClr val="accent2"/>
                </a:solidFill>
              </a:rPr>
              <a:t>1 de 36</a:t>
            </a:r>
            <a:endParaRPr lang="en-US" sz="2800" dirty="0"/>
          </a:p>
        </p:txBody>
      </p:sp>
      <p:sp>
        <p:nvSpPr>
          <p:cNvPr id="14" name="Text 12"/>
          <p:cNvSpPr txBox="1"/>
          <p:nvPr/>
        </p:nvSpPr>
        <p:spPr>
          <a:xfrm>
            <a:off x="9052560" y="2121408"/>
            <a:ext cx="2450592" cy="521208"/>
          </a:xfrm>
          <a:prstGeom prst="rect">
            <a:avLst/>
          </a:prstGeom>
          <a:noFill/>
          <a:ln/>
        </p:spPr>
        <p:txBody>
          <a:bodyPr wrap="square" lIns="0" tIns="0" rIns="0" bIns="0" rtlCol="0" anchor="t"/>
          <a:lstStyle/>
          <a:p>
            <a:pPr indent="0" marL="0">
              <a:buNone/>
            </a:pPr>
            <a:r>
              <a:rPr lang="en-US" sz="1300" dirty="0">
                <a:solidFill>
                  <a:schemeClr val="tx1"/>
                </a:solidFill>
              </a:rPr>
              <a:t>filas con discrepancia: V020</a:t>
            </a:r>
            <a:endParaRPr lang="en-US" sz="1300" dirty="0"/>
          </a:p>
        </p:txBody>
      </p:sp>
      <p:sp>
        <p:nvSpPr>
          <p:cNvPr id="15" name="Text 13"/>
          <p:cNvSpPr txBox="1"/>
          <p:nvPr/>
        </p:nvSpPr>
        <p:spPr>
          <a:xfrm>
            <a:off x="548640" y="2926080"/>
            <a:ext cx="5486400" cy="320040"/>
          </a:xfrm>
          <a:prstGeom prst="rect">
            <a:avLst/>
          </a:prstGeom>
          <a:noFill/>
          <a:ln/>
        </p:spPr>
        <p:txBody>
          <a:bodyPr wrap="square" lIns="0" tIns="0" rIns="0" bIns="0" rtlCol="0" anchor="t"/>
          <a:lstStyle/>
          <a:p>
            <a:pPr indent="0" marL="0">
              <a:buNone/>
            </a:pPr>
            <a:r>
              <a:rPr lang="en-US" sz="1500" b="1" dirty="0">
                <a:solidFill>
                  <a:schemeClr val="tx2"/>
                </a:solidFill>
              </a:rPr>
              <a:t>Ingreso por producto (top 3 en negrita)</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5120640" cy="914400"/>
        </p:xfrm>
        <a:graphic>
          <a:graphicData uri="http://schemas.openxmlformats.org/drawingml/2006/table">
            <a:tbl>
              <a:tblPr/>
              <a:tblGrid>
                <a:gridCol w="1920240"/>
                <a:gridCol w="1920240"/>
                <a:gridCol w="1280160"/>
              </a:tblGrid>
              <a:tr h="384048">
                <a:tc>
                  <a:txBody>
                    <a:bodyPr/>
                    <a:lstStyle/>
                    <a:p>
                      <a:pPr algn="l" indent="0" marL="0">
                        <a:buNone/>
                      </a:pPr>
                      <a:r>
                        <a:rPr lang="en-US" sz="1300" b="1" dirty="0">
                          <a:solidFill>
                            <a:srgbClr val="FFFFFF"/>
                          </a:solidFill>
                        </a:rPr>
                        <a:t>Producto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r" indent="0" marL="0">
                        <a:buNone/>
                      </a:pPr>
                      <a:r>
                        <a:rPr lang="en-US" sz="1300" b="1" dirty="0">
                          <a:solidFill>
                            <a:srgbClr val="FFFFFF"/>
                          </a:solidFill>
                        </a:rPr>
                        <a:t>Ingreso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r" indent="0" marL="0">
                        <a:buNone/>
                      </a:pPr>
                      <a:r>
                        <a:rPr lang="en-US" sz="1300" b="1" dirty="0">
                          <a:solidFill>
                            <a:srgbClr val="FFFFFF"/>
                          </a:solidFill>
                        </a:rPr>
                        <a:t>% total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Monitor</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$4.455.000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34,9 %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Mouse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$3.251.250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25,5 %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Teclado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$2.992.500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23,5 %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Audífonos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$2.050.000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16,1 %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bl>
          </a:graphicData>
        </a:graphic>
      </p:graphicFrame>
      <p:sp>
        <p:nvSpPr>
          <p:cNvPr id="17" name="Text 14"/>
          <p:cNvSpPr txBox="1"/>
          <p:nvPr/>
        </p:nvSpPr>
        <p:spPr>
          <a:xfrm>
            <a:off x="6309360" y="2926080"/>
            <a:ext cx="5303520" cy="320040"/>
          </a:xfrm>
          <a:prstGeom prst="rect">
            <a:avLst/>
          </a:prstGeom>
          <a:noFill/>
          <a:ln/>
        </p:spPr>
        <p:txBody>
          <a:bodyPr wrap="square" lIns="0" tIns="0" rIns="0" bIns="0" rtlCol="0" anchor="t"/>
          <a:lstStyle/>
          <a:p>
            <a:pPr indent="0" marL="0">
              <a:buNone/>
            </a:pPr>
            <a:r>
              <a:rPr lang="en-US" sz="1500" b="1" dirty="0">
                <a:solidFill>
                  <a:schemeClr val="tx2"/>
                </a:solidFill>
              </a:rPr>
              <a:t>Región y canal</a:t>
            </a:r>
            <a:endParaRPr lang="en-US" sz="15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309360" y="3291840"/>
          <a:ext cx="5330952" cy="914400"/>
        </p:xfrm>
        <a:graphic>
          <a:graphicData uri="http://schemas.openxmlformats.org/drawingml/2006/table">
            <a:tbl>
              <a:tblPr/>
              <a:tblGrid>
                <a:gridCol w="1005840"/>
                <a:gridCol w="1371600"/>
                <a:gridCol w="1463040"/>
                <a:gridCol w="1490472"/>
              </a:tblGrid>
              <a:tr h="384048">
                <a:tc>
                  <a:txBody>
                    <a:bodyPr/>
                    <a:lstStyle/>
                    <a:p>
                      <a:pPr algn="l" indent="0" marL="0">
                        <a:buNone/>
                      </a:pPr>
                      <a:r>
                        <a:rPr lang="en-US" sz="1300" b="1" dirty="0">
                          <a:solidFill>
                            <a:srgbClr val="FFFFFF"/>
                          </a:solidFill>
                        </a:rPr>
                        <a:t>Región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r" indent="0" marL="0">
                        <a:buNone/>
                      </a:pPr>
                      <a:r>
                        <a:rPr lang="en-US" sz="1300" b="1" dirty="0">
                          <a:solidFill>
                            <a:srgbClr val="FFFFFF"/>
                          </a:solidFill>
                        </a:rPr>
                        <a:t>Ingreso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Canal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r" indent="0" marL="0">
                        <a:buNone/>
                      </a:pPr>
                      <a:r>
                        <a:rPr lang="en-US" sz="1300" b="1" dirty="0">
                          <a:solidFill>
                            <a:srgbClr val="FFFFFF"/>
                          </a:solidFill>
                        </a:rPr>
                        <a:t>Ingreso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Centro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$5.114.500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Distribuidor</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$5.114.500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Sur</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$4.241.250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Tienda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$3.881.250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Norte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$3.393.000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Web</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$3.753.000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6309360" y="4937760"/>
            <a:ext cx="5330952" cy="822960"/>
          </a:xfrm>
          <a:prstGeom prst="rect">
            <a:avLst/>
          </a:prstGeom>
          <a:noFill/>
          <a:ln/>
        </p:spPr>
        <p:txBody>
          <a:bodyPr wrap="square" lIns="0" tIns="0" rIns="0" bIns="0" rtlCol="0" anchor="t"/>
          <a:lstStyle/>
          <a:p>
            <a:pPr indent="0" marL="0">
              <a:buNone/>
            </a:pPr>
            <a:r>
              <a:rPr lang="en-US" sz="1300" dirty="0">
                <a:solidFill>
                  <a:schemeClr val="tx1"/>
                </a:solidFill>
              </a:rPr>
              <a:t>Región y canal casi coinciden (Centro = Distribuidor). La excepción es V028 (Sur / Web). V020 suma $25.000 de más en Centro y Distribuidor.</a:t>
            </a:r>
            <a:endParaRPr lang="en-US" sz="1300" dirty="0"/>
          </a:p>
        </p:txBody>
      </p:sp>
      <p:sp>
        <p:nvSpPr>
          <p:cNvPr id="20" name="Text 16"/>
          <p:cNvSpPr txBox="1"/>
          <p:nvPr/>
        </p:nvSpPr>
        <p:spPr>
          <a:xfrm>
            <a:off x="548640" y="5349240"/>
            <a:ext cx="5120640" cy="868680"/>
          </a:xfrm>
          <a:prstGeom prst="rect">
            <a:avLst/>
          </a:prstGeom>
          <a:noFill/>
          <a:ln/>
        </p:spPr>
        <p:txBody>
          <a:bodyPr wrap="square" lIns="0" tIns="0" rIns="0" bIns="0" rtlCol="0" anchor="t"/>
          <a:lstStyle/>
          <a:p>
            <a:pPr indent="0" marL="0">
              <a:buNone/>
            </a:pPr>
            <a:r>
              <a:rPr lang="en-US" sz="1300" dirty="0">
                <a:solidFill>
                  <a:schemeClr val="tx1"/>
                </a:solidFill>
              </a:rPr>
              <a:t>Los 4 productos vendieron 45 unidades: la diferencia es el precio neto por unidad ($99.000 Monitor, $72.250 Mouse, $66.500 Teclado, $45.000 Audífonos).</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1 — Visualizaciones y decisión</a:t>
            </a:r>
            <a:endParaRPr lang="en-US" sz="3000" dirty="0"/>
          </a:p>
        </p:txBody>
      </p:sp>
      <p:graphicFrame>
        <p:nvGraphicFramePr>
          <p:cNvPr id="3" name="Chart 0" descr=""/>
          <p:cNvGraphicFramePr/>
          <p:nvPr/>
        </p:nvGraphicFramePr>
        <p:xfrm>
          <a:off x="548640" y="1234440"/>
          <a:ext cx="54864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72200" y="1234440"/>
          <a:ext cx="5468112" cy="292608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4251960"/>
            <a:ext cx="11091672" cy="2057400"/>
          </a:xfrm>
          <a:prstGeom prst="roundRect">
            <a:avLst>
              <a:gd name="adj" fmla="val 3556"/>
            </a:avLst>
          </a:prstGeom>
          <a:solidFill>
            <a:schemeClr val="bg2"/>
          </a:solidFill>
          <a:ln w="12700">
            <a:solidFill>
              <a:schemeClr val="bg2"/>
            </a:solidFill>
            <a:prstDash val="solid"/>
          </a:ln>
        </p:spPr>
      </p:sp>
      <p:sp>
        <p:nvSpPr>
          <p:cNvPr id="6" name="Text 2"/>
          <p:cNvSpPr txBox="1"/>
          <p:nvPr/>
        </p:nvSpPr>
        <p:spPr>
          <a:xfrm>
            <a:off x="777240" y="4361688"/>
            <a:ext cx="10607040" cy="365760"/>
          </a:xfrm>
          <a:prstGeom prst="rect">
            <a:avLst/>
          </a:prstGeom>
          <a:noFill/>
          <a:ln/>
        </p:spPr>
        <p:txBody>
          <a:bodyPr wrap="square" lIns="0" tIns="0" rIns="0" bIns="0" rtlCol="0" anchor="ctr"/>
          <a:lstStyle/>
          <a:p>
            <a:pPr indent="0" marL="0">
              <a:buNone/>
            </a:pPr>
            <a:r>
              <a:rPr lang="en-US" sz="1700" b="1" dirty="0">
                <a:solidFill>
                  <a:schemeClr val="accent2"/>
                </a:solidFill>
              </a:rPr>
              <a:t>Decisión gerencial: </a:t>
            </a:r>
            <a:pPr indent="0" marL="0">
              <a:buNone/>
            </a:pPr>
            <a:r>
              <a:rPr lang="en-US" sz="1700" b="1" dirty="0">
                <a:solidFill>
                  <a:schemeClr val="tx2"/>
                </a:solidFill>
              </a:rPr>
              <a:t>priorizar el Monitor y el canal Distribuidor</a:t>
            </a:r>
            <a:endParaRPr lang="en-US" sz="1700" dirty="0"/>
          </a:p>
        </p:txBody>
      </p:sp>
      <p:sp>
        <p:nvSpPr>
          <p:cNvPr id="7" name="Text 3"/>
          <p:cNvSpPr txBox="1"/>
          <p:nvPr/>
        </p:nvSpPr>
        <p:spPr>
          <a:xfrm>
            <a:off x="777240" y="4800600"/>
            <a:ext cx="1060704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Monitor: 34,9 % del ingreso con las mismas 45 unidades (precio neto $99.000)</a:t>
            </a:r>
            <a:endParaRPr lang="en-US" sz="1400" dirty="0"/>
          </a:p>
          <a:p>
            <a:pPr marL="342900" indent="-342900">
              <a:spcAft>
                <a:spcPts val="600"/>
              </a:spcAft>
              <a:buSzPct val="100000"/>
              <a:buChar char="•"/>
            </a:pPr>
            <a:r>
              <a:rPr lang="en-US" sz="1400" dirty="0">
                <a:solidFill>
                  <a:schemeClr val="tx1"/>
                </a:solidFill>
              </a:rPr>
              <a:t>Distribuidor: 40,1 % del ingreso y mejor ticket: $426.208 por venta vs $352.841 (Tienda) y $288.692 (Web)</a:t>
            </a:r>
            <a:endParaRPr lang="en-US" sz="1400" dirty="0"/>
          </a:p>
          <a:p>
            <a:pPr marL="342900" indent="-342900">
              <a:spcAft>
                <a:spcPts val="600"/>
              </a:spcAft>
              <a:buSzPct val="100000"/>
              <a:buChar char="•"/>
            </a:pPr>
            <a:r>
              <a:rPr lang="en-US" sz="1400" dirty="0">
                <a:solidFill>
                  <a:schemeClr val="tx1"/>
                </a:solidFill>
              </a:rPr>
              <a:t>Monitor–Distribuidor es la combinación más alta: $1.782.000</a:t>
            </a:r>
            <a:endParaRPr lang="en-US" sz="1400" dirty="0"/>
          </a:p>
          <a:p>
            <a:pPr marL="342900" indent="-342900">
              <a:spcAft>
                <a:spcPts val="600"/>
              </a:spcAft>
              <a:buSzPct val="100000"/>
              <a:buChar char="•"/>
            </a:pPr>
            <a:r>
              <a:rPr lang="en-US" sz="1400" dirty="0">
                <a:solidFill>
                  <a:schemeClr val="tx1"/>
                </a:solidFill>
              </a:rPr>
              <a:t>Corregir V020 y validar Ingreso = Unidades × Precio × (1 − Descuento) al facturar</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2 — VidaPlus: proceso ETL</a:t>
            </a:r>
            <a:endParaRPr lang="en-US" sz="3000" dirty="0"/>
          </a:p>
        </p:txBody>
      </p:sp>
      <p:sp>
        <p:nvSpPr>
          <p:cNvPr id="3" name="Shape 1"/>
          <p:cNvSpPr/>
          <p:nvPr/>
        </p:nvSpPr>
        <p:spPr>
          <a:xfrm>
            <a:off x="548640" y="1325880"/>
            <a:ext cx="11091672"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731520" y="1371600"/>
            <a:ext cx="10698480" cy="777240"/>
          </a:xfrm>
          <a:prstGeom prst="rect">
            <a:avLst/>
          </a:prstGeom>
          <a:noFill/>
          <a:ln/>
        </p:spPr>
        <p:txBody>
          <a:bodyPr wrap="square" lIns="0" tIns="0" rIns="0" bIns="0" rtlCol="0" anchor="ctr"/>
          <a:lstStyle/>
          <a:p>
            <a:pPr indent="0" marL="0">
              <a:buNone/>
            </a:pPr>
            <a:r>
              <a:rPr lang="en-US" sz="1500" b="1" dirty="0">
                <a:solidFill>
                  <a:schemeClr val="accent1"/>
                </a:solidFill>
              </a:rPr>
              <a:t>Enunciado. </a:t>
            </a:r>
            <a:pPr indent="0" marL="0">
              <a:buNone/>
            </a:pPr>
            <a:r>
              <a:rPr lang="en-US" sz="1500" dirty="0">
                <a:solidFill>
                  <a:schemeClr val="tx1"/>
                </a:solidFill>
              </a:rPr>
              <a:t>Conocer las demoras y la satisfacción de los usuarios (36 atenciones, 7 columnas, 3 sedes, 3 servicios).</a:t>
            </a:r>
            <a:endParaRPr lang="en-US" sz="1500" dirty="0"/>
          </a:p>
        </p:txBody>
      </p:sp>
      <p:sp>
        <p:nvSpPr>
          <p:cNvPr id="5" name="Text 3"/>
          <p:cNvSpPr txBox="1"/>
          <p:nvPr/>
        </p:nvSpPr>
        <p:spPr>
          <a:xfrm>
            <a:off x="548640" y="2331720"/>
            <a:ext cx="3291840" cy="365760"/>
          </a:xfrm>
          <a:prstGeom prst="rect">
            <a:avLst/>
          </a:prstGeom>
          <a:noFill/>
          <a:ln/>
        </p:spPr>
        <p:txBody>
          <a:bodyPr wrap="square" lIns="0" tIns="0" rIns="0" bIns="0" rtlCol="0" anchor="t"/>
          <a:lstStyle/>
          <a:p>
            <a:pPr indent="0" marL="0">
              <a:buNone/>
            </a:pPr>
            <a:r>
              <a:rPr lang="en-US" sz="1800" b="1" dirty="0">
                <a:solidFill>
                  <a:schemeClr val="tx2"/>
                </a:solidFill>
              </a:rPr>
              <a:t>E · Extraer</a:t>
            </a:r>
            <a:endParaRPr lang="en-US" sz="1800" dirty="0"/>
          </a:p>
        </p:txBody>
      </p:sp>
      <p:sp>
        <p:nvSpPr>
          <p:cNvPr id="6" name="Text 4"/>
          <p:cNvSpPr txBox="1"/>
          <p:nvPr/>
        </p:nvSpPr>
        <p:spPr>
          <a:xfrm>
            <a:off x="548640" y="2743200"/>
            <a:ext cx="32918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Importar CSV con Power Query. 36 filas, 7 columnas.</a:t>
            </a:r>
            <a:endParaRPr lang="en-US" sz="1400" dirty="0"/>
          </a:p>
        </p:txBody>
      </p:sp>
      <p:sp>
        <p:nvSpPr>
          <p:cNvPr id="7" name="Text 5"/>
          <p:cNvSpPr txBox="1"/>
          <p:nvPr/>
        </p:nvSpPr>
        <p:spPr>
          <a:xfrm>
            <a:off x="3977640" y="2331720"/>
            <a:ext cx="4480560" cy="365760"/>
          </a:xfrm>
          <a:prstGeom prst="rect">
            <a:avLst/>
          </a:prstGeom>
          <a:noFill/>
          <a:ln/>
        </p:spPr>
        <p:txBody>
          <a:bodyPr wrap="square" lIns="0" tIns="0" rIns="0" bIns="0" rtlCol="0" anchor="t"/>
          <a:lstStyle/>
          <a:p>
            <a:pPr indent="0" marL="0">
              <a:buNone/>
            </a:pPr>
            <a:r>
              <a:rPr lang="en-US" sz="1800" b="1" dirty="0">
                <a:solidFill>
                  <a:schemeClr val="tx2"/>
                </a:solidFill>
              </a:rPr>
              <a:t>T · Transformar</a:t>
            </a:r>
            <a:endParaRPr lang="en-US" sz="1800" dirty="0"/>
          </a:p>
        </p:txBody>
      </p:sp>
      <p:sp>
        <p:nvSpPr>
          <p:cNvPr id="8" name="Text 6"/>
          <p:cNvSpPr txBox="1"/>
          <p:nvPr/>
        </p:nvSpPr>
        <p:spPr>
          <a:xfrm>
            <a:off x="3977640" y="2743200"/>
            <a:ext cx="448056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Sede: recortar y capitalizar</a:t>
            </a:r>
            <a:endParaRPr lang="en-US" sz="1400" dirty="0"/>
          </a:p>
          <a:p>
            <a:pPr marL="342900" indent="-342900">
              <a:spcAft>
                <a:spcPts val="600"/>
              </a:spcAft>
              <a:buSzPct val="100000"/>
              <a:buChar char="•"/>
            </a:pPr>
            <a:r>
              <a:rPr lang="en-US" sz="1400" dirty="0">
                <a:solidFill>
                  <a:schemeClr val="tx1"/>
                </a:solidFill>
              </a:rPr>
              <a:t>Espera_Min y Satisfaccion a número (vacíos quedan vacíos)</a:t>
            </a:r>
            <a:endParaRPr lang="en-US" sz="1400" dirty="0"/>
          </a:p>
          <a:p>
            <a:pPr marL="342900" indent="-342900">
              <a:spcAft>
                <a:spcPts val="600"/>
              </a:spcAft>
              <a:buSzPct val="100000"/>
              <a:buChar char="•"/>
            </a:pPr>
            <a:r>
              <a:rPr lang="en-US" sz="1400" dirty="0">
                <a:solidFill>
                  <a:schemeClr val="tx1"/>
                </a:solidFill>
              </a:rPr>
              <a:t>Satisfaccion_Valida: solo valores de 1 a 5</a:t>
            </a:r>
            <a:endParaRPr lang="en-US" sz="1400" dirty="0"/>
          </a:p>
          <a:p>
            <a:pPr marL="342900" indent="-342900">
              <a:spcAft>
                <a:spcPts val="600"/>
              </a:spcAft>
              <a:buSzPct val="100000"/>
              <a:buChar char="•"/>
            </a:pPr>
            <a:r>
              <a:rPr lang="en-US" sz="1400" dirty="0">
                <a:solidFill>
                  <a:schemeClr val="tx1"/>
                </a:solidFill>
              </a:rPr>
              <a:t>Intervalo_Espera: ≤20, 21–40, &gt;40</a:t>
            </a:r>
            <a:endParaRPr lang="en-US" sz="1400" dirty="0"/>
          </a:p>
        </p:txBody>
      </p:sp>
      <p:sp>
        <p:nvSpPr>
          <p:cNvPr id="9" name="Text 7"/>
          <p:cNvSpPr txBox="1"/>
          <p:nvPr/>
        </p:nvSpPr>
        <p:spPr>
          <a:xfrm>
            <a:off x="8595360" y="2331720"/>
            <a:ext cx="3044952" cy="365760"/>
          </a:xfrm>
          <a:prstGeom prst="rect">
            <a:avLst/>
          </a:prstGeom>
          <a:noFill/>
          <a:ln/>
        </p:spPr>
        <p:txBody>
          <a:bodyPr wrap="square" lIns="0" tIns="0" rIns="0" bIns="0" rtlCol="0" anchor="t"/>
          <a:lstStyle/>
          <a:p>
            <a:pPr indent="0" marL="0">
              <a:buNone/>
            </a:pPr>
            <a:r>
              <a:rPr lang="en-US" sz="1800" b="1" dirty="0">
                <a:solidFill>
                  <a:schemeClr val="tx2"/>
                </a:solidFill>
              </a:rPr>
              <a:t>L · Cargar</a:t>
            </a:r>
            <a:endParaRPr lang="en-US" sz="1800" dirty="0"/>
          </a:p>
        </p:txBody>
      </p:sp>
      <p:sp>
        <p:nvSpPr>
          <p:cNvPr id="10" name="Text 8"/>
          <p:cNvSpPr txBox="1"/>
          <p:nvPr/>
        </p:nvSpPr>
        <p:spPr>
          <a:xfrm>
            <a:off x="8595360" y="2743200"/>
            <a:ext cx="304495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Cerrar y aplicar → tabla Atenciones y medidas DAX (totales, % &gt;40, promedios).</a:t>
            </a:r>
            <a:endParaRPr lang="en-US" sz="1400" dirty="0"/>
          </a:p>
        </p:txBody>
      </p:sp>
      <p:sp>
        <p:nvSpPr>
          <p:cNvPr id="11" name="Text 9"/>
          <p:cNvSpPr txBox="1"/>
          <p:nvPr/>
        </p:nvSpPr>
        <p:spPr>
          <a:xfrm>
            <a:off x="548640" y="4343400"/>
            <a:ext cx="7315200" cy="320040"/>
          </a:xfrm>
          <a:prstGeom prst="rect">
            <a:avLst/>
          </a:prstGeom>
          <a:noFill/>
          <a:ln/>
        </p:spPr>
        <p:txBody>
          <a:bodyPr wrap="square" lIns="0" tIns="0" rIns="0" bIns="0" rtlCol="0" anchor="t"/>
          <a:lstStyle/>
          <a:p>
            <a:pPr indent="0" marL="0">
              <a:buNone/>
            </a:pPr>
            <a:r>
              <a:rPr lang="en-US" sz="1600" b="1" dirty="0">
                <a:solidFill>
                  <a:schemeClr val="accent2"/>
                </a:solidFill>
              </a:rPr>
              <a:t>Anomalías encontradas y tratamiento</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91672" cy="914400"/>
        </p:xfrm>
        <a:graphic>
          <a:graphicData uri="http://schemas.openxmlformats.org/drawingml/2006/table">
            <a:tbl>
              <a:tblPr/>
              <a:tblGrid>
                <a:gridCol w="1005840"/>
                <a:gridCol w="2194560"/>
                <a:gridCol w="2926080"/>
                <a:gridCol w="4965192"/>
              </a:tblGrid>
              <a:tr h="384048">
                <a:tc>
                  <a:txBody>
                    <a:bodyPr/>
                    <a:lstStyle/>
                    <a:p>
                      <a:pPr algn="l" indent="0" marL="0">
                        <a:buNone/>
                      </a:pPr>
                      <a:r>
                        <a:rPr lang="en-US" sz="1300" b="1" dirty="0">
                          <a:solidFill>
                            <a:srgbClr val="FFFFFF"/>
                          </a:solidFill>
                        </a:rPr>
                        <a:t>ID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Campo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Valor original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Tratamiento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A006</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Sede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"centro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Recortar + capitalizar → Centro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A018</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Espera_Min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(vacío)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Se deja vacío; Intervalo = Sin clasificar; fuera del promedio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A026</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Satisfaccion_1a5</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6 (fuera de 1–5)</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Inválida en Satisfaccion_Valida; el original se conserva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2 — Indicadores</a:t>
            </a:r>
            <a:endParaRPr lang="en-US" sz="3000" dirty="0"/>
          </a:p>
        </p:txBody>
      </p:sp>
      <p:sp>
        <p:nvSpPr>
          <p:cNvPr id="3" name="Shape 1"/>
          <p:cNvSpPr/>
          <p:nvPr/>
        </p:nvSpPr>
        <p:spPr>
          <a:xfrm>
            <a:off x="548640" y="1325880"/>
            <a:ext cx="265176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685800" y="1435608"/>
            <a:ext cx="2377440" cy="685800"/>
          </a:xfrm>
          <a:prstGeom prst="rect">
            <a:avLst/>
          </a:prstGeom>
          <a:noFill/>
          <a:ln/>
        </p:spPr>
        <p:txBody>
          <a:bodyPr wrap="square" lIns="0" tIns="0" rIns="0" bIns="0" rtlCol="0" anchor="ctr"/>
          <a:lstStyle/>
          <a:p>
            <a:pPr indent="0" marL="0">
              <a:buNone/>
            </a:pPr>
            <a:r>
              <a:rPr lang="en-US" sz="2800" b="1" dirty="0">
                <a:solidFill>
                  <a:schemeClr val="accent1"/>
                </a:solidFill>
              </a:rPr>
              <a:t>36 / 24 / 12</a:t>
            </a:r>
            <a:endParaRPr lang="en-US" sz="2800" dirty="0"/>
          </a:p>
        </p:txBody>
      </p:sp>
      <p:sp>
        <p:nvSpPr>
          <p:cNvPr id="5" name="Text 3"/>
          <p:cNvSpPr txBox="1"/>
          <p:nvPr/>
        </p:nvSpPr>
        <p:spPr>
          <a:xfrm>
            <a:off x="68580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totales / atendidas / canceladas</a:t>
            </a:r>
            <a:endParaRPr lang="en-US" sz="1300" dirty="0"/>
          </a:p>
        </p:txBody>
      </p:sp>
      <p:sp>
        <p:nvSpPr>
          <p:cNvPr id="6" name="Shape 4"/>
          <p:cNvSpPr/>
          <p:nvPr/>
        </p:nvSpPr>
        <p:spPr>
          <a:xfrm>
            <a:off x="3337560" y="1325880"/>
            <a:ext cx="265176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3474720" y="1435608"/>
            <a:ext cx="2377440" cy="685800"/>
          </a:xfrm>
          <a:prstGeom prst="rect">
            <a:avLst/>
          </a:prstGeom>
          <a:noFill/>
          <a:ln/>
        </p:spPr>
        <p:txBody>
          <a:bodyPr wrap="square" lIns="0" tIns="0" rIns="0" bIns="0" rtlCol="0" anchor="ctr"/>
          <a:lstStyle/>
          <a:p>
            <a:pPr indent="0" marL="0">
              <a:buNone/>
            </a:pPr>
            <a:r>
              <a:rPr lang="en-US" sz="3000" b="1" dirty="0">
                <a:solidFill>
                  <a:schemeClr val="accent2"/>
                </a:solidFill>
              </a:rPr>
              <a:t>51,4 %</a:t>
            </a:r>
            <a:endParaRPr lang="en-US" sz="3000" dirty="0"/>
          </a:p>
        </p:txBody>
      </p:sp>
      <p:sp>
        <p:nvSpPr>
          <p:cNvPr id="8" name="Text 6"/>
          <p:cNvSpPr txBox="1"/>
          <p:nvPr/>
        </p:nvSpPr>
        <p:spPr>
          <a:xfrm>
            <a:off x="347472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esperas &gt; 40 min: 18 de 35 válidas</a:t>
            </a:r>
            <a:endParaRPr lang="en-US" sz="1300" dirty="0"/>
          </a:p>
        </p:txBody>
      </p:sp>
      <p:sp>
        <p:nvSpPr>
          <p:cNvPr id="9" name="Shape 7"/>
          <p:cNvSpPr/>
          <p:nvPr/>
        </p:nvSpPr>
        <p:spPr>
          <a:xfrm>
            <a:off x="6126480" y="1325880"/>
            <a:ext cx="265176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6263640" y="1435608"/>
            <a:ext cx="2377440" cy="685800"/>
          </a:xfrm>
          <a:prstGeom prst="rect">
            <a:avLst/>
          </a:prstGeom>
          <a:noFill/>
          <a:ln/>
        </p:spPr>
        <p:txBody>
          <a:bodyPr wrap="square" lIns="0" tIns="0" rIns="0" bIns="0" rtlCol="0" anchor="ctr"/>
          <a:lstStyle/>
          <a:p>
            <a:pPr indent="0" marL="0">
              <a:buNone/>
            </a:pPr>
            <a:r>
              <a:rPr lang="en-US" sz="3000" b="1" dirty="0">
                <a:solidFill>
                  <a:schemeClr val="accent1"/>
                </a:solidFill>
              </a:rPr>
              <a:t>35 de 36</a:t>
            </a:r>
            <a:endParaRPr lang="en-US" sz="3000" dirty="0"/>
          </a:p>
        </p:txBody>
      </p:sp>
      <p:sp>
        <p:nvSpPr>
          <p:cNvPr id="11" name="Text 9"/>
          <p:cNvSpPr txBox="1"/>
          <p:nvPr/>
        </p:nvSpPr>
        <p:spPr>
          <a:xfrm>
            <a:off x="626364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atenciones con tiempo válido</a:t>
            </a:r>
            <a:endParaRPr lang="en-US" sz="1300" dirty="0"/>
          </a:p>
        </p:txBody>
      </p:sp>
      <p:sp>
        <p:nvSpPr>
          <p:cNvPr id="12" name="Shape 10"/>
          <p:cNvSpPr/>
          <p:nvPr/>
        </p:nvSpPr>
        <p:spPr>
          <a:xfrm>
            <a:off x="8915400" y="1325880"/>
            <a:ext cx="2724912" cy="137160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9052560" y="1435608"/>
            <a:ext cx="2450592" cy="685800"/>
          </a:xfrm>
          <a:prstGeom prst="rect">
            <a:avLst/>
          </a:prstGeom>
          <a:noFill/>
          <a:ln/>
        </p:spPr>
        <p:txBody>
          <a:bodyPr wrap="square" lIns="0" tIns="0" rIns="0" bIns="0" rtlCol="0" anchor="ctr"/>
          <a:lstStyle/>
          <a:p>
            <a:pPr indent="0" marL="0">
              <a:buNone/>
            </a:pPr>
            <a:r>
              <a:rPr lang="en-US" sz="3000" b="1" dirty="0">
                <a:solidFill>
                  <a:schemeClr val="accent1"/>
                </a:solidFill>
              </a:rPr>
              <a:t>3,00</a:t>
            </a:r>
            <a:endParaRPr lang="en-US" sz="3000" dirty="0"/>
          </a:p>
        </p:txBody>
      </p:sp>
      <p:sp>
        <p:nvSpPr>
          <p:cNvPr id="14" name="Text 12"/>
          <p:cNvSpPr txBox="1"/>
          <p:nvPr/>
        </p:nvSpPr>
        <p:spPr>
          <a:xfrm>
            <a:off x="9052560" y="2121408"/>
            <a:ext cx="2450592" cy="521208"/>
          </a:xfrm>
          <a:prstGeom prst="rect">
            <a:avLst/>
          </a:prstGeom>
          <a:noFill/>
          <a:ln/>
        </p:spPr>
        <p:txBody>
          <a:bodyPr wrap="square" lIns="0" tIns="0" rIns="0" bIns="0" rtlCol="0" anchor="t"/>
          <a:lstStyle/>
          <a:p>
            <a:pPr indent="0" marL="0">
              <a:buNone/>
            </a:pPr>
            <a:r>
              <a:rPr lang="en-US" sz="1300" dirty="0">
                <a:solidFill>
                  <a:schemeClr val="tx1"/>
                </a:solidFill>
              </a:rPr>
              <a:t>satisfacción promedio (35 válidas)</a:t>
            </a:r>
            <a:endParaRPr lang="en-US" sz="1300" dirty="0"/>
          </a:p>
        </p:txBody>
      </p:sp>
      <p:sp>
        <p:nvSpPr>
          <p:cNvPr id="15" name="Text 13"/>
          <p:cNvSpPr txBox="1"/>
          <p:nvPr/>
        </p:nvSpPr>
        <p:spPr>
          <a:xfrm>
            <a:off x="548640" y="2926080"/>
            <a:ext cx="5486400" cy="320040"/>
          </a:xfrm>
          <a:prstGeom prst="rect">
            <a:avLst/>
          </a:prstGeom>
          <a:noFill/>
          <a:ln/>
        </p:spPr>
        <p:txBody>
          <a:bodyPr wrap="square" lIns="0" tIns="0" rIns="0" bIns="0" rtlCol="0" anchor="t"/>
          <a:lstStyle/>
          <a:p>
            <a:pPr indent="0" marL="0">
              <a:buNone/>
            </a:pPr>
            <a:r>
              <a:rPr lang="en-US" sz="1500" b="1" dirty="0">
                <a:solidFill>
                  <a:schemeClr val="tx2"/>
                </a:solidFill>
              </a:rPr>
              <a:t>Espera por sede</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5303520" cy="914400"/>
        </p:xfrm>
        <a:graphic>
          <a:graphicData uri="http://schemas.openxmlformats.org/drawingml/2006/table">
            <a:tbl>
              <a:tblPr/>
              <a:tblGrid>
                <a:gridCol w="1280160"/>
                <a:gridCol w="1554480"/>
                <a:gridCol w="1097280"/>
                <a:gridCol w="1371600"/>
              </a:tblGrid>
              <a:tr h="384048">
                <a:tc>
                  <a:txBody>
                    <a:bodyPr/>
                    <a:lstStyle/>
                    <a:p>
                      <a:pPr algn="l" indent="0" marL="0">
                        <a:buNone/>
                      </a:pPr>
                      <a:r>
                        <a:rPr lang="en-US" sz="1300" b="1" dirty="0">
                          <a:solidFill>
                            <a:srgbClr val="FFFFFF"/>
                          </a:solidFill>
                        </a:rPr>
                        <a:t>Sede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Espera prom.</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Válidos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 &gt; 40 min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Centro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37,8 min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13</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46,2 %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Norte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33,0 min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10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60,0 %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Sur</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51,0 min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50,0 %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17" name="Text 14"/>
          <p:cNvSpPr txBox="1"/>
          <p:nvPr/>
        </p:nvSpPr>
        <p:spPr>
          <a:xfrm>
            <a:off x="6309360" y="2926080"/>
            <a:ext cx="5303520" cy="320040"/>
          </a:xfrm>
          <a:prstGeom prst="rect">
            <a:avLst/>
          </a:prstGeom>
          <a:noFill/>
          <a:ln/>
        </p:spPr>
        <p:txBody>
          <a:bodyPr wrap="square" lIns="0" tIns="0" rIns="0" bIns="0" rtlCol="0" anchor="t"/>
          <a:lstStyle/>
          <a:p>
            <a:pPr indent="0" marL="0">
              <a:buNone/>
            </a:pPr>
            <a:r>
              <a:rPr lang="en-US" sz="1500" b="1" dirty="0">
                <a:solidFill>
                  <a:schemeClr val="tx2"/>
                </a:solidFill>
              </a:rPr>
              <a:t>Satisfacción por servicio</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309360" y="3291840"/>
          <a:ext cx="5330952" cy="914400"/>
        </p:xfrm>
        <a:graphic>
          <a:graphicData uri="http://schemas.openxmlformats.org/drawingml/2006/table">
            <a:tbl>
              <a:tblPr/>
              <a:tblGrid>
                <a:gridCol w="1828800"/>
                <a:gridCol w="1463040"/>
                <a:gridCol w="2039112"/>
              </a:tblGrid>
              <a:tr h="384048">
                <a:tc>
                  <a:txBody>
                    <a:bodyPr/>
                    <a:lstStyle/>
                    <a:p>
                      <a:pPr algn="l" indent="0" marL="0">
                        <a:buNone/>
                      </a:pPr>
                      <a:r>
                        <a:rPr lang="en-US" sz="1300" b="1" dirty="0">
                          <a:solidFill>
                            <a:srgbClr val="FFFFFF"/>
                          </a:solidFill>
                        </a:rPr>
                        <a:t>Servicio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Promedio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Válidos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Consulta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3,25</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Laboratorio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3,08</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12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Urgencias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2,64</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11 (A026 inválida)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548640" y="5029200"/>
            <a:ext cx="11064240" cy="731520"/>
          </a:xfrm>
          <a:prstGeom prst="rect">
            <a:avLst/>
          </a:prstGeom>
          <a:noFill/>
          <a:ln/>
        </p:spPr>
        <p:txBody>
          <a:bodyPr wrap="square" lIns="0" tIns="0" rIns="0" bIns="0" rtlCol="0" anchor="t"/>
          <a:lstStyle/>
          <a:p>
            <a:pPr indent="0" marL="0">
              <a:buNone/>
            </a:pPr>
            <a:r>
              <a:rPr lang="en-US" sz="1400" dirty="0">
                <a:solidFill>
                  <a:schemeClr val="tx1"/>
                </a:solidFill>
              </a:rPr>
              <a:t>Denominador del % &gt; 40 min: las 35 atenciones con tiempo válido (con 36 daría 50,0 %). Intervalos: ≤20: 5 · 21–40: 12 · &gt;40: 18 · sin clasificar: 1.</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2 — Visualizaciones y decisión</a:t>
            </a:r>
            <a:endParaRPr lang="en-US" sz="3000" dirty="0"/>
          </a:p>
        </p:txBody>
      </p:sp>
      <p:graphicFrame>
        <p:nvGraphicFramePr>
          <p:cNvPr id="3" name="Chart 0" descr=""/>
          <p:cNvGraphicFramePr/>
          <p:nvPr/>
        </p:nvGraphicFramePr>
        <p:xfrm>
          <a:off x="548640" y="1234440"/>
          <a:ext cx="54864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72200" y="1234440"/>
          <a:ext cx="5468112" cy="292608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4251960"/>
            <a:ext cx="11091672" cy="2057400"/>
          </a:xfrm>
          <a:prstGeom prst="roundRect">
            <a:avLst>
              <a:gd name="adj" fmla="val 3556"/>
            </a:avLst>
          </a:prstGeom>
          <a:solidFill>
            <a:schemeClr val="bg2"/>
          </a:solidFill>
          <a:ln w="12700">
            <a:solidFill>
              <a:schemeClr val="bg2"/>
            </a:solidFill>
            <a:prstDash val="solid"/>
          </a:ln>
        </p:spPr>
      </p:sp>
      <p:sp>
        <p:nvSpPr>
          <p:cNvPr id="6" name="Text 2"/>
          <p:cNvSpPr txBox="1"/>
          <p:nvPr/>
        </p:nvSpPr>
        <p:spPr>
          <a:xfrm>
            <a:off x="777240" y="4361688"/>
            <a:ext cx="10607040" cy="365760"/>
          </a:xfrm>
          <a:prstGeom prst="rect">
            <a:avLst/>
          </a:prstGeom>
          <a:noFill/>
          <a:ln/>
        </p:spPr>
        <p:txBody>
          <a:bodyPr wrap="square" lIns="0" tIns="0" rIns="0" bIns="0" rtlCol="0" anchor="ctr"/>
          <a:lstStyle/>
          <a:p>
            <a:pPr indent="0" marL="0">
              <a:buNone/>
            </a:pPr>
            <a:r>
              <a:rPr lang="en-US" sz="1700" b="1" dirty="0">
                <a:solidFill>
                  <a:schemeClr val="accent2"/>
                </a:solidFill>
              </a:rPr>
              <a:t>Decisión gerencial: </a:t>
            </a:r>
            <a:pPr indent="0" marL="0">
              <a:buNone/>
            </a:pPr>
            <a:r>
              <a:rPr lang="en-US" sz="1700" b="1" dirty="0">
                <a:solidFill>
                  <a:schemeClr val="tx2"/>
                </a:solidFill>
              </a:rPr>
              <a:t>atención prioritaria a Urgencias en la sede Sur</a:t>
            </a:r>
            <a:endParaRPr lang="en-US" sz="1700" dirty="0"/>
          </a:p>
        </p:txBody>
      </p:sp>
      <p:sp>
        <p:nvSpPr>
          <p:cNvPr id="7" name="Text 3"/>
          <p:cNvSpPr txBox="1"/>
          <p:nvPr/>
        </p:nvSpPr>
        <p:spPr>
          <a:xfrm>
            <a:off x="777240" y="4800600"/>
            <a:ext cx="1060704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Sur tiene la mayor espera: 51,0 min, 18 por encima de Norte (33,0) y 13 por encima de Centro (37,8)</a:t>
            </a:r>
            <a:endParaRPr lang="en-US" sz="1400" dirty="0"/>
          </a:p>
          <a:p>
            <a:pPr marL="342900" indent="-342900">
              <a:spcAft>
                <a:spcPts val="600"/>
              </a:spcAft>
              <a:buSzPct val="100000"/>
              <a:buChar char="•"/>
            </a:pPr>
            <a:r>
              <a:rPr lang="en-US" sz="1400" dirty="0">
                <a:solidFill>
                  <a:schemeClr val="tx1"/>
                </a:solidFill>
              </a:rPr>
              <a:t>Urgencias tiene la satisfacción más baja (2,64) y las 12 atenciones canceladas son todas de ese servicio</a:t>
            </a:r>
            <a:endParaRPr lang="en-US" sz="1400" dirty="0"/>
          </a:p>
          <a:p>
            <a:pPr marL="342900" indent="-342900">
              <a:spcAft>
                <a:spcPts val="600"/>
              </a:spcAft>
              <a:buSzPct val="100000"/>
              <a:buChar char="•"/>
            </a:pPr>
            <a:r>
              <a:rPr lang="en-US" sz="1400" dirty="0">
                <a:solidFill>
                  <a:schemeClr val="tx1"/>
                </a:solidFill>
              </a:rPr>
              <a:t>Limitación: sede, servicio y estado coinciden (Sur = Urgencias = Cancelado); no se puede separar la causa</a:t>
            </a:r>
            <a:endParaRPr lang="en-US" sz="1400" dirty="0"/>
          </a:p>
          <a:p>
            <a:pPr marL="342900" indent="-342900">
              <a:spcAft>
                <a:spcPts val="600"/>
              </a:spcAft>
              <a:buSzPct val="100000"/>
              <a:buChar char="•"/>
            </a:pPr>
            <a:r>
              <a:rPr lang="en-US" sz="1400" dirty="0">
                <a:solidFill>
                  <a:schemeClr val="tx1"/>
                </a:solidFill>
              </a:rPr>
              <a:t>Meta: bajar la espera promedio de 51 a menos de 40 minutos y volver a medir satisfacción</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3 — RutaExpress: proceso ETL</a:t>
            </a:r>
            <a:endParaRPr lang="en-US" sz="3000" dirty="0"/>
          </a:p>
        </p:txBody>
      </p:sp>
      <p:sp>
        <p:nvSpPr>
          <p:cNvPr id="3" name="Shape 1"/>
          <p:cNvSpPr/>
          <p:nvPr/>
        </p:nvSpPr>
        <p:spPr>
          <a:xfrm>
            <a:off x="548640" y="1325880"/>
            <a:ext cx="11091672"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731520" y="1371600"/>
            <a:ext cx="10698480" cy="777240"/>
          </a:xfrm>
          <a:prstGeom prst="rect">
            <a:avLst/>
          </a:prstGeom>
          <a:noFill/>
          <a:ln/>
        </p:spPr>
        <p:txBody>
          <a:bodyPr wrap="square" lIns="0" tIns="0" rIns="0" bIns="0" rtlCol="0" anchor="ctr"/>
          <a:lstStyle/>
          <a:p>
            <a:pPr indent="0" marL="0">
              <a:buNone/>
            </a:pPr>
            <a:r>
              <a:rPr lang="en-US" sz="1500" b="1" dirty="0">
                <a:solidFill>
                  <a:schemeClr val="accent1"/>
                </a:solidFill>
              </a:rPr>
              <a:t>Enunciado. </a:t>
            </a:r>
            <a:pPr indent="0" marL="0">
              <a:buNone/>
            </a:pPr>
            <a:r>
              <a:rPr lang="en-US" sz="1500" dirty="0">
                <a:solidFill>
                  <a:schemeClr val="tx1"/>
                </a:solidFill>
              </a:rPr>
              <a:t>Identificar retrasos por transportista y anomalías de costos (36 envíos, 7 columnas, 3 transportistas, 3 zonas).</a:t>
            </a:r>
            <a:endParaRPr lang="en-US" sz="1500" dirty="0"/>
          </a:p>
        </p:txBody>
      </p:sp>
      <p:sp>
        <p:nvSpPr>
          <p:cNvPr id="5" name="Text 3"/>
          <p:cNvSpPr txBox="1"/>
          <p:nvPr/>
        </p:nvSpPr>
        <p:spPr>
          <a:xfrm>
            <a:off x="548640" y="2331720"/>
            <a:ext cx="3291840" cy="365760"/>
          </a:xfrm>
          <a:prstGeom prst="rect">
            <a:avLst/>
          </a:prstGeom>
          <a:noFill/>
          <a:ln/>
        </p:spPr>
        <p:txBody>
          <a:bodyPr wrap="square" lIns="0" tIns="0" rIns="0" bIns="0" rtlCol="0" anchor="t"/>
          <a:lstStyle/>
          <a:p>
            <a:pPr indent="0" marL="0">
              <a:buNone/>
            </a:pPr>
            <a:r>
              <a:rPr lang="en-US" sz="1800" b="1" dirty="0">
                <a:solidFill>
                  <a:schemeClr val="tx2"/>
                </a:solidFill>
              </a:rPr>
              <a:t>E · Extraer</a:t>
            </a:r>
            <a:endParaRPr lang="en-US" sz="1800" dirty="0"/>
          </a:p>
        </p:txBody>
      </p:sp>
      <p:sp>
        <p:nvSpPr>
          <p:cNvPr id="6" name="Text 4"/>
          <p:cNvSpPr txBox="1"/>
          <p:nvPr/>
        </p:nvSpPr>
        <p:spPr>
          <a:xfrm>
            <a:off x="548640" y="2743200"/>
            <a:ext cx="32918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pd.read_csv (utf-8-sig) + head(), info(), isna(). 36 × 7, un faltante.</a:t>
            </a:r>
            <a:endParaRPr lang="en-US" sz="1400" dirty="0"/>
          </a:p>
        </p:txBody>
      </p:sp>
      <p:sp>
        <p:nvSpPr>
          <p:cNvPr id="7" name="Text 5"/>
          <p:cNvSpPr txBox="1"/>
          <p:nvPr/>
        </p:nvSpPr>
        <p:spPr>
          <a:xfrm>
            <a:off x="3977640" y="2331720"/>
            <a:ext cx="4480560" cy="365760"/>
          </a:xfrm>
          <a:prstGeom prst="rect">
            <a:avLst/>
          </a:prstGeom>
          <a:noFill/>
          <a:ln/>
        </p:spPr>
        <p:txBody>
          <a:bodyPr wrap="square" lIns="0" tIns="0" rIns="0" bIns="0" rtlCol="0" anchor="t"/>
          <a:lstStyle/>
          <a:p>
            <a:pPr indent="0" marL="0">
              <a:buNone/>
            </a:pPr>
            <a:r>
              <a:rPr lang="en-US" sz="1800" b="1" dirty="0">
                <a:solidFill>
                  <a:schemeClr val="tx2"/>
                </a:solidFill>
              </a:rPr>
              <a:t>T · Transformar</a:t>
            </a:r>
            <a:endParaRPr lang="en-US" sz="1800" dirty="0"/>
          </a:p>
        </p:txBody>
      </p:sp>
      <p:sp>
        <p:nvSpPr>
          <p:cNvPr id="8" name="Text 6"/>
          <p:cNvSpPr txBox="1"/>
          <p:nvPr/>
        </p:nvSpPr>
        <p:spPr>
          <a:xfrm>
            <a:off x="3977640" y="2743200"/>
            <a:ext cx="448056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Zona: strip() y title()</a:t>
            </a:r>
            <a:endParaRPr lang="en-US" sz="1400" dirty="0"/>
          </a:p>
          <a:p>
            <a:pPr marL="342900" indent="-342900">
              <a:spcAft>
                <a:spcPts val="600"/>
              </a:spcAft>
              <a:buSzPct val="100000"/>
              <a:buChar char="•"/>
            </a:pPr>
            <a:r>
              <a:rPr lang="en-US" sz="1400" dirty="0">
                <a:solidFill>
                  <a:schemeClr val="tx1"/>
                </a:solidFill>
              </a:rPr>
              <a:t>to_numeric(errors="coerce") en días y costo</a:t>
            </a:r>
            <a:endParaRPr lang="en-US" sz="1400" dirty="0"/>
          </a:p>
          <a:p>
            <a:pPr marL="342900" indent="-342900">
              <a:spcAft>
                <a:spcPts val="600"/>
              </a:spcAft>
              <a:buSzPct val="100000"/>
              <a:buChar char="•"/>
            </a:pPr>
            <a:r>
              <a:rPr lang="en-US" sz="1400" dirty="0">
                <a:solidFill>
                  <a:schemeClr val="tx1"/>
                </a:solidFill>
              </a:rPr>
              <a:t>Costo negativo → NaN, marcado en Costo_invalido</a:t>
            </a:r>
            <a:endParaRPr lang="en-US" sz="1400" dirty="0"/>
          </a:p>
          <a:p>
            <a:pPr marL="342900" indent="-342900">
              <a:spcAft>
                <a:spcPts val="600"/>
              </a:spcAft>
              <a:buSzPct val="100000"/>
              <a:buChar char="•"/>
            </a:pPr>
            <a:r>
              <a:rPr lang="en-US" sz="1400" dirty="0">
                <a:solidFill>
                  <a:schemeClr val="tx1"/>
                </a:solidFill>
              </a:rPr>
              <a:t>Retraso_Dias = max(real − planeado, 0)</a:t>
            </a:r>
            <a:endParaRPr lang="en-US" sz="1400" dirty="0"/>
          </a:p>
        </p:txBody>
      </p:sp>
      <p:sp>
        <p:nvSpPr>
          <p:cNvPr id="9" name="Text 7"/>
          <p:cNvSpPr txBox="1"/>
          <p:nvPr/>
        </p:nvSpPr>
        <p:spPr>
          <a:xfrm>
            <a:off x="8595360" y="2331720"/>
            <a:ext cx="3044952" cy="365760"/>
          </a:xfrm>
          <a:prstGeom prst="rect">
            <a:avLst/>
          </a:prstGeom>
          <a:noFill/>
          <a:ln/>
        </p:spPr>
        <p:txBody>
          <a:bodyPr wrap="square" lIns="0" tIns="0" rIns="0" bIns="0" rtlCol="0" anchor="t"/>
          <a:lstStyle/>
          <a:p>
            <a:pPr indent="0" marL="0">
              <a:buNone/>
            </a:pPr>
            <a:r>
              <a:rPr lang="en-US" sz="1800" b="1" dirty="0">
                <a:solidFill>
                  <a:schemeClr val="tx2"/>
                </a:solidFill>
              </a:rPr>
              <a:t>L · Cargar</a:t>
            </a:r>
            <a:endParaRPr lang="en-US" sz="1800" dirty="0"/>
          </a:p>
        </p:txBody>
      </p:sp>
      <p:sp>
        <p:nvSpPr>
          <p:cNvPr id="10" name="Text 8"/>
          <p:cNvSpPr txBox="1"/>
          <p:nvPr/>
        </p:nvSpPr>
        <p:spPr>
          <a:xfrm>
            <a:off x="8595360" y="2743200"/>
            <a:ext cx="304495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Exportar RutaExpress_Limpio.csv (36 × 10) y verificar releyéndolo.</a:t>
            </a:r>
            <a:endParaRPr lang="en-US" sz="1400" dirty="0"/>
          </a:p>
        </p:txBody>
      </p:sp>
      <p:sp>
        <p:nvSpPr>
          <p:cNvPr id="11" name="Text 9"/>
          <p:cNvSpPr txBox="1"/>
          <p:nvPr/>
        </p:nvSpPr>
        <p:spPr>
          <a:xfrm>
            <a:off x="548640" y="4343400"/>
            <a:ext cx="7315200" cy="320040"/>
          </a:xfrm>
          <a:prstGeom prst="rect">
            <a:avLst/>
          </a:prstGeom>
          <a:noFill/>
          <a:ln/>
        </p:spPr>
        <p:txBody>
          <a:bodyPr wrap="square" lIns="0" tIns="0" rIns="0" bIns="0" rtlCol="0" anchor="t"/>
          <a:lstStyle/>
          <a:p>
            <a:pPr indent="0" marL="0">
              <a:buNone/>
            </a:pPr>
            <a:r>
              <a:rPr lang="en-US" sz="1600" b="1" dirty="0">
                <a:solidFill>
                  <a:schemeClr val="accent2"/>
                </a:solidFill>
              </a:rPr>
              <a:t>Anomalías encontradas y tratamiento</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91672" cy="914400"/>
        </p:xfrm>
        <a:graphic>
          <a:graphicData uri="http://schemas.openxmlformats.org/drawingml/2006/table">
            <a:tbl>
              <a:tblPr/>
              <a:tblGrid>
                <a:gridCol w="1005840"/>
                <a:gridCol w="2194560"/>
                <a:gridCol w="2926080"/>
                <a:gridCol w="4965192"/>
              </a:tblGrid>
              <a:tr h="384048">
                <a:tc>
                  <a:txBody>
                    <a:bodyPr/>
                    <a:lstStyle/>
                    <a:p>
                      <a:pPr algn="l" indent="0" marL="0">
                        <a:buNone/>
                      </a:pPr>
                      <a:r>
                        <a:rPr lang="en-US" sz="1300" b="1" dirty="0">
                          <a:solidFill>
                            <a:srgbClr val="FFFFFF"/>
                          </a:solidFill>
                        </a:rPr>
                        <a:t>ID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Campo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Valor original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Tratamiento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E010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Zona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 urbana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strip() + title() → Urbana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E022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Costo_COP</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−5.000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NaN y Costo_invalido = True (no se reemplaza)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E030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Dias_Reales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(vacío)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Retraso_Dias = NaN; sale del cálculo (quedan 35 envíos)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3 — Indicadores</a:t>
            </a:r>
            <a:endParaRPr lang="en-US" sz="3000" dirty="0"/>
          </a:p>
        </p:txBody>
      </p:sp>
      <p:sp>
        <p:nvSpPr>
          <p:cNvPr id="3" name="Shape 1"/>
          <p:cNvSpPr/>
          <p:nvPr/>
        </p:nvSpPr>
        <p:spPr>
          <a:xfrm>
            <a:off x="548640" y="1325880"/>
            <a:ext cx="2651760" cy="1371600"/>
          </a:xfrm>
          <a:prstGeom prst="roundRect">
            <a:avLst>
              <a:gd name="adj" fmla="val 5333"/>
            </a:avLst>
          </a:prstGeom>
          <a:solidFill>
            <a:schemeClr val="bg2"/>
          </a:solidFill>
          <a:ln w="12700">
            <a:solidFill>
              <a:schemeClr val="bg2"/>
            </a:solidFill>
            <a:prstDash val="solid"/>
          </a:ln>
        </p:spPr>
      </p:sp>
      <p:sp>
        <p:nvSpPr>
          <p:cNvPr id="4" name="Text 2"/>
          <p:cNvSpPr txBox="1"/>
          <p:nvPr/>
        </p:nvSpPr>
        <p:spPr>
          <a:xfrm>
            <a:off x="685800" y="1435608"/>
            <a:ext cx="2377440" cy="685800"/>
          </a:xfrm>
          <a:prstGeom prst="rect">
            <a:avLst/>
          </a:prstGeom>
          <a:noFill/>
          <a:ln/>
        </p:spPr>
        <p:txBody>
          <a:bodyPr wrap="square" lIns="0" tIns="0" rIns="0" bIns="0" rtlCol="0" anchor="ctr"/>
          <a:lstStyle/>
          <a:p>
            <a:pPr indent="0" marL="0">
              <a:buNone/>
            </a:pPr>
            <a:r>
              <a:rPr lang="en-US" sz="3000" b="1" dirty="0">
                <a:solidFill>
                  <a:schemeClr val="accent1"/>
                </a:solidFill>
              </a:rPr>
              <a:t>35 de 36</a:t>
            </a:r>
            <a:endParaRPr lang="en-US" sz="3000" dirty="0"/>
          </a:p>
        </p:txBody>
      </p:sp>
      <p:sp>
        <p:nvSpPr>
          <p:cNvPr id="5" name="Text 3"/>
          <p:cNvSpPr txBox="1"/>
          <p:nvPr/>
        </p:nvSpPr>
        <p:spPr>
          <a:xfrm>
            <a:off x="68580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envíos con tiempos válidos</a:t>
            </a:r>
            <a:endParaRPr lang="en-US" sz="1300" dirty="0"/>
          </a:p>
        </p:txBody>
      </p:sp>
      <p:sp>
        <p:nvSpPr>
          <p:cNvPr id="6" name="Shape 4"/>
          <p:cNvSpPr/>
          <p:nvPr/>
        </p:nvSpPr>
        <p:spPr>
          <a:xfrm>
            <a:off x="3337560" y="1325880"/>
            <a:ext cx="2651760" cy="13716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3474720" y="1435608"/>
            <a:ext cx="2377440" cy="685800"/>
          </a:xfrm>
          <a:prstGeom prst="rect">
            <a:avLst/>
          </a:prstGeom>
          <a:noFill/>
          <a:ln/>
        </p:spPr>
        <p:txBody>
          <a:bodyPr wrap="square" lIns="0" tIns="0" rIns="0" bIns="0" rtlCol="0" anchor="ctr"/>
          <a:lstStyle/>
          <a:p>
            <a:pPr indent="0" marL="0">
              <a:buNone/>
            </a:pPr>
            <a:r>
              <a:rPr lang="en-US" sz="3000" b="1" dirty="0">
                <a:solidFill>
                  <a:schemeClr val="accent1"/>
                </a:solidFill>
              </a:rPr>
              <a:t>14 / 21</a:t>
            </a:r>
            <a:endParaRPr lang="en-US" sz="3000" dirty="0"/>
          </a:p>
        </p:txBody>
      </p:sp>
      <p:sp>
        <p:nvSpPr>
          <p:cNvPr id="8" name="Text 6"/>
          <p:cNvSpPr txBox="1"/>
          <p:nvPr/>
        </p:nvSpPr>
        <p:spPr>
          <a:xfrm>
            <a:off x="347472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a tiempo / retrasadas</a:t>
            </a:r>
            <a:endParaRPr lang="en-US" sz="1300" dirty="0"/>
          </a:p>
        </p:txBody>
      </p:sp>
      <p:sp>
        <p:nvSpPr>
          <p:cNvPr id="9" name="Shape 7"/>
          <p:cNvSpPr/>
          <p:nvPr/>
        </p:nvSpPr>
        <p:spPr>
          <a:xfrm>
            <a:off x="6126480" y="1325880"/>
            <a:ext cx="2651760" cy="13716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6263640" y="1435608"/>
            <a:ext cx="2377440" cy="685800"/>
          </a:xfrm>
          <a:prstGeom prst="rect">
            <a:avLst/>
          </a:prstGeom>
          <a:noFill/>
          <a:ln/>
        </p:spPr>
        <p:txBody>
          <a:bodyPr wrap="square" lIns="0" tIns="0" rIns="0" bIns="0" rtlCol="0" anchor="ctr"/>
          <a:lstStyle/>
          <a:p>
            <a:pPr indent="0" marL="0">
              <a:buNone/>
            </a:pPr>
            <a:r>
              <a:rPr lang="en-US" sz="3000" b="1" dirty="0">
                <a:solidFill>
                  <a:schemeClr val="accent2"/>
                </a:solidFill>
              </a:rPr>
              <a:t>60,0 %</a:t>
            </a:r>
            <a:endParaRPr lang="en-US" sz="3000" dirty="0"/>
          </a:p>
        </p:txBody>
      </p:sp>
      <p:sp>
        <p:nvSpPr>
          <p:cNvPr id="11" name="Text 9"/>
          <p:cNvSpPr txBox="1"/>
          <p:nvPr/>
        </p:nvSpPr>
        <p:spPr>
          <a:xfrm>
            <a:off x="6263640" y="2121408"/>
            <a:ext cx="2377440" cy="521208"/>
          </a:xfrm>
          <a:prstGeom prst="rect">
            <a:avLst/>
          </a:prstGeom>
          <a:noFill/>
          <a:ln/>
        </p:spPr>
        <p:txBody>
          <a:bodyPr wrap="square" lIns="0" tIns="0" rIns="0" bIns="0" rtlCol="0" anchor="t"/>
          <a:lstStyle/>
          <a:p>
            <a:pPr indent="0" marL="0">
              <a:buNone/>
            </a:pPr>
            <a:r>
              <a:rPr lang="en-US" sz="1300" dirty="0">
                <a:solidFill>
                  <a:schemeClr val="tx1"/>
                </a:solidFill>
              </a:rPr>
              <a:t>de retrasos (21 de 35)</a:t>
            </a:r>
            <a:endParaRPr lang="en-US" sz="1300" dirty="0"/>
          </a:p>
        </p:txBody>
      </p:sp>
      <p:sp>
        <p:nvSpPr>
          <p:cNvPr id="12" name="Shape 10"/>
          <p:cNvSpPr/>
          <p:nvPr/>
        </p:nvSpPr>
        <p:spPr>
          <a:xfrm>
            <a:off x="8915400" y="1325880"/>
            <a:ext cx="2724912" cy="137160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9052560" y="1435608"/>
            <a:ext cx="2450592" cy="685800"/>
          </a:xfrm>
          <a:prstGeom prst="rect">
            <a:avLst/>
          </a:prstGeom>
          <a:noFill/>
          <a:ln/>
        </p:spPr>
        <p:txBody>
          <a:bodyPr wrap="square" lIns="0" tIns="0" rIns="0" bIns="0" rtlCol="0" anchor="ctr"/>
          <a:lstStyle/>
          <a:p>
            <a:pPr indent="0" marL="0">
              <a:buNone/>
            </a:pPr>
            <a:r>
              <a:rPr lang="en-US" sz="3000" b="1" dirty="0">
                <a:solidFill>
                  <a:schemeClr val="accent1"/>
                </a:solidFill>
              </a:rPr>
              <a:t>1,20 días</a:t>
            </a:r>
            <a:endParaRPr lang="en-US" sz="3000" dirty="0"/>
          </a:p>
        </p:txBody>
      </p:sp>
      <p:sp>
        <p:nvSpPr>
          <p:cNvPr id="14" name="Text 12"/>
          <p:cNvSpPr txBox="1"/>
          <p:nvPr/>
        </p:nvSpPr>
        <p:spPr>
          <a:xfrm>
            <a:off x="9052560" y="2121408"/>
            <a:ext cx="2450592" cy="521208"/>
          </a:xfrm>
          <a:prstGeom prst="rect">
            <a:avLst/>
          </a:prstGeom>
          <a:noFill/>
          <a:ln/>
        </p:spPr>
        <p:txBody>
          <a:bodyPr wrap="square" lIns="0" tIns="0" rIns="0" bIns="0" rtlCol="0" anchor="t"/>
          <a:lstStyle/>
          <a:p>
            <a:pPr indent="0" marL="0">
              <a:buNone/>
            </a:pPr>
            <a:r>
              <a:rPr lang="en-US" sz="1300" dirty="0">
                <a:solidFill>
                  <a:schemeClr val="tx1"/>
                </a:solidFill>
              </a:rPr>
              <a:t>retraso promedio general</a:t>
            </a:r>
            <a:endParaRPr lang="en-US" sz="1300" dirty="0"/>
          </a:p>
        </p:txBody>
      </p:sp>
      <p:sp>
        <p:nvSpPr>
          <p:cNvPr id="15" name="Text 13"/>
          <p:cNvSpPr txBox="1"/>
          <p:nvPr/>
        </p:nvSpPr>
        <p:spPr>
          <a:xfrm>
            <a:off x="548640" y="2926080"/>
            <a:ext cx="5486400" cy="320040"/>
          </a:xfrm>
          <a:prstGeom prst="rect">
            <a:avLst/>
          </a:prstGeom>
          <a:noFill/>
          <a:ln/>
        </p:spPr>
        <p:txBody>
          <a:bodyPr wrap="square" lIns="0" tIns="0" rIns="0" bIns="0" rtlCol="0" anchor="t"/>
          <a:lstStyle/>
          <a:p>
            <a:pPr indent="0" marL="0">
              <a:buNone/>
            </a:pPr>
            <a:r>
              <a:rPr lang="en-US" sz="1500" b="1" dirty="0">
                <a:solidFill>
                  <a:schemeClr val="tx2"/>
                </a:solidFill>
              </a:rPr>
              <a:t>Por transportista</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6400800" cy="914400"/>
        </p:xfrm>
        <a:graphic>
          <a:graphicData uri="http://schemas.openxmlformats.org/drawingml/2006/table">
            <a:tbl>
              <a:tblPr/>
              <a:tblGrid>
                <a:gridCol w="640080"/>
                <a:gridCol w="914400"/>
                <a:gridCol w="1097280"/>
                <a:gridCol w="1097280"/>
                <a:gridCol w="1280160"/>
                <a:gridCol w="1371600"/>
              </a:tblGrid>
              <a:tr h="384048">
                <a:tc>
                  <a:txBody>
                    <a:bodyPr/>
                    <a:lstStyle/>
                    <a:p>
                      <a:pPr algn="l" indent="0" marL="0">
                        <a:buNone/>
                      </a:pP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Válidos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Retrasados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 retraso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Retraso prom.</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Estado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T1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63,6 %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1,27 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12 Entregado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T2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12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58,3 %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1,25 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12 Entregado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T3</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58,3 %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1,08 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12 Devuelto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17" name="Text 14"/>
          <p:cNvSpPr txBox="1"/>
          <p:nvPr/>
        </p:nvSpPr>
        <p:spPr>
          <a:xfrm>
            <a:off x="7223760" y="2926080"/>
            <a:ext cx="4389120" cy="320040"/>
          </a:xfrm>
          <a:prstGeom prst="rect">
            <a:avLst/>
          </a:prstGeom>
          <a:noFill/>
          <a:ln/>
        </p:spPr>
        <p:txBody>
          <a:bodyPr wrap="square" lIns="0" tIns="0" rIns="0" bIns="0" rtlCol="0" anchor="t"/>
          <a:lstStyle/>
          <a:p>
            <a:pPr indent="0" marL="0">
              <a:buNone/>
            </a:pPr>
            <a:r>
              <a:rPr lang="en-US" sz="1500" b="1" dirty="0">
                <a:solidFill>
                  <a:schemeClr val="tx2"/>
                </a:solidFill>
              </a:rPr>
              <a:t>Por zona (costo válido)</a:t>
            </a:r>
            <a:endParaRPr lang="en-US" sz="15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7223760" y="3291840"/>
          <a:ext cx="4416552" cy="914400"/>
        </p:xfrm>
        <a:graphic>
          <a:graphicData uri="http://schemas.openxmlformats.org/drawingml/2006/table">
            <a:tbl>
              <a:tblPr/>
              <a:tblGrid>
                <a:gridCol w="1280160"/>
                <a:gridCol w="1645920"/>
                <a:gridCol w="1490472"/>
              </a:tblGrid>
              <a:tr h="384048">
                <a:tc>
                  <a:txBody>
                    <a:bodyPr/>
                    <a:lstStyle/>
                    <a:p>
                      <a:pPr algn="l" indent="0" marL="0">
                        <a:buNone/>
                      </a:pPr>
                      <a:r>
                        <a:rPr lang="en-US" sz="1300" b="1" dirty="0">
                          <a:solidFill>
                            <a:srgbClr val="FFFFFF"/>
                          </a:solidFill>
                        </a:rPr>
                        <a:t>Zona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Costos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r" indent="0" marL="0">
                        <a:buNone/>
                      </a:pPr>
                      <a:r>
                        <a:rPr lang="en-US" sz="1300" b="1" dirty="0">
                          <a:solidFill>
                            <a:srgbClr val="FFFFFF"/>
                          </a:solidFill>
                        </a:rPr>
                        <a:t>Costo prom.</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Urbana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13</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$23.577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Rural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10 (E022 fuera)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$26.000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Mixta</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12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$29.500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19" name="Text 15"/>
          <p:cNvSpPr txBox="1"/>
          <p:nvPr/>
        </p:nvSpPr>
        <p:spPr>
          <a:xfrm>
            <a:off x="548640" y="5029200"/>
            <a:ext cx="11064240" cy="731520"/>
          </a:xfrm>
          <a:prstGeom prst="rect">
            <a:avLst/>
          </a:prstGeom>
          <a:noFill/>
          <a:ln/>
        </p:spPr>
        <p:txBody>
          <a:bodyPr wrap="square" lIns="0" tIns="0" rIns="0" bIns="0" rtlCol="0" anchor="t"/>
          <a:lstStyle/>
          <a:p>
            <a:pPr indent="0" marL="0">
              <a:buNone/>
            </a:pPr>
            <a:r>
              <a:rPr lang="en-US" sz="1400" dirty="0">
                <a:solidFill>
                  <a:schemeClr val="tx1"/>
                </a:solidFill>
              </a:rPr>
              <a:t>Otros hallazgos: Dias_Planeados = 1 en los 36 envíos, y cada transportista opera casi solo en una zona (T1 Urbana, T2 Rural, T3 Mixta).</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3 — Visualizaciones y decisión</a:t>
            </a:r>
            <a:endParaRPr lang="en-US" sz="3000" dirty="0"/>
          </a:p>
        </p:txBody>
      </p:sp>
      <p:graphicFrame>
        <p:nvGraphicFramePr>
          <p:cNvPr id="3" name="Chart 0" descr=""/>
          <p:cNvGraphicFramePr/>
          <p:nvPr/>
        </p:nvGraphicFramePr>
        <p:xfrm>
          <a:off x="548640" y="1234440"/>
          <a:ext cx="548640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72200" y="1234440"/>
          <a:ext cx="5468112" cy="292608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548640" y="4251960"/>
            <a:ext cx="11091672" cy="2057400"/>
          </a:xfrm>
          <a:prstGeom prst="roundRect">
            <a:avLst>
              <a:gd name="adj" fmla="val 3556"/>
            </a:avLst>
          </a:prstGeom>
          <a:solidFill>
            <a:schemeClr val="bg2"/>
          </a:solidFill>
          <a:ln w="12700">
            <a:solidFill>
              <a:schemeClr val="bg2"/>
            </a:solidFill>
            <a:prstDash val="solid"/>
          </a:ln>
        </p:spPr>
      </p:sp>
      <p:sp>
        <p:nvSpPr>
          <p:cNvPr id="6" name="Text 2"/>
          <p:cNvSpPr txBox="1"/>
          <p:nvPr/>
        </p:nvSpPr>
        <p:spPr>
          <a:xfrm>
            <a:off x="777240" y="4361688"/>
            <a:ext cx="10607040" cy="365760"/>
          </a:xfrm>
          <a:prstGeom prst="rect">
            <a:avLst/>
          </a:prstGeom>
          <a:noFill/>
          <a:ln/>
        </p:spPr>
        <p:txBody>
          <a:bodyPr wrap="square" lIns="0" tIns="0" rIns="0" bIns="0" rtlCol="0" anchor="ctr"/>
          <a:lstStyle/>
          <a:p>
            <a:pPr indent="0" marL="0">
              <a:buNone/>
            </a:pPr>
            <a:r>
              <a:rPr lang="en-US" sz="1700" b="1" dirty="0">
                <a:solidFill>
                  <a:schemeClr val="accent2"/>
                </a:solidFill>
              </a:rPr>
              <a:t>Decisión gerencial: </a:t>
            </a:r>
            <a:pPr indent="0" marL="0">
              <a:buNone/>
            </a:pPr>
            <a:r>
              <a:rPr lang="en-US" sz="1700" b="1" dirty="0">
                <a:solidFill>
                  <a:schemeClr val="tx2"/>
                </a:solidFill>
              </a:rPr>
              <a:t>T1 entra primero al plan de mejora y T3 se audita aparte</a:t>
            </a:r>
            <a:endParaRPr lang="en-US" sz="1700" dirty="0"/>
          </a:p>
        </p:txBody>
      </p:sp>
      <p:sp>
        <p:nvSpPr>
          <p:cNvPr id="7" name="Text 3"/>
          <p:cNvSpPr txBox="1"/>
          <p:nvPr/>
        </p:nvSpPr>
        <p:spPr>
          <a:xfrm>
            <a:off x="777240" y="4800600"/>
            <a:ext cx="1060704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T1: 63,6 % de retrasos y 1,27 días, pero casi igual a T2 (1,25): el problema es general, 60 % de los envíos llega tarde</a:t>
            </a:r>
            <a:endParaRPr lang="en-US" sz="1400" dirty="0"/>
          </a:p>
          <a:p>
            <a:pPr marL="342900" indent="-342900">
              <a:spcAft>
                <a:spcPts val="600"/>
              </a:spcAft>
              <a:buSzPct val="100000"/>
              <a:buChar char="•"/>
            </a:pPr>
            <a:r>
              <a:rPr lang="en-US" sz="1400" dirty="0">
                <a:solidFill>
                  <a:schemeClr val="tx1"/>
                </a:solidFill>
              </a:rPr>
              <a:t>T3: 12 de 12 envíos «Devuelto» y el costo promedio más alto ($29.500): más grave que un día de retraso</a:t>
            </a:r>
            <a:endParaRPr lang="en-US" sz="1400" dirty="0"/>
          </a:p>
          <a:p>
            <a:pPr marL="342900" indent="-342900">
              <a:spcAft>
                <a:spcPts val="600"/>
              </a:spcAft>
              <a:buSzPct val="100000"/>
              <a:buChar char="•"/>
            </a:pPr>
            <a:r>
              <a:rPr lang="en-US" sz="1400" dirty="0">
                <a:solidFill>
                  <a:schemeClr val="tx1"/>
                </a:solidFill>
              </a:rPr>
              <a:t>Sin limpiar E022, Rural parecería más barata que Urbana ($23.182 vs $23.577); limpia es más cara ($26.000)</a:t>
            </a:r>
            <a:endParaRPr lang="en-US" sz="1400" dirty="0"/>
          </a:p>
          <a:p>
            <a:pPr marL="342900" indent="-342900">
              <a:spcAft>
                <a:spcPts val="600"/>
              </a:spcAft>
              <a:buSzPct val="100000"/>
              <a:buChar char="•"/>
            </a:pPr>
            <a:r>
              <a:rPr lang="en-US" sz="1400" dirty="0">
                <a:solidFill>
                  <a:schemeClr val="tx1"/>
                </a:solidFill>
              </a:rPr>
              <a:t>Revisar si el plazo planeado de 1 día es realista para cada zona</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3 — Capturas del proceso</a:t>
            </a:r>
            <a:endParaRPr lang="en-US" sz="3000" dirty="0"/>
          </a:p>
        </p:txBody>
      </p:sp>
      <p:pic>
        <p:nvPicPr>
          <p:cNvPr id="3" name="Image 0" descr="/home/claude/entrega/pres/caps/cap_e32.png">    </p:cNvPr>
          <p:cNvPicPr>
            <a:picLocks noChangeAspect="1"/>
          </p:cNvPicPr>
          <p:nvPr/>
        </p:nvPicPr>
        <p:blipFill>
          <a:blip r:embed="rId1"/>
          <a:stretch>
            <a:fillRect/>
          </a:stretch>
        </p:blipFill>
        <p:spPr>
          <a:xfrm>
            <a:off x="548640" y="1325880"/>
            <a:ext cx="5212080" cy="3130766"/>
          </a:xfrm>
          <a:prstGeom prst="rect">
            <a:avLst/>
          </a:prstGeom>
        </p:spPr>
      </p:pic>
      <p:pic>
        <p:nvPicPr>
          <p:cNvPr id="4" name="Image 1" descr="/home/claude/entrega/pres/caps/cap_e34.png">    </p:cNvPr>
          <p:cNvPicPr>
            <a:picLocks noChangeAspect="1"/>
          </p:cNvPicPr>
          <p:nvPr/>
        </p:nvPicPr>
        <p:blipFill>
          <a:blip r:embed="rId2"/>
          <a:stretch>
            <a:fillRect/>
          </a:stretch>
        </p:blipFill>
        <p:spPr>
          <a:xfrm>
            <a:off x="6172200" y="1325880"/>
            <a:ext cx="5468112" cy="3490972"/>
          </a:xfrm>
          <a:prstGeom prst="rect">
            <a:avLst/>
          </a:prstGeom>
        </p:spPr>
      </p:pic>
      <p:sp>
        <p:nvSpPr>
          <p:cNvPr id="5" name="Text 1"/>
          <p:cNvSpPr txBox="1"/>
          <p:nvPr/>
        </p:nvSpPr>
        <p:spPr>
          <a:xfrm>
            <a:off x="548640" y="4617720"/>
            <a:ext cx="5212080" cy="914400"/>
          </a:xfrm>
          <a:prstGeom prst="rect">
            <a:avLst/>
          </a:prstGeom>
          <a:noFill/>
          <a:ln/>
        </p:spPr>
        <p:txBody>
          <a:bodyPr wrap="square" lIns="0" tIns="0" rIns="0" bIns="0" rtlCol="0" anchor="t"/>
          <a:lstStyle/>
          <a:p>
            <a:pPr indent="0" marL="0">
              <a:buNone/>
            </a:pPr>
            <a:r>
              <a:rPr lang="en-US" sz="1200" i="1" dirty="0">
                <a:solidFill>
                  <a:schemeClr val="tx1"/>
                </a:solidFill>
              </a:rPr>
              <a:t>Captura 1 (E3.2). Limpieza: zona «urbana» estandarizada, costo negativo de E022, envío E030 sin tiempo y faltantes resultantes. Salida real del notebook.</a:t>
            </a:r>
            <a:endParaRPr lang="en-US" sz="1200" dirty="0"/>
          </a:p>
        </p:txBody>
      </p:sp>
      <p:sp>
        <p:nvSpPr>
          <p:cNvPr id="6" name="Text 2"/>
          <p:cNvSpPr txBox="1"/>
          <p:nvPr/>
        </p:nvSpPr>
        <p:spPr>
          <a:xfrm>
            <a:off x="6172200" y="4983480"/>
            <a:ext cx="5468112" cy="914400"/>
          </a:xfrm>
          <a:prstGeom prst="rect">
            <a:avLst/>
          </a:prstGeom>
          <a:noFill/>
          <a:ln/>
        </p:spPr>
        <p:txBody>
          <a:bodyPr wrap="square" lIns="0" tIns="0" rIns="0" bIns="0" rtlCol="0" anchor="t"/>
          <a:lstStyle/>
          <a:p>
            <a:pPr indent="0" marL="0">
              <a:buNone/>
            </a:pPr>
            <a:r>
              <a:rPr lang="en-US" sz="1200" i="1" dirty="0">
                <a:solidFill>
                  <a:schemeClr val="tx1"/>
                </a:solidFill>
              </a:rPr>
              <a:t>Captura 2 (E3.4). Indicadores: 14 a tiempo / 21 retrasadas, costo por zona y el costo SIN limpiar (Rural $23.181,82 vs $26.000 limpio). Salida real del notebook.</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4 — NovaMarket clientes: proceso ETL</a:t>
            </a:r>
            <a:endParaRPr lang="en-US" sz="3000" dirty="0"/>
          </a:p>
        </p:txBody>
      </p:sp>
      <p:sp>
        <p:nvSpPr>
          <p:cNvPr id="3" name="Shape 1"/>
          <p:cNvSpPr/>
          <p:nvPr/>
        </p:nvSpPr>
        <p:spPr>
          <a:xfrm>
            <a:off x="548640" y="1325880"/>
            <a:ext cx="11091672" cy="868680"/>
          </a:xfrm>
          <a:prstGeom prst="roundRect">
            <a:avLst>
              <a:gd name="adj" fmla="val 8421"/>
            </a:avLst>
          </a:prstGeom>
          <a:solidFill>
            <a:schemeClr val="bg2"/>
          </a:solidFill>
          <a:ln w="12700">
            <a:solidFill>
              <a:schemeClr val="bg2"/>
            </a:solidFill>
            <a:prstDash val="solid"/>
          </a:ln>
        </p:spPr>
      </p:sp>
      <p:sp>
        <p:nvSpPr>
          <p:cNvPr id="4" name="Text 2"/>
          <p:cNvSpPr txBox="1"/>
          <p:nvPr/>
        </p:nvSpPr>
        <p:spPr>
          <a:xfrm>
            <a:off x="731520" y="1371600"/>
            <a:ext cx="10698480" cy="777240"/>
          </a:xfrm>
          <a:prstGeom prst="rect">
            <a:avLst/>
          </a:prstGeom>
          <a:noFill/>
          <a:ln/>
        </p:spPr>
        <p:txBody>
          <a:bodyPr wrap="square" lIns="0" tIns="0" rIns="0" bIns="0" rtlCol="0" anchor="ctr"/>
          <a:lstStyle/>
          <a:p>
            <a:pPr indent="0" marL="0">
              <a:buNone/>
            </a:pPr>
            <a:r>
              <a:rPr lang="en-US" sz="1500" b="1" dirty="0">
                <a:solidFill>
                  <a:schemeClr val="accent1"/>
                </a:solidFill>
              </a:rPr>
              <a:t>Enunciado. </a:t>
            </a:r>
            <a:pPr indent="0" marL="0">
              <a:buNone/>
            </a:pPr>
            <a:r>
              <a:rPr lang="en-US" sz="1500" dirty="0">
                <a:solidFill>
                  <a:schemeClr val="tx1"/>
                </a:solidFill>
              </a:rPr>
              <a:t>Reconocer clientes de alto valor y oportunidades de recuperación (36 clientes, 6 columnas, 3 ciudades).</a:t>
            </a:r>
            <a:endParaRPr lang="en-US" sz="1500" dirty="0"/>
          </a:p>
        </p:txBody>
      </p:sp>
      <p:sp>
        <p:nvSpPr>
          <p:cNvPr id="5" name="Text 3"/>
          <p:cNvSpPr txBox="1"/>
          <p:nvPr/>
        </p:nvSpPr>
        <p:spPr>
          <a:xfrm>
            <a:off x="548640" y="2331720"/>
            <a:ext cx="3291840" cy="365760"/>
          </a:xfrm>
          <a:prstGeom prst="rect">
            <a:avLst/>
          </a:prstGeom>
          <a:noFill/>
          <a:ln/>
        </p:spPr>
        <p:txBody>
          <a:bodyPr wrap="square" lIns="0" tIns="0" rIns="0" bIns="0" rtlCol="0" anchor="t"/>
          <a:lstStyle/>
          <a:p>
            <a:pPr indent="0" marL="0">
              <a:buNone/>
            </a:pPr>
            <a:r>
              <a:rPr lang="en-US" sz="1800" b="1" dirty="0">
                <a:solidFill>
                  <a:schemeClr val="tx2"/>
                </a:solidFill>
              </a:rPr>
              <a:t>E · Extraer</a:t>
            </a:r>
            <a:endParaRPr lang="en-US" sz="1800" dirty="0"/>
          </a:p>
        </p:txBody>
      </p:sp>
      <p:sp>
        <p:nvSpPr>
          <p:cNvPr id="6" name="Text 4"/>
          <p:cNvSpPr txBox="1"/>
          <p:nvPr/>
        </p:nvSpPr>
        <p:spPr>
          <a:xfrm>
            <a:off x="548640" y="2743200"/>
            <a:ext cx="32918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pd.read_csv + head(), info(), isna(). 36 × 6, un faltante.</a:t>
            </a:r>
            <a:endParaRPr lang="en-US" sz="1400" dirty="0"/>
          </a:p>
        </p:txBody>
      </p:sp>
      <p:sp>
        <p:nvSpPr>
          <p:cNvPr id="7" name="Text 5"/>
          <p:cNvSpPr txBox="1"/>
          <p:nvPr/>
        </p:nvSpPr>
        <p:spPr>
          <a:xfrm>
            <a:off x="3977640" y="2331720"/>
            <a:ext cx="4480560" cy="365760"/>
          </a:xfrm>
          <a:prstGeom prst="rect">
            <a:avLst/>
          </a:prstGeom>
          <a:noFill/>
          <a:ln/>
        </p:spPr>
        <p:txBody>
          <a:bodyPr wrap="square" lIns="0" tIns="0" rIns="0" bIns="0" rtlCol="0" anchor="t"/>
          <a:lstStyle/>
          <a:p>
            <a:pPr indent="0" marL="0">
              <a:buNone/>
            </a:pPr>
            <a:r>
              <a:rPr lang="en-US" sz="1800" b="1" dirty="0">
                <a:solidFill>
                  <a:schemeClr val="tx2"/>
                </a:solidFill>
              </a:rPr>
              <a:t>T · Transformar</a:t>
            </a:r>
            <a:endParaRPr lang="en-US" sz="1800" dirty="0"/>
          </a:p>
        </p:txBody>
      </p:sp>
      <p:sp>
        <p:nvSpPr>
          <p:cNvPr id="8" name="Text 6"/>
          <p:cNvSpPr txBox="1"/>
          <p:nvPr/>
        </p:nvSpPr>
        <p:spPr>
          <a:xfrm>
            <a:off x="3977640" y="2743200"/>
            <a:ext cx="448056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Ciudad: strip() y title()</a:t>
            </a:r>
            <a:endParaRPr lang="en-US" sz="1400" dirty="0"/>
          </a:p>
          <a:p>
            <a:pPr marL="342900" indent="-342900">
              <a:spcAft>
                <a:spcPts val="600"/>
              </a:spcAft>
              <a:buSzPct val="100000"/>
              <a:buChar char="•"/>
            </a:pPr>
            <a:r>
              <a:rPr lang="en-US" sz="1400" dirty="0">
                <a:solidFill>
                  <a:schemeClr val="tx1"/>
                </a:solidFill>
              </a:rPr>
              <a:t>Números con to_numeric; compras negativas y gasto faltante = inválidos</a:t>
            </a:r>
            <a:endParaRPr lang="en-US" sz="1400" dirty="0"/>
          </a:p>
          <a:p>
            <a:pPr marL="342900" indent="-342900">
              <a:spcAft>
                <a:spcPts val="600"/>
              </a:spcAft>
              <a:buSzPct val="100000"/>
              <a:buChar char="•"/>
            </a:pPr>
            <a:r>
              <a:rPr lang="en-US" sz="1400" dirty="0">
                <a:solidFill>
                  <a:schemeClr val="tx1"/>
                </a:solidFill>
              </a:rPr>
              <a:t>Alto valor: gasto ≥ $250.000 y compras ≥ 3; si no, En seguimiento (&gt; 60 días); si no, Otros</a:t>
            </a:r>
            <a:endParaRPr lang="en-US" sz="1400" dirty="0"/>
          </a:p>
          <a:p>
            <a:pPr marL="342900" indent="-342900">
              <a:spcAft>
                <a:spcPts val="600"/>
              </a:spcAft>
              <a:buSzPct val="100000"/>
              <a:buChar char="•"/>
            </a:pPr>
            <a:r>
              <a:rPr lang="en-US" sz="1400" dirty="0">
                <a:solidFill>
                  <a:schemeClr val="tx1"/>
                </a:solidFill>
              </a:rPr>
              <a:t>Faltan datos esenciales → No clasificable</a:t>
            </a:r>
            <a:endParaRPr lang="en-US" sz="1400" dirty="0"/>
          </a:p>
        </p:txBody>
      </p:sp>
      <p:sp>
        <p:nvSpPr>
          <p:cNvPr id="9" name="Text 7"/>
          <p:cNvSpPr txBox="1"/>
          <p:nvPr/>
        </p:nvSpPr>
        <p:spPr>
          <a:xfrm>
            <a:off x="8595360" y="2331720"/>
            <a:ext cx="3044952" cy="365760"/>
          </a:xfrm>
          <a:prstGeom prst="rect">
            <a:avLst/>
          </a:prstGeom>
          <a:noFill/>
          <a:ln/>
        </p:spPr>
        <p:txBody>
          <a:bodyPr wrap="square" lIns="0" tIns="0" rIns="0" bIns="0" rtlCol="0" anchor="t"/>
          <a:lstStyle/>
          <a:p>
            <a:pPr indent="0" marL="0">
              <a:buNone/>
            </a:pPr>
            <a:r>
              <a:rPr lang="en-US" sz="1800" b="1" dirty="0">
                <a:solidFill>
                  <a:schemeClr val="tx2"/>
                </a:solidFill>
              </a:rPr>
              <a:t>L · Cargar</a:t>
            </a:r>
            <a:endParaRPr lang="en-US" sz="1800" dirty="0"/>
          </a:p>
        </p:txBody>
      </p:sp>
      <p:sp>
        <p:nvSpPr>
          <p:cNvPr id="10" name="Text 8"/>
          <p:cNvSpPr txBox="1"/>
          <p:nvPr/>
        </p:nvSpPr>
        <p:spPr>
          <a:xfrm>
            <a:off x="8595360" y="2743200"/>
            <a:ext cx="3044952"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Exportar NovaMarket_Clientes_Limpio.csv (36 × 10) y verificar.</a:t>
            </a:r>
            <a:endParaRPr lang="en-US" sz="1400" dirty="0"/>
          </a:p>
        </p:txBody>
      </p:sp>
      <p:sp>
        <p:nvSpPr>
          <p:cNvPr id="11" name="Text 9"/>
          <p:cNvSpPr txBox="1"/>
          <p:nvPr/>
        </p:nvSpPr>
        <p:spPr>
          <a:xfrm>
            <a:off x="548640" y="4343400"/>
            <a:ext cx="7315200" cy="320040"/>
          </a:xfrm>
          <a:prstGeom prst="rect">
            <a:avLst/>
          </a:prstGeom>
          <a:noFill/>
          <a:ln/>
        </p:spPr>
        <p:txBody>
          <a:bodyPr wrap="square" lIns="0" tIns="0" rIns="0" bIns="0" rtlCol="0" anchor="t"/>
          <a:lstStyle/>
          <a:p>
            <a:pPr indent="0" marL="0">
              <a:buNone/>
            </a:pPr>
            <a:r>
              <a:rPr lang="en-US" sz="1600" b="1" dirty="0">
                <a:solidFill>
                  <a:schemeClr val="accent2"/>
                </a:solidFill>
              </a:rPr>
              <a:t>Anomalías encontradas y tratamiento</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709160"/>
          <a:ext cx="11091672" cy="914400"/>
        </p:xfrm>
        <a:graphic>
          <a:graphicData uri="http://schemas.openxmlformats.org/drawingml/2006/table">
            <a:tbl>
              <a:tblPr/>
              <a:tblGrid>
                <a:gridCol w="1005840"/>
                <a:gridCol w="2194560"/>
                <a:gridCol w="2926080"/>
                <a:gridCol w="4965192"/>
              </a:tblGrid>
              <a:tr h="384048">
                <a:tc>
                  <a:txBody>
                    <a:bodyPr/>
                    <a:lstStyle/>
                    <a:p>
                      <a:pPr algn="l" indent="0" marL="0">
                        <a:buNone/>
                      </a:pPr>
                      <a:r>
                        <a:rPr lang="en-US" sz="1300" b="1" dirty="0">
                          <a:solidFill>
                            <a:srgbClr val="FFFFFF"/>
                          </a:solidFill>
                        </a:rPr>
                        <a:t>ID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Campo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Valor original</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Tratamiento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84048">
                <a:tc>
                  <a:txBody>
                    <a:bodyPr/>
                    <a:lstStyle/>
                    <a:p>
                      <a:pPr algn="l" indent="0" marL="0">
                        <a:buNone/>
                      </a:pPr>
                      <a:r>
                        <a:rPr lang="en-US" sz="1300" dirty="0">
                          <a:solidFill>
                            <a:srgbClr val="222222"/>
                          </a:solidFill>
                        </a:rPr>
                        <a:t>C011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Ciudad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"bogotá "</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strip() + title() → Bogotá</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84048">
                <a:tc>
                  <a:txBody>
                    <a:bodyPr/>
                    <a:lstStyle/>
                    <a:p>
                      <a:pPr algn="l" indent="0" marL="0">
                        <a:buNone/>
                      </a:pPr>
                      <a:r>
                        <a:rPr lang="en-US" sz="1300" dirty="0">
                          <a:solidFill>
                            <a:srgbClr val="222222"/>
                          </a:solidFill>
                        </a:rPr>
                        <a:t>C021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Gasto_90d_COP</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(vacío)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NaN, Gasto_faltante = True → No clasificable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84048">
                <a:tc>
                  <a:txBody>
                    <a:bodyPr/>
                    <a:lstStyle/>
                    <a:p>
                      <a:pPr algn="l" indent="0" marL="0">
                        <a:buNone/>
                      </a:pPr>
                      <a:r>
                        <a:rPr lang="en-US" sz="1300" dirty="0">
                          <a:solidFill>
                            <a:srgbClr val="222222"/>
                          </a:solidFill>
                        </a:rPr>
                        <a:t>C032</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Compras_90d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NaN, Compras_invalida = True → No clasificable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4 — Indicadores</a:t>
            </a:r>
            <a:endParaRPr lang="en-US" sz="3000" dirty="0"/>
          </a:p>
        </p:txBody>
      </p:sp>
      <p:sp>
        <p:nvSpPr>
          <p:cNvPr id="3" name="Shape 1"/>
          <p:cNvSpPr/>
          <p:nvPr/>
        </p:nvSpPr>
        <p:spPr>
          <a:xfrm>
            <a:off x="548640" y="1325880"/>
            <a:ext cx="2651760" cy="1188720"/>
          </a:xfrm>
          <a:prstGeom prst="roundRect">
            <a:avLst>
              <a:gd name="adj" fmla="val 6154"/>
            </a:avLst>
          </a:prstGeom>
          <a:solidFill>
            <a:schemeClr val="bg2"/>
          </a:solidFill>
          <a:ln w="12700">
            <a:solidFill>
              <a:schemeClr val="bg2"/>
            </a:solidFill>
            <a:prstDash val="solid"/>
          </a:ln>
        </p:spPr>
      </p:sp>
      <p:sp>
        <p:nvSpPr>
          <p:cNvPr id="4" name="Text 2"/>
          <p:cNvSpPr txBox="1"/>
          <p:nvPr/>
        </p:nvSpPr>
        <p:spPr>
          <a:xfrm>
            <a:off x="685800" y="1435608"/>
            <a:ext cx="2377440" cy="594360"/>
          </a:xfrm>
          <a:prstGeom prst="rect">
            <a:avLst/>
          </a:prstGeom>
          <a:noFill/>
          <a:ln/>
        </p:spPr>
        <p:txBody>
          <a:bodyPr wrap="square" lIns="0" tIns="0" rIns="0" bIns="0" rtlCol="0" anchor="ctr"/>
          <a:lstStyle/>
          <a:p>
            <a:pPr indent="0" marL="0">
              <a:buNone/>
            </a:pPr>
            <a:r>
              <a:rPr lang="en-US" sz="3400" b="1" dirty="0">
                <a:solidFill>
                  <a:schemeClr val="accent1"/>
                </a:solidFill>
              </a:rPr>
              <a:t>14</a:t>
            </a:r>
            <a:endParaRPr lang="en-US" sz="3400" dirty="0"/>
          </a:p>
        </p:txBody>
      </p:sp>
      <p:sp>
        <p:nvSpPr>
          <p:cNvPr id="5" name="Text 3"/>
          <p:cNvSpPr txBox="1"/>
          <p:nvPr/>
        </p:nvSpPr>
        <p:spPr>
          <a:xfrm>
            <a:off x="685800" y="2015338"/>
            <a:ext cx="2377440" cy="451714"/>
          </a:xfrm>
          <a:prstGeom prst="rect">
            <a:avLst/>
          </a:prstGeom>
          <a:noFill/>
          <a:ln/>
        </p:spPr>
        <p:txBody>
          <a:bodyPr wrap="square" lIns="0" tIns="0" rIns="0" bIns="0" rtlCol="0" anchor="t"/>
          <a:lstStyle/>
          <a:p>
            <a:pPr indent="0" marL="0">
              <a:buNone/>
            </a:pPr>
            <a:r>
              <a:rPr lang="en-US" sz="1300" dirty="0">
                <a:solidFill>
                  <a:schemeClr val="tx1"/>
                </a:solidFill>
              </a:rPr>
              <a:t>Alto valor</a:t>
            </a:r>
            <a:endParaRPr lang="en-US" sz="1300" dirty="0"/>
          </a:p>
        </p:txBody>
      </p:sp>
      <p:sp>
        <p:nvSpPr>
          <p:cNvPr id="6" name="Shape 4"/>
          <p:cNvSpPr/>
          <p:nvPr/>
        </p:nvSpPr>
        <p:spPr>
          <a:xfrm>
            <a:off x="3337560" y="1325880"/>
            <a:ext cx="2651760" cy="1188720"/>
          </a:xfrm>
          <a:prstGeom prst="roundRect">
            <a:avLst>
              <a:gd name="adj" fmla="val 6154"/>
            </a:avLst>
          </a:prstGeom>
          <a:solidFill>
            <a:schemeClr val="bg2"/>
          </a:solidFill>
          <a:ln w="12700">
            <a:solidFill>
              <a:schemeClr val="bg2"/>
            </a:solidFill>
            <a:prstDash val="solid"/>
          </a:ln>
        </p:spPr>
      </p:sp>
      <p:sp>
        <p:nvSpPr>
          <p:cNvPr id="7" name="Text 5"/>
          <p:cNvSpPr txBox="1"/>
          <p:nvPr/>
        </p:nvSpPr>
        <p:spPr>
          <a:xfrm>
            <a:off x="3474720" y="1435608"/>
            <a:ext cx="2377440" cy="594360"/>
          </a:xfrm>
          <a:prstGeom prst="rect">
            <a:avLst/>
          </a:prstGeom>
          <a:noFill/>
          <a:ln/>
        </p:spPr>
        <p:txBody>
          <a:bodyPr wrap="square" lIns="0" tIns="0" rIns="0" bIns="0" rtlCol="0" anchor="ctr"/>
          <a:lstStyle/>
          <a:p>
            <a:pPr indent="0" marL="0">
              <a:buNone/>
            </a:pPr>
            <a:r>
              <a:rPr lang="en-US" sz="3400" b="1" dirty="0">
                <a:solidFill>
                  <a:schemeClr val="accent4"/>
                </a:solidFill>
              </a:rPr>
              <a:t>15</a:t>
            </a:r>
            <a:endParaRPr lang="en-US" sz="3400" dirty="0"/>
          </a:p>
        </p:txBody>
      </p:sp>
      <p:sp>
        <p:nvSpPr>
          <p:cNvPr id="8" name="Text 6"/>
          <p:cNvSpPr txBox="1"/>
          <p:nvPr/>
        </p:nvSpPr>
        <p:spPr>
          <a:xfrm>
            <a:off x="3474720" y="2015338"/>
            <a:ext cx="2377440" cy="451714"/>
          </a:xfrm>
          <a:prstGeom prst="rect">
            <a:avLst/>
          </a:prstGeom>
          <a:noFill/>
          <a:ln/>
        </p:spPr>
        <p:txBody>
          <a:bodyPr wrap="square" lIns="0" tIns="0" rIns="0" bIns="0" rtlCol="0" anchor="t"/>
          <a:lstStyle/>
          <a:p>
            <a:pPr indent="0" marL="0">
              <a:buNone/>
            </a:pPr>
            <a:r>
              <a:rPr lang="en-US" sz="1300" dirty="0">
                <a:solidFill>
                  <a:schemeClr val="tx1"/>
                </a:solidFill>
              </a:rPr>
              <a:t>Otros</a:t>
            </a:r>
            <a:endParaRPr lang="en-US" sz="1300" dirty="0"/>
          </a:p>
        </p:txBody>
      </p:sp>
      <p:sp>
        <p:nvSpPr>
          <p:cNvPr id="9" name="Shape 7"/>
          <p:cNvSpPr/>
          <p:nvPr/>
        </p:nvSpPr>
        <p:spPr>
          <a:xfrm>
            <a:off x="6126480" y="1325880"/>
            <a:ext cx="2651760" cy="1188720"/>
          </a:xfrm>
          <a:prstGeom prst="roundRect">
            <a:avLst>
              <a:gd name="adj" fmla="val 6154"/>
            </a:avLst>
          </a:prstGeom>
          <a:solidFill>
            <a:schemeClr val="bg2"/>
          </a:solidFill>
          <a:ln w="12700">
            <a:solidFill>
              <a:schemeClr val="bg2"/>
            </a:solidFill>
            <a:prstDash val="solid"/>
          </a:ln>
        </p:spPr>
      </p:sp>
      <p:sp>
        <p:nvSpPr>
          <p:cNvPr id="10" name="Text 8"/>
          <p:cNvSpPr txBox="1"/>
          <p:nvPr/>
        </p:nvSpPr>
        <p:spPr>
          <a:xfrm>
            <a:off x="6263640" y="1435608"/>
            <a:ext cx="2377440" cy="594360"/>
          </a:xfrm>
          <a:prstGeom prst="rect">
            <a:avLst/>
          </a:prstGeom>
          <a:noFill/>
          <a:ln/>
        </p:spPr>
        <p:txBody>
          <a:bodyPr wrap="square" lIns="0" tIns="0" rIns="0" bIns="0" rtlCol="0" anchor="ctr"/>
          <a:lstStyle/>
          <a:p>
            <a:pPr indent="0" marL="0">
              <a:buNone/>
            </a:pPr>
            <a:r>
              <a:rPr lang="en-US" sz="3400" b="1" dirty="0">
                <a:solidFill>
                  <a:schemeClr val="accent2"/>
                </a:solidFill>
              </a:rPr>
              <a:t>5</a:t>
            </a:r>
            <a:endParaRPr lang="en-US" sz="3400" dirty="0"/>
          </a:p>
        </p:txBody>
      </p:sp>
      <p:sp>
        <p:nvSpPr>
          <p:cNvPr id="11" name="Text 9"/>
          <p:cNvSpPr txBox="1"/>
          <p:nvPr/>
        </p:nvSpPr>
        <p:spPr>
          <a:xfrm>
            <a:off x="6263640" y="2015338"/>
            <a:ext cx="2377440" cy="451714"/>
          </a:xfrm>
          <a:prstGeom prst="rect">
            <a:avLst/>
          </a:prstGeom>
          <a:noFill/>
          <a:ln/>
        </p:spPr>
        <p:txBody>
          <a:bodyPr wrap="square" lIns="0" tIns="0" rIns="0" bIns="0" rtlCol="0" anchor="t"/>
          <a:lstStyle/>
          <a:p>
            <a:pPr indent="0" marL="0">
              <a:buNone/>
            </a:pPr>
            <a:r>
              <a:rPr lang="en-US" sz="1300" dirty="0">
                <a:solidFill>
                  <a:schemeClr val="tx1"/>
                </a:solidFill>
              </a:rPr>
              <a:t>En seguimiento</a:t>
            </a:r>
            <a:endParaRPr lang="en-US" sz="1300" dirty="0"/>
          </a:p>
        </p:txBody>
      </p:sp>
      <p:sp>
        <p:nvSpPr>
          <p:cNvPr id="12" name="Shape 10"/>
          <p:cNvSpPr/>
          <p:nvPr/>
        </p:nvSpPr>
        <p:spPr>
          <a:xfrm>
            <a:off x="8915400" y="1325880"/>
            <a:ext cx="2651760" cy="1188720"/>
          </a:xfrm>
          <a:prstGeom prst="roundRect">
            <a:avLst>
              <a:gd name="adj" fmla="val 6154"/>
            </a:avLst>
          </a:prstGeom>
          <a:solidFill>
            <a:schemeClr val="bg2"/>
          </a:solidFill>
          <a:ln w="12700">
            <a:solidFill>
              <a:schemeClr val="bg2"/>
            </a:solidFill>
            <a:prstDash val="solid"/>
          </a:ln>
        </p:spPr>
      </p:sp>
      <p:sp>
        <p:nvSpPr>
          <p:cNvPr id="13" name="Text 11"/>
          <p:cNvSpPr txBox="1"/>
          <p:nvPr/>
        </p:nvSpPr>
        <p:spPr>
          <a:xfrm>
            <a:off x="9052560" y="1435608"/>
            <a:ext cx="2377440" cy="594360"/>
          </a:xfrm>
          <a:prstGeom prst="rect">
            <a:avLst/>
          </a:prstGeom>
          <a:noFill/>
          <a:ln/>
        </p:spPr>
        <p:txBody>
          <a:bodyPr wrap="square" lIns="0" tIns="0" rIns="0" bIns="0" rtlCol="0" anchor="ctr"/>
          <a:lstStyle/>
          <a:p>
            <a:pPr indent="0" marL="0">
              <a:buNone/>
            </a:pPr>
            <a:r>
              <a:rPr lang="en-US" sz="3400" b="1" dirty="0">
                <a:solidFill>
                  <a:schemeClr val="accent4"/>
                </a:solidFill>
              </a:rPr>
              <a:t>2</a:t>
            </a:r>
            <a:endParaRPr lang="en-US" sz="3400" dirty="0"/>
          </a:p>
        </p:txBody>
      </p:sp>
      <p:sp>
        <p:nvSpPr>
          <p:cNvPr id="14" name="Text 12"/>
          <p:cNvSpPr txBox="1"/>
          <p:nvPr/>
        </p:nvSpPr>
        <p:spPr>
          <a:xfrm>
            <a:off x="9052560" y="2015338"/>
            <a:ext cx="2377440" cy="451714"/>
          </a:xfrm>
          <a:prstGeom prst="rect">
            <a:avLst/>
          </a:prstGeom>
          <a:noFill/>
          <a:ln/>
        </p:spPr>
        <p:txBody>
          <a:bodyPr wrap="square" lIns="0" tIns="0" rIns="0" bIns="0" rtlCol="0" anchor="t"/>
          <a:lstStyle/>
          <a:p>
            <a:pPr indent="0" marL="0">
              <a:buNone/>
            </a:pPr>
            <a:r>
              <a:rPr lang="en-US" sz="1300" dirty="0">
                <a:solidFill>
                  <a:schemeClr val="tx1"/>
                </a:solidFill>
              </a:rPr>
              <a:t>No clasificable</a:t>
            </a:r>
            <a:endParaRPr lang="en-US" sz="1300" dirty="0"/>
          </a:p>
        </p:txBody>
      </p:sp>
      <p:sp>
        <p:nvSpPr>
          <p:cNvPr id="15" name="Text 13"/>
          <p:cNvSpPr txBox="1"/>
          <p:nvPr/>
        </p:nvSpPr>
        <p:spPr>
          <a:xfrm>
            <a:off x="548640" y="2697480"/>
            <a:ext cx="11064240" cy="365760"/>
          </a:xfrm>
          <a:prstGeom prst="rect">
            <a:avLst/>
          </a:prstGeom>
          <a:noFill/>
          <a:ln/>
        </p:spPr>
        <p:txBody>
          <a:bodyPr wrap="square" lIns="0" tIns="0" rIns="0" bIns="0" rtlCol="0" anchor="t"/>
          <a:lstStyle/>
          <a:p>
            <a:pPr indent="0" marL="0">
              <a:buNone/>
            </a:pPr>
            <a:r>
              <a:rPr lang="en-US" sz="1500" b="1" dirty="0">
                <a:solidFill>
                  <a:schemeClr val="tx1"/>
                </a:solidFill>
              </a:rPr>
              <a:t>Gasto total: $9.880.000</a:t>
            </a:r>
            <a:pPr indent="0" marL="0">
              <a:buNone/>
            </a:pPr>
            <a:r>
              <a:rPr lang="en-US" sz="1500" dirty="0">
                <a:solidFill>
                  <a:schemeClr val="tx1"/>
                </a:solidFill>
              </a:rPr>
              <a:t>   ·   Gasto promedio válido: $282.286 (35 clientes con gasto)   ·   Alto valor = 38,9 % de clientes y 69,6 % del gasto</a:t>
            </a:r>
            <a:endParaRPr lang="en-US" sz="1500" dirty="0"/>
          </a:p>
        </p:txBody>
      </p:sp>
      <p:sp>
        <p:nvSpPr>
          <p:cNvPr id="16" name="Text 14"/>
          <p:cNvSpPr txBox="1"/>
          <p:nvPr/>
        </p:nvSpPr>
        <p:spPr>
          <a:xfrm>
            <a:off x="548640" y="3200400"/>
            <a:ext cx="5303520" cy="320040"/>
          </a:xfrm>
          <a:prstGeom prst="rect">
            <a:avLst/>
          </a:prstGeom>
          <a:noFill/>
          <a:ln/>
        </p:spPr>
        <p:txBody>
          <a:bodyPr wrap="square" lIns="0" tIns="0" rIns="0" bIns="0" rtlCol="0" anchor="t"/>
          <a:lstStyle/>
          <a:p>
            <a:pPr indent="0" marL="0">
              <a:buNone/>
            </a:pPr>
            <a:r>
              <a:rPr lang="en-US" sz="1500" b="1" dirty="0">
                <a:solidFill>
                  <a:schemeClr val="tx2"/>
                </a:solidFill>
              </a:rPr>
              <a:t>Top 5 por gasto</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5303520" cy="914400"/>
        </p:xfrm>
        <a:graphic>
          <a:graphicData uri="http://schemas.openxmlformats.org/drawingml/2006/table">
            <a:tbl>
              <a:tblPr/>
              <a:tblGrid>
                <a:gridCol w="731520"/>
                <a:gridCol w="1371600"/>
                <a:gridCol w="1188720"/>
                <a:gridCol w="1280160"/>
                <a:gridCol w="731520"/>
              </a:tblGrid>
              <a:tr h="365760">
                <a:tc>
                  <a:txBody>
                    <a:bodyPr/>
                    <a:lstStyle/>
                    <a:p>
                      <a:pPr algn="l" indent="0" marL="0">
                        <a:buNone/>
                      </a:pPr>
                      <a:r>
                        <a:rPr lang="en-US" sz="1300" b="1" dirty="0">
                          <a:solidFill>
                            <a:srgbClr val="FFFFFF"/>
                          </a:solidFill>
                        </a:rPr>
                        <a:t>ID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Segmento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Ciudad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r" indent="0" marL="0">
                        <a:buNone/>
                      </a:pPr>
                      <a:r>
                        <a:rPr lang="en-US" sz="1300" b="1" dirty="0">
                          <a:solidFill>
                            <a:srgbClr val="FFFFFF"/>
                          </a:solidFill>
                        </a:rPr>
                        <a:t>Gasto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Días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65760">
                <a:tc>
                  <a:txBody>
                    <a:bodyPr/>
                    <a:lstStyle/>
                    <a:p>
                      <a:pPr algn="l" indent="0" marL="0">
                        <a:buNone/>
                      </a:pPr>
                      <a:r>
                        <a:rPr lang="en-US" sz="1300" dirty="0">
                          <a:solidFill>
                            <a:srgbClr val="222222"/>
                          </a:solidFill>
                        </a:rPr>
                        <a:t>C003</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Nuevo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Bogotá</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$640.000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33</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222222"/>
                          </a:solidFill>
                        </a:rPr>
                        <a:t>C011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Corporativo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Bogotá</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$640.000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30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65760">
                <a:tc>
                  <a:txBody>
                    <a:bodyPr/>
                    <a:lstStyle/>
                    <a:p>
                      <a:pPr algn="l" indent="0" marL="0">
                        <a:buNone/>
                      </a:pPr>
                      <a:r>
                        <a:rPr lang="en-US" sz="1300" dirty="0">
                          <a:solidFill>
                            <a:srgbClr val="222222"/>
                          </a:solidFill>
                        </a:rPr>
                        <a:t>C019</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Frecuente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Medellín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$640.000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27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222222"/>
                          </a:solidFill>
                        </a:rPr>
                        <a:t>C027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Nuevo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Bogotá</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$640.000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24</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65760">
                <a:tc>
                  <a:txBody>
                    <a:bodyPr/>
                    <a:lstStyle/>
                    <a:p>
                      <a:pPr algn="l" indent="0" marL="0">
                        <a:buNone/>
                      </a:pPr>
                      <a:r>
                        <a:rPr lang="en-US" sz="1300" dirty="0">
                          <a:solidFill>
                            <a:srgbClr val="222222"/>
                          </a:solidFill>
                        </a:rPr>
                        <a:t>C035</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Corporativo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Cali</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$640.000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21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6309360" y="3200400"/>
            <a:ext cx="5303520" cy="320040"/>
          </a:xfrm>
          <a:prstGeom prst="rect">
            <a:avLst/>
          </a:prstGeom>
          <a:noFill/>
          <a:ln/>
        </p:spPr>
        <p:txBody>
          <a:bodyPr wrap="square" lIns="0" tIns="0" rIns="0" bIns="0" rtlCol="0" anchor="t"/>
          <a:lstStyle/>
          <a:p>
            <a:pPr indent="0" marL="0">
              <a:buNone/>
            </a:pPr>
            <a:r>
              <a:rPr lang="en-US" sz="1500" b="1" dirty="0">
                <a:solidFill>
                  <a:schemeClr val="accent2"/>
                </a:solidFill>
              </a:rPr>
              <a:t>Alto valor en riesgo (&gt; 60 días sin comprar)</a:t>
            </a:r>
            <a:endParaRPr lang="en-US" sz="15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309360" y="3566160"/>
          <a:ext cx="5330952" cy="914400"/>
        </p:xfrm>
        <a:graphic>
          <a:graphicData uri="http://schemas.openxmlformats.org/drawingml/2006/table">
            <a:tbl>
              <a:tblPr/>
              <a:tblGrid>
                <a:gridCol w="731520"/>
                <a:gridCol w="1371600"/>
                <a:gridCol w="1188720"/>
                <a:gridCol w="1280160"/>
                <a:gridCol w="758952"/>
              </a:tblGrid>
              <a:tr h="365760">
                <a:tc>
                  <a:txBody>
                    <a:bodyPr/>
                    <a:lstStyle/>
                    <a:p>
                      <a:pPr algn="l" indent="0" marL="0">
                        <a:buNone/>
                      </a:pPr>
                      <a:r>
                        <a:rPr lang="en-US" sz="1300" b="1" dirty="0">
                          <a:solidFill>
                            <a:srgbClr val="FFFFFF"/>
                          </a:solidFill>
                        </a:rPr>
                        <a:t>ID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Segmento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Ciudad</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r" indent="0" marL="0">
                        <a:buNone/>
                      </a:pPr>
                      <a:r>
                        <a:rPr lang="en-US" sz="1300" b="1" dirty="0">
                          <a:solidFill>
                            <a:srgbClr val="FFFFFF"/>
                          </a:solidFill>
                        </a:rPr>
                        <a:t>Gasto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rPr>
                        <a:t>Días</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365760">
                <a:tc>
                  <a:txBody>
                    <a:bodyPr/>
                    <a:lstStyle/>
                    <a:p>
                      <a:pPr algn="l" indent="0" marL="0">
                        <a:buNone/>
                      </a:pPr>
                      <a:r>
                        <a:rPr lang="en-US" sz="1300" dirty="0">
                          <a:solidFill>
                            <a:srgbClr val="222222"/>
                          </a:solidFill>
                        </a:rPr>
                        <a:t>C033</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Nuevo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Bogotá</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$480.000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90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222222"/>
                          </a:solidFill>
                        </a:rPr>
                        <a:t>C007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Frecuente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Medellín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$320.000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77</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65760">
                <a:tc>
                  <a:txBody>
                    <a:bodyPr/>
                    <a:lstStyle/>
                    <a:p>
                      <a:pPr algn="l" indent="0" marL="0">
                        <a:buNone/>
                      </a:pPr>
                      <a:r>
                        <a:rPr lang="en-US" sz="1300" dirty="0">
                          <a:solidFill>
                            <a:srgbClr val="222222"/>
                          </a:solidFill>
                        </a:rPr>
                        <a:t>C015</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Nuevo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Bogotá</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$320.000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74</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222222"/>
                          </a:solidFill>
                        </a:rPr>
                        <a:t>C023</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Corporativo</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300" dirty="0">
                          <a:solidFill>
                            <a:srgbClr val="222222"/>
                          </a:solidFill>
                        </a:rPr>
                        <a:t>Cali</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r" indent="0" marL="0">
                        <a:buNone/>
                      </a:pPr>
                      <a:r>
                        <a:rPr lang="en-US" sz="1300" dirty="0">
                          <a:solidFill>
                            <a:srgbClr val="222222"/>
                          </a:solidFill>
                        </a:rPr>
                        <a:t>$320.000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ctr" indent="0" marL="0">
                        <a:buNone/>
                      </a:pPr>
                      <a:r>
                        <a:rPr lang="en-US" sz="1300" dirty="0">
                          <a:solidFill>
                            <a:srgbClr val="222222"/>
                          </a:solidFill>
                        </a:rPr>
                        <a:t>71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365760">
                <a:tc>
                  <a:txBody>
                    <a:bodyPr/>
                    <a:lstStyle/>
                    <a:p>
                      <a:pPr algn="l" indent="0" marL="0">
                        <a:buNone/>
                      </a:pPr>
                      <a:r>
                        <a:rPr lang="en-US" sz="1300" dirty="0">
                          <a:solidFill>
                            <a:srgbClr val="222222"/>
                          </a:solidFill>
                        </a:rPr>
                        <a:t>C031</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Frecuente</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rPr>
                        <a:t>Medellín</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r" indent="0" marL="0">
                        <a:buNone/>
                      </a:pPr>
                      <a:r>
                        <a:rPr lang="en-US" sz="1300" dirty="0">
                          <a:solidFill>
                            <a:srgbClr val="222222"/>
                          </a:solidFill>
                        </a:rPr>
                        <a:t>$320.000</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rPr>
                        <a:t>68</a:t>
                      </a:r>
                      <a:endParaRPr lang="en-US" sz="13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bl>
          </a:graphicData>
        </a:graphic>
      </p:graphicFrame>
      <p:sp>
        <p:nvSpPr>
          <p:cNvPr id="20" name="Text 16"/>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400" dirty="0">
                <a:solidFill>
                  <a:schemeClr val="tx1"/>
                </a:solidFill>
              </a:rPr>
              <a:t>En seguimiento (regla de la guía): C006, C014, C008, C016, C024. Los 5 en riesgo suman $1.760.000 (17,8 % del gasto).</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4 — Visualizaciones y decisión</a:t>
            </a:r>
            <a:endParaRPr lang="en-US" sz="3000" dirty="0"/>
          </a:p>
        </p:txBody>
      </p:sp>
      <p:graphicFrame>
        <p:nvGraphicFramePr>
          <p:cNvPr id="3" name="Chart 0" descr=""/>
          <p:cNvGraphicFramePr/>
          <p:nvPr/>
        </p:nvGraphicFramePr>
        <p:xfrm>
          <a:off x="548640" y="1234440"/>
          <a:ext cx="5120640" cy="2926080"/>
        </p:xfrm>
        <a:graphic xmlns:a="http://schemas.openxmlformats.org/drawingml/2006/main">
          <a:graphicData uri="http://schemas.openxmlformats.org/drawingml/2006/chart">
            <c:chart xmlns:c="http://schemas.openxmlformats.org/drawingml/2006/chart" r:id="rId1"/>
          </a:graphicData>
        </a:graphic>
      </p:graphicFrame>
      <p:pic>
        <p:nvPicPr>
          <p:cNvPr id="4" name="Image 0" descr="Dispersión compras vs gasto">    </p:cNvPr>
          <p:cNvPicPr>
            <a:picLocks noChangeAspect="1"/>
          </p:cNvPicPr>
          <p:nvPr/>
        </p:nvPicPr>
        <p:blipFill>
          <a:blip r:embed="rId2"/>
          <a:stretch>
            <a:fillRect/>
          </a:stretch>
        </p:blipFill>
        <p:spPr>
          <a:xfrm>
            <a:off x="5943600" y="1234440"/>
            <a:ext cx="4551680" cy="2926080"/>
          </a:xfrm>
          <a:prstGeom prst="rect">
            <a:avLst/>
          </a:prstGeom>
        </p:spPr>
      </p:pic>
      <p:sp>
        <p:nvSpPr>
          <p:cNvPr id="5" name="Shape 1"/>
          <p:cNvSpPr/>
          <p:nvPr/>
        </p:nvSpPr>
        <p:spPr>
          <a:xfrm>
            <a:off x="548640" y="4251960"/>
            <a:ext cx="11091672" cy="2057400"/>
          </a:xfrm>
          <a:prstGeom prst="roundRect">
            <a:avLst>
              <a:gd name="adj" fmla="val 3556"/>
            </a:avLst>
          </a:prstGeom>
          <a:solidFill>
            <a:schemeClr val="bg2"/>
          </a:solidFill>
          <a:ln w="12700">
            <a:solidFill>
              <a:schemeClr val="bg2"/>
            </a:solidFill>
            <a:prstDash val="solid"/>
          </a:ln>
        </p:spPr>
      </p:sp>
      <p:sp>
        <p:nvSpPr>
          <p:cNvPr id="6" name="Text 2"/>
          <p:cNvSpPr txBox="1"/>
          <p:nvPr/>
        </p:nvSpPr>
        <p:spPr>
          <a:xfrm>
            <a:off x="777240" y="4361688"/>
            <a:ext cx="10607040" cy="365760"/>
          </a:xfrm>
          <a:prstGeom prst="rect">
            <a:avLst/>
          </a:prstGeom>
          <a:noFill/>
          <a:ln/>
        </p:spPr>
        <p:txBody>
          <a:bodyPr wrap="square" lIns="0" tIns="0" rIns="0" bIns="0" rtlCol="0" anchor="ctr"/>
          <a:lstStyle/>
          <a:p>
            <a:pPr indent="0" marL="0">
              <a:buNone/>
            </a:pPr>
            <a:r>
              <a:rPr lang="en-US" sz="1700" b="1" dirty="0">
                <a:solidFill>
                  <a:schemeClr val="accent2"/>
                </a:solidFill>
              </a:rPr>
              <a:t>Decisión gerencial: </a:t>
            </a:r>
            <a:pPr indent="0" marL="0">
              <a:buNone/>
            </a:pPr>
            <a:r>
              <a:rPr lang="en-US" sz="1700" b="1" dirty="0">
                <a:solidFill>
                  <a:schemeClr val="tx2"/>
                </a:solidFill>
              </a:rPr>
              <a:t>campaña en dos fases</a:t>
            </a:r>
            <a:endParaRPr lang="en-US" sz="1700" dirty="0"/>
          </a:p>
        </p:txBody>
      </p:sp>
      <p:sp>
        <p:nvSpPr>
          <p:cNvPr id="7" name="Text 3"/>
          <p:cNvSpPr txBox="1"/>
          <p:nvPr/>
        </p:nvSpPr>
        <p:spPr>
          <a:xfrm>
            <a:off x="777240" y="4800600"/>
            <a:ext cx="10607040"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Recuperar: 5 clientes Alto valor en riesgo (C033, C007, C015, C023, C031): $1.760.000 y 68 a 90 días sin comprar</a:t>
            </a:r>
            <a:endParaRPr lang="en-US" sz="1400" dirty="0"/>
          </a:p>
          <a:p>
            <a:pPr marL="342900" indent="-342900">
              <a:spcAft>
                <a:spcPts val="600"/>
              </a:spcAft>
              <a:buSzPct val="100000"/>
              <a:buChar char="•"/>
            </a:pPr>
            <a:r>
              <a:rPr lang="en-US" sz="1400" dirty="0">
                <a:solidFill>
                  <a:schemeClr val="tx1"/>
                </a:solidFill>
              </a:rPr>
              <a:t>Fidelizar: top 5 (C003, C011, C019, C027, C035), $640.000 c/u, 32,4 % del gasto, compra reciente</a:t>
            </a:r>
            <a:endParaRPr lang="en-US" sz="1400" dirty="0"/>
          </a:p>
          <a:p>
            <a:pPr marL="342900" indent="-342900">
              <a:spcAft>
                <a:spcPts val="600"/>
              </a:spcAft>
              <a:buSzPct val="100000"/>
              <a:buChar char="•"/>
            </a:pPr>
            <a:r>
              <a:rPr lang="en-US" sz="1400" dirty="0">
                <a:solidFill>
                  <a:schemeClr val="tx1"/>
                </a:solidFill>
              </a:rPr>
              <a:t>Oportunidad: C006 y C014 están a $5.000 del umbral de Alto valor (7 compras, $245.000)</a:t>
            </a:r>
            <a:endParaRPr lang="en-US" sz="1400" dirty="0"/>
          </a:p>
          <a:p>
            <a:pPr marL="342900" indent="-342900">
              <a:spcAft>
                <a:spcPts val="600"/>
              </a:spcAft>
              <a:buSzPct val="100000"/>
              <a:buChar char="•"/>
            </a:pPr>
            <a:r>
              <a:rPr lang="en-US" sz="1400" dirty="0">
                <a:solidFill>
                  <a:schemeClr val="tx1"/>
                </a:solidFill>
              </a:rPr>
              <a:t>Corregir C021 y C032 antes de la campaña para poder clasificarlos</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Ejercicio 4 — Capturas del proceso</a:t>
            </a:r>
            <a:endParaRPr lang="en-US" sz="3000" dirty="0"/>
          </a:p>
        </p:txBody>
      </p:sp>
      <p:pic>
        <p:nvPicPr>
          <p:cNvPr id="3" name="Image 0" descr="/home/claude/entrega/pres/caps/cap_e42.png">    </p:cNvPr>
          <p:cNvPicPr>
            <a:picLocks noChangeAspect="1"/>
          </p:cNvPicPr>
          <p:nvPr/>
        </p:nvPicPr>
        <p:blipFill>
          <a:blip r:embed="rId1"/>
          <a:stretch>
            <a:fillRect/>
          </a:stretch>
        </p:blipFill>
        <p:spPr>
          <a:xfrm>
            <a:off x="548640" y="1325880"/>
            <a:ext cx="5394960" cy="2380129"/>
          </a:xfrm>
          <a:prstGeom prst="rect">
            <a:avLst/>
          </a:prstGeom>
        </p:spPr>
      </p:pic>
      <p:pic>
        <p:nvPicPr>
          <p:cNvPr id="4" name="Image 1" descr="/home/claude/entrega/pres/caps/cap_e44.png">    </p:cNvPr>
          <p:cNvPicPr>
            <a:picLocks noChangeAspect="1"/>
          </p:cNvPicPr>
          <p:nvPr/>
        </p:nvPicPr>
        <p:blipFill>
          <a:blip r:embed="rId2"/>
          <a:stretch>
            <a:fillRect/>
          </a:stretch>
        </p:blipFill>
        <p:spPr>
          <a:xfrm>
            <a:off x="6263640" y="1325880"/>
            <a:ext cx="5376672" cy="2023536"/>
          </a:xfrm>
          <a:prstGeom prst="rect">
            <a:avLst/>
          </a:prstGeom>
        </p:spPr>
      </p:pic>
      <p:sp>
        <p:nvSpPr>
          <p:cNvPr id="5" name="Text 1"/>
          <p:cNvSpPr txBox="1"/>
          <p:nvPr/>
        </p:nvSpPr>
        <p:spPr>
          <a:xfrm>
            <a:off x="548640" y="4069080"/>
            <a:ext cx="5394960" cy="914400"/>
          </a:xfrm>
          <a:prstGeom prst="rect">
            <a:avLst/>
          </a:prstGeom>
          <a:noFill/>
          <a:ln/>
        </p:spPr>
        <p:txBody>
          <a:bodyPr wrap="square" lIns="0" tIns="0" rIns="0" bIns="0" rtlCol="0" anchor="t"/>
          <a:lstStyle/>
          <a:p>
            <a:pPr indent="0" marL="0">
              <a:buNone/>
            </a:pPr>
            <a:r>
              <a:rPr lang="en-US" sz="1200" i="1" dirty="0">
                <a:solidFill>
                  <a:schemeClr val="tx1"/>
                </a:solidFill>
              </a:rPr>
              <a:t>Captura 3 (E4.2). Limpieza: ciudad estandarizada, compras negativas y gastos faltantes detectados, y conteo por categoría. Salida real del notebook.</a:t>
            </a:r>
            <a:endParaRPr lang="en-US" sz="1200" dirty="0"/>
          </a:p>
        </p:txBody>
      </p:sp>
      <p:sp>
        <p:nvSpPr>
          <p:cNvPr id="6" name="Text 2"/>
          <p:cNvSpPr txBox="1"/>
          <p:nvPr/>
        </p:nvSpPr>
        <p:spPr>
          <a:xfrm>
            <a:off x="6263640" y="3566160"/>
            <a:ext cx="5376672" cy="914400"/>
          </a:xfrm>
          <a:prstGeom prst="rect">
            <a:avLst/>
          </a:prstGeom>
          <a:noFill/>
          <a:ln/>
        </p:spPr>
        <p:txBody>
          <a:bodyPr wrap="square" lIns="0" tIns="0" rIns="0" bIns="0" rtlCol="0" anchor="t"/>
          <a:lstStyle/>
          <a:p>
            <a:pPr indent="0" marL="0">
              <a:buNone/>
            </a:pPr>
            <a:r>
              <a:rPr lang="en-US" sz="1200" i="1" dirty="0">
                <a:solidFill>
                  <a:schemeClr val="tx1"/>
                </a:solidFill>
              </a:rPr>
              <a:t>Captura 4 (E4.4). Indicadores: clientes, gasto total y gasto promedio por categoría; gasto total $9.880.000. Salida real del notebook.</a:t>
            </a:r>
            <a:endParaRPr lang="en-US" sz="12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Hallazgos y calidad de datos entre empresas</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1737360"/>
                <a:gridCol w="2331720"/>
                <a:gridCol w="2331720"/>
                <a:gridCol w="2331720"/>
                <a:gridCol w="2359152"/>
              </a:tblGrid>
              <a:tr h="676656">
                <a:tc>
                  <a:txBody>
                    <a:bodyPr/>
                    <a:lstStyle/>
                    <a:p>
                      <a:pPr algn="l" indent="0" marL="0">
                        <a:buNone/>
                      </a:pP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200" b="1" dirty="0">
                          <a:solidFill>
                            <a:srgbClr val="FFFFFF"/>
                          </a:solidFill>
                        </a:rPr>
                        <a:t>NovaMarket ventas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200" b="1" dirty="0">
                          <a:solidFill>
                            <a:srgbClr val="FFFFFF"/>
                          </a:solidFill>
                        </a:rPr>
                        <a:t>VidaPlus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200" b="1" dirty="0">
                          <a:solidFill>
                            <a:srgbClr val="FFFFFF"/>
                          </a:solidFill>
                        </a:rPr>
                        <a:t>RutaExpress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c>
                  <a:txBody>
                    <a:bodyPr/>
                    <a:lstStyle/>
                    <a:p>
                      <a:pPr algn="l" indent="0" marL="0">
                        <a:buNone/>
                      </a:pPr>
                      <a:r>
                        <a:rPr lang="en-US" sz="1200" b="1" dirty="0">
                          <a:solidFill>
                            <a:srgbClr val="FFFFFF"/>
                          </a:solidFill>
                        </a:rPr>
                        <a:t>NovaMarket clientes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1F3864"/>
                    </a:solidFill>
                  </a:tcPr>
                </a:tc>
              </a:tr>
              <a:tr h="676656">
                <a:tc>
                  <a:txBody>
                    <a:bodyPr/>
                    <a:lstStyle/>
                    <a:p>
                      <a:pPr algn="l" indent="0" marL="0">
                        <a:buNone/>
                      </a:pPr>
                      <a:r>
                        <a:rPr lang="en-US" sz="1200" dirty="0">
                          <a:solidFill>
                            <a:srgbClr val="222222"/>
                          </a:solidFill>
                        </a:rPr>
                        <a:t>Anomalías (3 c/u)</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V009, V028, V020</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A006, A018, A026</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E010, E022, E030</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C011, C021, C032</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676656">
                <a:tc>
                  <a:txBody>
                    <a:bodyPr/>
                    <a:lstStyle/>
                    <a:p>
                      <a:pPr algn="l" indent="0" marL="0">
                        <a:buNone/>
                      </a:pPr>
                      <a:r>
                        <a:rPr lang="en-US" sz="1200" dirty="0">
                          <a:solidFill>
                            <a:srgbClr val="222222"/>
                          </a:solidFill>
                        </a:rPr>
                        <a:t>Tipo</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2 de formato, 1 de facturación</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Formato, faltante y fuera de rango</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Formato, faltante y negativo</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Formato, faltante y negativo</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676656">
                <a:tc>
                  <a:txBody>
                    <a:bodyPr/>
                    <a:lstStyle/>
                    <a:p>
                      <a:pPr algn="l" indent="0" marL="0">
                        <a:buNone/>
                      </a:pPr>
                      <a:r>
                        <a:rPr lang="en-US" sz="1200" dirty="0">
                          <a:solidFill>
                            <a:srgbClr val="222222"/>
                          </a:solidFill>
                        </a:rPr>
                        <a:t>Filas afectadas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3 de 36 (8,3 %)</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3 de 36 (8,3 %)</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3 de 36 (8,3 %)</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3 de 36 (8,3 %)</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676656">
                <a:tc>
                  <a:txBody>
                    <a:bodyPr/>
                    <a:lstStyle/>
                    <a:p>
                      <a:pPr algn="l" indent="0" marL="0">
                        <a:buNone/>
                      </a:pPr>
                      <a:r>
                        <a:rPr lang="en-US" sz="1200" dirty="0">
                          <a:solidFill>
                            <a:srgbClr val="222222"/>
                          </a:solidFill>
                        </a:rPr>
                        <a:t>Calidad al limpiar</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Alta: 35 filas sin discrepancia</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Buena: 35 tiempos y 35 satisfacciones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Buena: 35 tiempos y 35 costos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Buena: 34 de 36 clasificables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r h="676656">
                <a:tc>
                  <a:txBody>
                    <a:bodyPr/>
                    <a:lstStyle/>
                    <a:p>
                      <a:pPr algn="l" indent="0" marL="0">
                        <a:buNone/>
                      </a:pPr>
                      <a:r>
                        <a:rPr lang="en-US" sz="1200" dirty="0">
                          <a:solidFill>
                            <a:srgbClr val="222222"/>
                          </a:solidFill>
                        </a:rPr>
                        <a:t>Hallazgo principal</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Monitor 34,9 % y Distribuidor 40,1 % del ingreso</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Sur/Urgencias: 51,0 min y satisfacción 2,64</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60 % de retrasos; T3 con 100 % devueltos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rPr>
                        <a:t>Alto valor: 38,9 % de clientes, 69,6 % del gasto</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FFFFFF"/>
                    </a:solidFill>
                  </a:tcPr>
                </a:tc>
              </a:tr>
              <a:tr h="676656">
                <a:tc>
                  <a:txBody>
                    <a:bodyPr/>
                    <a:lstStyle/>
                    <a:p>
                      <a:pPr algn="l" indent="0" marL="0">
                        <a:buNone/>
                      </a:pPr>
                      <a:r>
                        <a:rPr lang="en-US" sz="1200" dirty="0">
                          <a:solidFill>
                            <a:srgbClr val="222222"/>
                          </a:solidFill>
                        </a:rPr>
                        <a:t>Riesgo si no se limpia</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Categorías duplicadas ("web ")</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Urgencias subiría a 2,92</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Rural parecería más barata que Urbana</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c>
                  <a:txBody>
                    <a:bodyPr/>
                    <a:lstStyle/>
                    <a:p>
                      <a:pPr algn="l" indent="0" marL="0">
                        <a:buNone/>
                      </a:pPr>
                      <a:r>
                        <a:rPr lang="en-US" sz="1200" dirty="0">
                          <a:solidFill>
                            <a:srgbClr val="222222"/>
                          </a:solidFill>
                        </a:rPr>
                        <a:t>Clientes con datos malos en campañas</a:t>
                      </a:r>
                      <a:endParaRPr lang="en-US" sz="1200" dirty="0"/>
                    </a:p>
                  </a:txBody>
                  <a:tcPr marL="73152" marR="73152" marT="27432" marB="27432" anchor="ctr">
                    <a:lnL w="9525" cap="flat" cmpd="sng" algn="ctr">
                      <a:solidFill>
                        <a:srgbClr val="D0D7E2"/>
                      </a:solidFill>
                      <a:prstDash val="solid"/>
                      <a:round/>
                      <a:headEnd type="none" w="med" len="med"/>
                      <a:tailEnd type="none" w="med" len="med"/>
                    </a:lnL>
                    <a:lnR w="9525" cap="flat" cmpd="sng" algn="ctr">
                      <a:solidFill>
                        <a:srgbClr val="D0D7E2"/>
                      </a:solidFill>
                      <a:prstDash val="solid"/>
                      <a:round/>
                      <a:headEnd type="none" w="med" len="med"/>
                      <a:tailEnd type="none" w="med" len="med"/>
                    </a:lnR>
                    <a:lnT w="9525" cap="flat" cmpd="sng" algn="ctr">
                      <a:solidFill>
                        <a:srgbClr val="D0D7E2"/>
                      </a:solidFill>
                      <a:prstDash val="solid"/>
                      <a:round/>
                      <a:headEnd type="none" w="med" len="med"/>
                      <a:tailEnd type="none" w="med" len="med"/>
                    </a:lnT>
                    <a:lnB w="9525" cap="flat" cmpd="sng" algn="ctr">
                      <a:solidFill>
                        <a:srgbClr val="D0D7E2"/>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EXTRACT — riesgos al extraer datos de varias fuentes</a:t>
            </a:r>
            <a:endParaRPr lang="en-US" sz="3000" dirty="0"/>
          </a:p>
        </p:txBody>
      </p:sp>
      <p:sp>
        <p:nvSpPr>
          <p:cNvPr id="3" name="Text 1"/>
          <p:cNvSpPr txBox="1"/>
          <p:nvPr/>
        </p:nvSpPr>
        <p:spPr>
          <a:xfrm>
            <a:off x="548640" y="1371600"/>
            <a:ext cx="5394960" cy="365760"/>
          </a:xfrm>
          <a:prstGeom prst="rect">
            <a:avLst/>
          </a:prstGeom>
          <a:noFill/>
          <a:ln/>
        </p:spPr>
        <p:txBody>
          <a:bodyPr wrap="square" lIns="0" tIns="0" rIns="0" bIns="0" rtlCol="0" anchor="t"/>
          <a:lstStyle/>
          <a:p>
            <a:pPr indent="0" marL="0">
              <a:buNone/>
            </a:pPr>
            <a:r>
              <a:rPr lang="en-US" sz="1900" b="1" dirty="0">
                <a:solidFill>
                  <a:schemeClr val="accent2"/>
                </a:solidFill>
              </a:rPr>
              <a:t>Riesgos de confiabilidad</a:t>
            </a:r>
            <a:endParaRPr lang="en-US" sz="1900" dirty="0"/>
          </a:p>
        </p:txBody>
      </p:sp>
      <p:sp>
        <p:nvSpPr>
          <p:cNvPr id="4" name="Text 2"/>
          <p:cNvSpPr txBox="1"/>
          <p:nvPr/>
        </p:nvSpPr>
        <p:spPr>
          <a:xfrm>
            <a:off x="548640" y="1783080"/>
            <a:ext cx="5394960" cy="21945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Cada fuente escribe a su manera (mayúsculas, espacios, formatos)</a:t>
            </a:r>
            <a:endParaRPr lang="en-US" sz="1600" dirty="0"/>
          </a:p>
          <a:p>
            <a:pPr marL="342900" indent="-342900">
              <a:spcAft>
                <a:spcPts val="600"/>
              </a:spcAft>
              <a:buSzPct val="100000"/>
              <a:buChar char="•"/>
            </a:pPr>
            <a:r>
              <a:rPr lang="en-US" sz="1600" dirty="0">
                <a:solidFill>
                  <a:schemeClr val="tx1"/>
                </a:solidFill>
              </a:rPr>
              <a:t>Datos incompletos o con valores imposibles</a:t>
            </a:r>
            <a:endParaRPr lang="en-US" sz="1600" dirty="0"/>
          </a:p>
          <a:p>
            <a:pPr marL="342900" indent="-342900">
              <a:spcAft>
                <a:spcPts val="600"/>
              </a:spcAft>
              <a:buSzPct val="100000"/>
              <a:buChar char="•"/>
            </a:pPr>
            <a:r>
              <a:rPr lang="en-US" sz="1600" dirty="0">
                <a:solidFill>
                  <a:schemeClr val="tx1"/>
                </a:solidFill>
              </a:rPr>
              <a:t>Cambios de codificación del archivo</a:t>
            </a:r>
            <a:endParaRPr lang="en-US" sz="1600" dirty="0"/>
          </a:p>
          <a:p>
            <a:pPr marL="342900" indent="-342900">
              <a:spcAft>
                <a:spcPts val="600"/>
              </a:spcAft>
              <a:buSzPct val="100000"/>
              <a:buChar char="•"/>
            </a:pPr>
            <a:r>
              <a:rPr lang="en-US" sz="1600" dirty="0">
                <a:solidFill>
                  <a:schemeClr val="tx1"/>
                </a:solidFill>
              </a:rPr>
              <a:t>Archivos duplicados o desactualizados</a:t>
            </a:r>
            <a:endParaRPr lang="en-US" sz="1600" dirty="0"/>
          </a:p>
        </p:txBody>
      </p:sp>
      <p:sp>
        <p:nvSpPr>
          <p:cNvPr id="5" name="Text 3"/>
          <p:cNvSpPr txBox="1"/>
          <p:nvPr/>
        </p:nvSpPr>
        <p:spPr>
          <a:xfrm>
            <a:off x="6263640" y="1371600"/>
            <a:ext cx="5394960" cy="365760"/>
          </a:xfrm>
          <a:prstGeom prst="rect">
            <a:avLst/>
          </a:prstGeom>
          <a:noFill/>
          <a:ln/>
        </p:spPr>
        <p:txBody>
          <a:bodyPr wrap="square" lIns="0" tIns="0" rIns="0" bIns="0" rtlCol="0" anchor="t"/>
          <a:lstStyle/>
          <a:p>
            <a:pPr indent="0" marL="0">
              <a:buNone/>
            </a:pPr>
            <a:r>
              <a:rPr lang="en-US" sz="1900" b="1" dirty="0">
                <a:solidFill>
                  <a:schemeClr val="accent1"/>
                </a:solidFill>
              </a:rPr>
              <a:t>Cómo verificar la integridad</a:t>
            </a:r>
            <a:endParaRPr lang="en-US" sz="1900" dirty="0"/>
          </a:p>
        </p:txBody>
      </p:sp>
      <p:sp>
        <p:nvSpPr>
          <p:cNvPr id="6" name="Text 4"/>
          <p:cNvSpPr txBox="1"/>
          <p:nvPr/>
        </p:nvSpPr>
        <p:spPr>
          <a:xfrm>
            <a:off x="6263640" y="1783080"/>
            <a:ext cx="5394960" cy="21945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Contar filas y columnas (36 por archivo, 144 en total)</a:t>
            </a:r>
            <a:endParaRPr lang="en-US" sz="1600" dirty="0"/>
          </a:p>
          <a:p>
            <a:pPr marL="342900" indent="-342900">
              <a:spcAft>
                <a:spcPts val="600"/>
              </a:spcAft>
              <a:buSzPct val="100000"/>
              <a:buChar char="•"/>
            </a:pPr>
            <a:r>
              <a:rPr lang="en-US" sz="1600" dirty="0">
                <a:solidFill>
                  <a:schemeClr val="tx1"/>
                </a:solidFill>
              </a:rPr>
              <a:t>Revisar tipos con info() / Power Query</a:t>
            </a:r>
            <a:endParaRPr lang="en-US" sz="1600" dirty="0"/>
          </a:p>
          <a:p>
            <a:pPr marL="342900" indent="-342900">
              <a:spcAft>
                <a:spcPts val="600"/>
              </a:spcAft>
              <a:buSzPct val="100000"/>
              <a:buChar char="•"/>
            </a:pPr>
            <a:r>
              <a:rPr lang="en-US" sz="1600" dirty="0">
                <a:solidFill>
                  <a:schemeClr val="tx1"/>
                </a:solidFill>
              </a:rPr>
              <a:t>Contar faltantes con isna()</a:t>
            </a:r>
            <a:endParaRPr lang="en-US" sz="1600" dirty="0"/>
          </a:p>
          <a:p>
            <a:pPr marL="342900" indent="-342900">
              <a:spcAft>
                <a:spcPts val="600"/>
              </a:spcAft>
              <a:buSzPct val="100000"/>
              <a:buChar char="•"/>
            </a:pPr>
            <a:r>
              <a:rPr lang="en-US" sz="1600" dirty="0">
                <a:solidFill>
                  <a:schemeClr val="tx1"/>
                </a:solidFill>
              </a:rPr>
              <a:t>Comparar archivos sospechosos (diff) y revisar valores únicos</a:t>
            </a:r>
            <a:endParaRPr lang="en-US" sz="1600" dirty="0"/>
          </a:p>
        </p:txBody>
      </p:sp>
      <p:sp>
        <p:nvSpPr>
          <p:cNvPr id="7" name="Text 5"/>
          <p:cNvSpPr txBox="1"/>
          <p:nvPr/>
        </p:nvSpPr>
        <p:spPr>
          <a:xfrm>
            <a:off x="548640" y="4114800"/>
            <a:ext cx="7315200" cy="365760"/>
          </a:xfrm>
          <a:prstGeom prst="rect">
            <a:avLst/>
          </a:prstGeom>
          <a:noFill/>
          <a:ln/>
        </p:spPr>
        <p:txBody>
          <a:bodyPr wrap="square" lIns="0" tIns="0" rIns="0" bIns="0" rtlCol="0" anchor="t"/>
          <a:lstStyle/>
          <a:p>
            <a:pPr indent="0" marL="0">
              <a:buNone/>
            </a:pPr>
            <a:r>
              <a:rPr lang="en-US" sz="1800" b="1" dirty="0">
                <a:solidFill>
                  <a:schemeClr val="tx2"/>
                </a:solidFill>
              </a:rPr>
              <a:t>Ejemplos reales del laboratorio</a:t>
            </a:r>
            <a:endParaRPr lang="en-US" sz="1800" dirty="0"/>
          </a:p>
        </p:txBody>
      </p:sp>
      <p:sp>
        <p:nvSpPr>
          <p:cNvPr id="8" name="Shape 6"/>
          <p:cNvSpPr/>
          <p:nvPr/>
        </p:nvSpPr>
        <p:spPr>
          <a:xfrm>
            <a:off x="548640" y="4572000"/>
            <a:ext cx="2651760" cy="1645920"/>
          </a:xfrm>
          <a:prstGeom prst="roundRect">
            <a:avLst>
              <a:gd name="adj" fmla="val 4444"/>
            </a:avLst>
          </a:prstGeom>
          <a:solidFill>
            <a:schemeClr val="bg2"/>
          </a:solidFill>
          <a:ln w="12700">
            <a:solidFill>
              <a:schemeClr val="bg2"/>
            </a:solidFill>
            <a:prstDash val="solid"/>
          </a:ln>
        </p:spPr>
      </p:sp>
      <p:sp>
        <p:nvSpPr>
          <p:cNvPr id="9" name="Text 7"/>
          <p:cNvSpPr txBox="1"/>
          <p:nvPr/>
        </p:nvSpPr>
        <p:spPr>
          <a:xfrm>
            <a:off x="685800" y="4663440"/>
            <a:ext cx="2377440" cy="365760"/>
          </a:xfrm>
          <a:prstGeom prst="rect">
            <a:avLst/>
          </a:prstGeom>
          <a:noFill/>
          <a:ln/>
        </p:spPr>
        <p:txBody>
          <a:bodyPr wrap="square" lIns="0" tIns="0" rIns="0" bIns="0" rtlCol="0" anchor="t"/>
          <a:lstStyle/>
          <a:p>
            <a:pPr indent="0" marL="0">
              <a:buNone/>
            </a:pPr>
            <a:r>
              <a:rPr lang="en-US" sz="1700" b="1" dirty="0">
                <a:solidFill>
                  <a:schemeClr val="accent1"/>
                </a:solidFill>
              </a:rPr>
              <a:t>BOM</a:t>
            </a:r>
            <a:endParaRPr lang="en-US" sz="1700" dirty="0"/>
          </a:p>
        </p:txBody>
      </p:sp>
      <p:sp>
        <p:nvSpPr>
          <p:cNvPr id="10" name="Text 8"/>
          <p:cNvSpPr txBox="1"/>
          <p:nvPr/>
        </p:nvSpPr>
        <p:spPr>
          <a:xfrm>
            <a:off x="685800" y="5074920"/>
            <a:ext cx="2377440" cy="1097280"/>
          </a:xfrm>
          <a:prstGeom prst="rect">
            <a:avLst/>
          </a:prstGeom>
          <a:noFill/>
          <a:ln/>
        </p:spPr>
        <p:txBody>
          <a:bodyPr wrap="square" lIns="0" tIns="0" rIns="0" bIns="0" rtlCol="0" anchor="t"/>
          <a:lstStyle/>
          <a:p>
            <a:pPr indent="0" marL="0">
              <a:buNone/>
            </a:pPr>
            <a:r>
              <a:rPr lang="en-US" sz="1400" dirty="0">
                <a:solidFill>
                  <a:schemeClr val="tx1"/>
                </a:solidFill>
              </a:rPr>
              <a:t>Los 4 CSV traen BOM: utf-8-sig</a:t>
            </a:r>
            <a:endParaRPr lang="en-US" sz="1400" dirty="0"/>
          </a:p>
        </p:txBody>
      </p:sp>
      <p:sp>
        <p:nvSpPr>
          <p:cNvPr id="11" name="Shape 9"/>
          <p:cNvSpPr/>
          <p:nvPr/>
        </p:nvSpPr>
        <p:spPr>
          <a:xfrm>
            <a:off x="3337560" y="4572000"/>
            <a:ext cx="2651760" cy="1645920"/>
          </a:xfrm>
          <a:prstGeom prst="roundRect">
            <a:avLst>
              <a:gd name="adj" fmla="val 4444"/>
            </a:avLst>
          </a:prstGeom>
          <a:solidFill>
            <a:schemeClr val="bg2"/>
          </a:solidFill>
          <a:ln w="12700">
            <a:solidFill>
              <a:schemeClr val="bg2"/>
            </a:solidFill>
            <a:prstDash val="solid"/>
          </a:ln>
        </p:spPr>
      </p:sp>
      <p:sp>
        <p:nvSpPr>
          <p:cNvPr id="12" name="Text 10"/>
          <p:cNvSpPr txBox="1"/>
          <p:nvPr/>
        </p:nvSpPr>
        <p:spPr>
          <a:xfrm>
            <a:off x="3474720" y="4663440"/>
            <a:ext cx="2377440" cy="365760"/>
          </a:xfrm>
          <a:prstGeom prst="rect">
            <a:avLst/>
          </a:prstGeom>
          <a:noFill/>
          <a:ln/>
        </p:spPr>
        <p:txBody>
          <a:bodyPr wrap="square" lIns="0" tIns="0" rIns="0" bIns="0" rtlCol="0" anchor="t"/>
          <a:lstStyle/>
          <a:p>
            <a:pPr indent="0" marL="0">
              <a:buNone/>
            </a:pPr>
            <a:r>
              <a:rPr lang="en-US" sz="1700" b="1" dirty="0">
                <a:solidFill>
                  <a:schemeClr val="accent1"/>
                </a:solidFill>
              </a:rPr>
              <a:t>Formato</a:t>
            </a:r>
            <a:endParaRPr lang="en-US" sz="1700" dirty="0"/>
          </a:p>
        </p:txBody>
      </p:sp>
      <p:sp>
        <p:nvSpPr>
          <p:cNvPr id="13" name="Text 11"/>
          <p:cNvSpPr txBox="1"/>
          <p:nvPr/>
        </p:nvSpPr>
        <p:spPr>
          <a:xfrm>
            <a:off x="3474720" y="5074920"/>
            <a:ext cx="2377440" cy="1097280"/>
          </a:xfrm>
          <a:prstGeom prst="rect">
            <a:avLst/>
          </a:prstGeom>
          <a:noFill/>
          <a:ln/>
        </p:spPr>
        <p:txBody>
          <a:bodyPr wrap="square" lIns="0" tIns="0" rIns="0" bIns="0" rtlCol="0" anchor="t"/>
          <a:lstStyle/>
          <a:p>
            <a:pPr indent="0" marL="0">
              <a:buNone/>
            </a:pPr>
            <a:r>
              <a:rPr lang="en-US" sz="1400" dirty="0">
                <a:solidFill>
                  <a:schemeClr val="tx1"/>
                </a:solidFill>
              </a:rPr>
              <a:t>" norte ", "web ", "centro ", " urbana ", "bogotá "</a:t>
            </a:r>
            <a:endParaRPr lang="en-US" sz="1400" dirty="0"/>
          </a:p>
        </p:txBody>
      </p:sp>
      <p:sp>
        <p:nvSpPr>
          <p:cNvPr id="14" name="Shape 12"/>
          <p:cNvSpPr/>
          <p:nvPr/>
        </p:nvSpPr>
        <p:spPr>
          <a:xfrm>
            <a:off x="6126480" y="4572000"/>
            <a:ext cx="2651760" cy="1645920"/>
          </a:xfrm>
          <a:prstGeom prst="roundRect">
            <a:avLst>
              <a:gd name="adj" fmla="val 4444"/>
            </a:avLst>
          </a:prstGeom>
          <a:solidFill>
            <a:schemeClr val="bg2"/>
          </a:solidFill>
          <a:ln w="12700">
            <a:solidFill>
              <a:schemeClr val="bg2"/>
            </a:solidFill>
            <a:prstDash val="solid"/>
          </a:ln>
        </p:spPr>
      </p:sp>
      <p:sp>
        <p:nvSpPr>
          <p:cNvPr id="15" name="Text 13"/>
          <p:cNvSpPr txBox="1"/>
          <p:nvPr/>
        </p:nvSpPr>
        <p:spPr>
          <a:xfrm>
            <a:off x="6263640" y="4663440"/>
            <a:ext cx="2377440" cy="365760"/>
          </a:xfrm>
          <a:prstGeom prst="rect">
            <a:avLst/>
          </a:prstGeom>
          <a:noFill/>
          <a:ln/>
        </p:spPr>
        <p:txBody>
          <a:bodyPr wrap="square" lIns="0" tIns="0" rIns="0" bIns="0" rtlCol="0" anchor="t"/>
          <a:lstStyle/>
          <a:p>
            <a:pPr indent="0" marL="0">
              <a:buNone/>
            </a:pPr>
            <a:r>
              <a:rPr lang="en-US" sz="1700" b="1" dirty="0">
                <a:solidFill>
                  <a:schemeClr val="accent1"/>
                </a:solidFill>
              </a:rPr>
              <a:t>Vacíos</a:t>
            </a:r>
            <a:endParaRPr lang="en-US" sz="1700" dirty="0"/>
          </a:p>
        </p:txBody>
      </p:sp>
      <p:sp>
        <p:nvSpPr>
          <p:cNvPr id="16" name="Text 14"/>
          <p:cNvSpPr txBox="1"/>
          <p:nvPr/>
        </p:nvSpPr>
        <p:spPr>
          <a:xfrm>
            <a:off x="6263640" y="5074920"/>
            <a:ext cx="2377440" cy="1097280"/>
          </a:xfrm>
          <a:prstGeom prst="rect">
            <a:avLst/>
          </a:prstGeom>
          <a:noFill/>
          <a:ln/>
        </p:spPr>
        <p:txBody>
          <a:bodyPr wrap="square" lIns="0" tIns="0" rIns="0" bIns="0" rtlCol="0" anchor="t"/>
          <a:lstStyle/>
          <a:p>
            <a:pPr indent="0" marL="0">
              <a:buNone/>
            </a:pPr>
            <a:r>
              <a:rPr lang="en-US" sz="1400" dirty="0">
                <a:solidFill>
                  <a:schemeClr val="tx1"/>
                </a:solidFill>
              </a:rPr>
              <a:t>A018, E030 y C021</a:t>
            </a:r>
            <a:endParaRPr lang="en-US" sz="1400" dirty="0"/>
          </a:p>
        </p:txBody>
      </p:sp>
      <p:sp>
        <p:nvSpPr>
          <p:cNvPr id="17" name="Shape 15"/>
          <p:cNvSpPr/>
          <p:nvPr/>
        </p:nvSpPr>
        <p:spPr>
          <a:xfrm>
            <a:off x="8915400" y="4572000"/>
            <a:ext cx="2651760" cy="1645920"/>
          </a:xfrm>
          <a:prstGeom prst="roundRect">
            <a:avLst>
              <a:gd name="adj" fmla="val 4444"/>
            </a:avLst>
          </a:prstGeom>
          <a:solidFill>
            <a:schemeClr val="bg2"/>
          </a:solidFill>
          <a:ln w="12700">
            <a:solidFill>
              <a:schemeClr val="bg2"/>
            </a:solidFill>
            <a:prstDash val="solid"/>
          </a:ln>
        </p:spPr>
      </p:sp>
      <p:sp>
        <p:nvSpPr>
          <p:cNvPr id="18" name="Text 16"/>
          <p:cNvSpPr txBox="1"/>
          <p:nvPr/>
        </p:nvSpPr>
        <p:spPr>
          <a:xfrm>
            <a:off x="9052560" y="4663440"/>
            <a:ext cx="2377440" cy="365760"/>
          </a:xfrm>
          <a:prstGeom prst="rect">
            <a:avLst/>
          </a:prstGeom>
          <a:noFill/>
          <a:ln/>
        </p:spPr>
        <p:txBody>
          <a:bodyPr wrap="square" lIns="0" tIns="0" rIns="0" bIns="0" rtlCol="0" anchor="t"/>
          <a:lstStyle/>
          <a:p>
            <a:pPr indent="0" marL="0">
              <a:buNone/>
            </a:pPr>
            <a:r>
              <a:rPr lang="en-US" sz="1700" b="1" dirty="0">
                <a:solidFill>
                  <a:schemeClr val="accent1"/>
                </a:solidFill>
              </a:rPr>
              <a:t>Duplicado</a:t>
            </a:r>
            <a:endParaRPr lang="en-US" sz="1700" dirty="0"/>
          </a:p>
        </p:txBody>
      </p:sp>
      <p:sp>
        <p:nvSpPr>
          <p:cNvPr id="19" name="Text 17"/>
          <p:cNvSpPr txBox="1"/>
          <p:nvPr/>
        </p:nvSpPr>
        <p:spPr>
          <a:xfrm>
            <a:off x="9052560" y="5074920"/>
            <a:ext cx="2377440" cy="1097280"/>
          </a:xfrm>
          <a:prstGeom prst="rect">
            <a:avLst/>
          </a:prstGeom>
          <a:noFill/>
          <a:ln/>
        </p:spPr>
        <p:txBody>
          <a:bodyPr wrap="square" lIns="0" tIns="0" rIns="0" bIns="0" rtlCol="0" anchor="t"/>
          <a:lstStyle/>
          <a:p>
            <a:pPr indent="0" marL="0">
              <a:buNone/>
            </a:pPr>
            <a:r>
              <a:rPr lang="en-US" sz="1400" dirty="0">
                <a:solidFill>
                  <a:schemeClr val="tx1"/>
                </a:solidFill>
              </a:rPr>
              <a:t>«02_VidaPlus… Copiar.csv» es idéntico</a:t>
            </a:r>
            <a:endParaRPr lang="en-US" sz="14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TRANSFORM — depurar antes de calcular cambia la decisión</a:t>
            </a:r>
            <a:endParaRPr lang="en-US" sz="3000" dirty="0"/>
          </a:p>
        </p:txBody>
      </p:sp>
      <p:sp>
        <p:nvSpPr>
          <p:cNvPr id="3" name="Text 1"/>
          <p:cNvSpPr txBox="1"/>
          <p:nvPr/>
        </p:nvSpPr>
        <p:spPr>
          <a:xfrm>
            <a:off x="548640" y="1325880"/>
            <a:ext cx="11064240" cy="822960"/>
          </a:xfrm>
          <a:prstGeom prst="rect">
            <a:avLst/>
          </a:prstGeom>
          <a:noFill/>
          <a:ln/>
        </p:spPr>
        <p:txBody>
          <a:bodyPr wrap="square" lIns="0" tIns="0" rIns="0" bIns="0" rtlCol="0" anchor="t"/>
          <a:lstStyle/>
          <a:p>
            <a:pPr indent="0" marL="0">
              <a:buNone/>
            </a:pPr>
            <a:r>
              <a:rPr lang="en-US" sz="1600" dirty="0">
                <a:solidFill>
                  <a:schemeClr val="tx1"/>
                </a:solidFill>
              </a:rPr>
              <a:t>Un valor imposible o faltante entra al promedio igual que uno correcto y lo distorsiona sin avisar. Depurar es decidir con un criterio explícito qué se corrige, qué se marca y qué se excluye.</a:t>
            </a:r>
            <a:endParaRPr lang="en-US" sz="1600" dirty="0"/>
          </a:p>
        </p:txBody>
      </p:sp>
      <p:sp>
        <p:nvSpPr>
          <p:cNvPr id="4" name="Text 2"/>
          <p:cNvSpPr txBox="1"/>
          <p:nvPr/>
        </p:nvSpPr>
        <p:spPr>
          <a:xfrm>
            <a:off x="548640" y="2240280"/>
            <a:ext cx="10972800" cy="365760"/>
          </a:xfrm>
          <a:prstGeom prst="rect">
            <a:avLst/>
          </a:prstGeom>
          <a:noFill/>
          <a:ln/>
        </p:spPr>
        <p:txBody>
          <a:bodyPr wrap="square" lIns="0" tIns="0" rIns="0" bIns="0" rtlCol="0" anchor="t"/>
          <a:lstStyle/>
          <a:p>
            <a:pPr indent="0" marL="0">
              <a:buNone/>
            </a:pPr>
            <a:r>
              <a:rPr lang="en-US" sz="1800" b="1" dirty="0">
                <a:solidFill>
                  <a:schemeClr val="tx2"/>
                </a:solidFill>
              </a:rPr>
              <a:t>Caso principal: RutaExpress, envío E022 con costo −$5.000</a:t>
            </a:r>
            <a:endParaRPr lang="en-US" sz="1800" dirty="0"/>
          </a:p>
        </p:txBody>
      </p:sp>
      <p:sp>
        <p:nvSpPr>
          <p:cNvPr id="5" name="Shape 3"/>
          <p:cNvSpPr/>
          <p:nvPr/>
        </p:nvSpPr>
        <p:spPr>
          <a:xfrm>
            <a:off x="548640" y="2697480"/>
            <a:ext cx="5440680" cy="1600200"/>
          </a:xfrm>
          <a:prstGeom prst="roundRect">
            <a:avLst>
              <a:gd name="adj" fmla="val 4571"/>
            </a:avLst>
          </a:prstGeom>
          <a:solidFill>
            <a:schemeClr val="bg2"/>
          </a:solidFill>
          <a:ln w="12700">
            <a:solidFill>
              <a:schemeClr val="bg2"/>
            </a:solidFill>
            <a:prstDash val="solid"/>
          </a:ln>
        </p:spPr>
      </p:sp>
      <p:sp>
        <p:nvSpPr>
          <p:cNvPr id="6" name="Text 4"/>
          <p:cNvSpPr txBox="1"/>
          <p:nvPr/>
        </p:nvSpPr>
        <p:spPr>
          <a:xfrm>
            <a:off x="731520" y="2788920"/>
            <a:ext cx="5029200" cy="320040"/>
          </a:xfrm>
          <a:prstGeom prst="rect">
            <a:avLst/>
          </a:prstGeom>
          <a:noFill/>
          <a:ln/>
        </p:spPr>
        <p:txBody>
          <a:bodyPr wrap="square" lIns="0" tIns="0" rIns="0" bIns="0" rtlCol="0" anchor="t"/>
          <a:lstStyle/>
          <a:p>
            <a:pPr indent="0" marL="0">
              <a:buNone/>
            </a:pPr>
            <a:r>
              <a:rPr lang="en-US" sz="1500" b="1" dirty="0">
                <a:solidFill>
                  <a:schemeClr val="accent2"/>
                </a:solidFill>
              </a:rPr>
              <a:t>Sin limpiar</a:t>
            </a:r>
            <a:endParaRPr lang="en-US" sz="1500" dirty="0"/>
          </a:p>
        </p:txBody>
      </p:sp>
      <p:sp>
        <p:nvSpPr>
          <p:cNvPr id="7" name="Text 5"/>
          <p:cNvSpPr txBox="1"/>
          <p:nvPr/>
        </p:nvSpPr>
        <p:spPr>
          <a:xfrm>
            <a:off x="731520" y="3108960"/>
            <a:ext cx="5029200" cy="594360"/>
          </a:xfrm>
          <a:prstGeom prst="rect">
            <a:avLst/>
          </a:prstGeom>
          <a:noFill/>
          <a:ln/>
        </p:spPr>
        <p:txBody>
          <a:bodyPr wrap="square" lIns="0" tIns="0" rIns="0" bIns="0" rtlCol="0" anchor="t"/>
          <a:lstStyle/>
          <a:p>
            <a:pPr indent="0" marL="0">
              <a:buNone/>
            </a:pPr>
            <a:r>
              <a:rPr lang="en-US" sz="3200" b="1" dirty="0">
                <a:solidFill>
                  <a:schemeClr val="accent2"/>
                </a:solidFill>
              </a:rPr>
              <a:t>Rural $23.182</a:t>
            </a:r>
            <a:endParaRPr lang="en-US" sz="3200" dirty="0"/>
          </a:p>
        </p:txBody>
      </p:sp>
      <p:sp>
        <p:nvSpPr>
          <p:cNvPr id="8" name="Text 6"/>
          <p:cNvSpPr txBox="1"/>
          <p:nvPr/>
        </p:nvSpPr>
        <p:spPr>
          <a:xfrm>
            <a:off x="731520" y="3749040"/>
            <a:ext cx="5029200" cy="411480"/>
          </a:xfrm>
          <a:prstGeom prst="rect">
            <a:avLst/>
          </a:prstGeom>
          <a:noFill/>
          <a:ln/>
        </p:spPr>
        <p:txBody>
          <a:bodyPr wrap="square" lIns="0" tIns="0" rIns="0" bIns="0" rtlCol="0" anchor="t"/>
          <a:lstStyle/>
          <a:p>
            <a:pPr indent="0" marL="0">
              <a:buNone/>
            </a:pPr>
            <a:r>
              <a:rPr lang="en-US" sz="1500" dirty="0">
                <a:solidFill>
                  <a:schemeClr val="tx1"/>
                </a:solidFill>
              </a:rPr>
              <a:t>parece más barata que Urbana ($23.577)</a:t>
            </a:r>
            <a:endParaRPr lang="en-US" sz="1500" dirty="0"/>
          </a:p>
        </p:txBody>
      </p:sp>
      <p:sp>
        <p:nvSpPr>
          <p:cNvPr id="9" name="Shape 7"/>
          <p:cNvSpPr/>
          <p:nvPr/>
        </p:nvSpPr>
        <p:spPr>
          <a:xfrm>
            <a:off x="6199632" y="2697480"/>
            <a:ext cx="5440680" cy="1600200"/>
          </a:xfrm>
          <a:prstGeom prst="roundRect">
            <a:avLst>
              <a:gd name="adj" fmla="val 4571"/>
            </a:avLst>
          </a:prstGeom>
          <a:solidFill>
            <a:schemeClr val="bg2"/>
          </a:solidFill>
          <a:ln w="12700">
            <a:solidFill>
              <a:schemeClr val="bg2"/>
            </a:solidFill>
            <a:prstDash val="solid"/>
          </a:ln>
        </p:spPr>
      </p:sp>
      <p:sp>
        <p:nvSpPr>
          <p:cNvPr id="10" name="Text 8"/>
          <p:cNvSpPr txBox="1"/>
          <p:nvPr/>
        </p:nvSpPr>
        <p:spPr>
          <a:xfrm>
            <a:off x="6382512" y="2788920"/>
            <a:ext cx="5029200" cy="320040"/>
          </a:xfrm>
          <a:prstGeom prst="rect">
            <a:avLst/>
          </a:prstGeom>
          <a:noFill/>
          <a:ln/>
        </p:spPr>
        <p:txBody>
          <a:bodyPr wrap="square" lIns="0" tIns="0" rIns="0" bIns="0" rtlCol="0" anchor="t"/>
          <a:lstStyle/>
          <a:p>
            <a:pPr indent="0" marL="0">
              <a:buNone/>
            </a:pPr>
            <a:r>
              <a:rPr lang="en-US" sz="1500" b="1" dirty="0">
                <a:solidFill>
                  <a:schemeClr val="accent1"/>
                </a:solidFill>
              </a:rPr>
              <a:t>Limpio (costo negativo → NaN)</a:t>
            </a:r>
            <a:endParaRPr lang="en-US" sz="1500" dirty="0"/>
          </a:p>
        </p:txBody>
      </p:sp>
      <p:sp>
        <p:nvSpPr>
          <p:cNvPr id="11" name="Text 9"/>
          <p:cNvSpPr txBox="1"/>
          <p:nvPr/>
        </p:nvSpPr>
        <p:spPr>
          <a:xfrm>
            <a:off x="6382512" y="3108960"/>
            <a:ext cx="5029200" cy="594360"/>
          </a:xfrm>
          <a:prstGeom prst="rect">
            <a:avLst/>
          </a:prstGeom>
          <a:noFill/>
          <a:ln/>
        </p:spPr>
        <p:txBody>
          <a:bodyPr wrap="square" lIns="0" tIns="0" rIns="0" bIns="0" rtlCol="0" anchor="t"/>
          <a:lstStyle/>
          <a:p>
            <a:pPr indent="0" marL="0">
              <a:buNone/>
            </a:pPr>
            <a:r>
              <a:rPr lang="en-US" sz="3200" b="1" dirty="0">
                <a:solidFill>
                  <a:schemeClr val="accent1"/>
                </a:solidFill>
              </a:rPr>
              <a:t>Rural $26.000</a:t>
            </a:r>
            <a:endParaRPr lang="en-US" sz="3200" dirty="0"/>
          </a:p>
        </p:txBody>
      </p:sp>
      <p:sp>
        <p:nvSpPr>
          <p:cNvPr id="12" name="Text 10"/>
          <p:cNvSpPr txBox="1"/>
          <p:nvPr/>
        </p:nvSpPr>
        <p:spPr>
          <a:xfrm>
            <a:off x="6382512" y="3749040"/>
            <a:ext cx="5029200" cy="411480"/>
          </a:xfrm>
          <a:prstGeom prst="rect">
            <a:avLst/>
          </a:prstGeom>
          <a:noFill/>
          <a:ln/>
        </p:spPr>
        <p:txBody>
          <a:bodyPr wrap="square" lIns="0" tIns="0" rIns="0" bIns="0" rtlCol="0" anchor="t"/>
          <a:lstStyle/>
          <a:p>
            <a:pPr indent="0" marL="0">
              <a:buNone/>
            </a:pPr>
            <a:r>
              <a:rPr lang="en-US" sz="1500" dirty="0">
                <a:solidFill>
                  <a:schemeClr val="tx1"/>
                </a:solidFill>
              </a:rPr>
              <a:t>es $2.423 más cara que Urbana</a:t>
            </a:r>
            <a:endParaRPr lang="en-US" sz="1500" dirty="0"/>
          </a:p>
        </p:txBody>
      </p:sp>
      <p:sp>
        <p:nvSpPr>
          <p:cNvPr id="13" name="Text 11"/>
          <p:cNvSpPr txBox="1"/>
          <p:nvPr/>
        </p:nvSpPr>
        <p:spPr>
          <a:xfrm>
            <a:off x="548640" y="4434840"/>
            <a:ext cx="7315200" cy="365760"/>
          </a:xfrm>
          <a:prstGeom prst="rect">
            <a:avLst/>
          </a:prstGeom>
          <a:noFill/>
          <a:ln/>
        </p:spPr>
        <p:txBody>
          <a:bodyPr wrap="square" lIns="0" tIns="0" rIns="0" bIns="0" rtlCol="0" anchor="t"/>
          <a:lstStyle/>
          <a:p>
            <a:pPr indent="0" marL="0">
              <a:buNone/>
            </a:pPr>
            <a:r>
              <a:rPr lang="en-US" sz="1800" b="1" dirty="0">
                <a:solidFill>
                  <a:schemeClr val="tx2"/>
                </a:solidFill>
              </a:rPr>
              <a:t>Otros casos del laboratorio</a:t>
            </a:r>
            <a:endParaRPr lang="en-US" sz="1800" dirty="0"/>
          </a:p>
        </p:txBody>
      </p:sp>
      <p:sp>
        <p:nvSpPr>
          <p:cNvPr id="14" name="Text 12"/>
          <p:cNvSpPr txBox="1"/>
          <p:nvPr/>
        </p:nvSpPr>
        <p:spPr>
          <a:xfrm>
            <a:off x="548640" y="4846320"/>
            <a:ext cx="11064240" cy="15544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A026 (satisfacción 6): Urgencias subiría de 2,64 a 2,92 y el problema se vería menor</a:t>
            </a:r>
            <a:endParaRPr lang="en-US" sz="1500" dirty="0"/>
          </a:p>
          <a:p>
            <a:pPr marL="342900" indent="-342900">
              <a:spcAft>
                <a:spcPts val="600"/>
              </a:spcAft>
              <a:buSzPct val="100000"/>
              <a:buChar char="•"/>
            </a:pPr>
            <a:r>
              <a:rPr lang="en-US" sz="1500" dirty="0">
                <a:solidFill>
                  <a:schemeClr val="tx1"/>
                </a:solidFill>
              </a:rPr>
              <a:t>A018 (espera vacía) tratada como 0: Norte bajaría de 33,0 a 30,0 minutos</a:t>
            </a:r>
            <a:endParaRPr lang="en-US" sz="1500" dirty="0"/>
          </a:p>
          <a:p>
            <a:pPr marL="342900" indent="-342900">
              <a:spcAft>
                <a:spcPts val="600"/>
              </a:spcAft>
              <a:buSzPct val="100000"/>
              <a:buChar char="•"/>
            </a:pPr>
            <a:r>
              <a:rPr lang="en-US" sz="1500" dirty="0">
                <a:solidFill>
                  <a:schemeClr val="tx1"/>
                </a:solidFill>
              </a:rPr>
              <a:t>V028 ("web ") sin recortar: Web aparecería con $360.000 menos en una categoría aparte</a:t>
            </a:r>
            <a:endParaRPr lang="en-US" sz="1500" dirty="0"/>
          </a:p>
          <a:p>
            <a:pPr marL="342900" indent="-342900">
              <a:spcAft>
                <a:spcPts val="600"/>
              </a:spcAft>
              <a:buSzPct val="100000"/>
              <a:buChar char="•"/>
            </a:pPr>
            <a:r>
              <a:rPr lang="en-US" sz="1500" dirty="0">
                <a:solidFill>
                  <a:schemeClr val="tx1"/>
                </a:solidFill>
              </a:rPr>
              <a:t>V020: sobrefacturación de $25.000 que solo se ve al comparar con el ingreso esperado</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LOAD — datos originales vs datos preparados</a:t>
            </a:r>
            <a:endParaRPr lang="en-US" sz="3000" dirty="0"/>
          </a:p>
        </p:txBody>
      </p:sp>
      <p:sp>
        <p:nvSpPr>
          <p:cNvPr id="3" name="Shape 1"/>
          <p:cNvSpPr/>
          <p:nvPr/>
        </p:nvSpPr>
        <p:spPr>
          <a:xfrm>
            <a:off x="548640" y="1371600"/>
            <a:ext cx="5440680" cy="2194560"/>
          </a:xfrm>
          <a:prstGeom prst="roundRect">
            <a:avLst>
              <a:gd name="adj" fmla="val 3333"/>
            </a:avLst>
          </a:prstGeom>
          <a:solidFill>
            <a:schemeClr val="bg2"/>
          </a:solidFill>
          <a:ln w="12700">
            <a:solidFill>
              <a:schemeClr val="bg2"/>
            </a:solidFill>
            <a:prstDash val="solid"/>
          </a:ln>
        </p:spPr>
      </p:sp>
      <p:sp>
        <p:nvSpPr>
          <p:cNvPr id="4" name="Text 2"/>
          <p:cNvSpPr txBox="1"/>
          <p:nvPr/>
        </p:nvSpPr>
        <p:spPr>
          <a:xfrm>
            <a:off x="731520" y="1463040"/>
            <a:ext cx="5029200" cy="365760"/>
          </a:xfrm>
          <a:prstGeom prst="rect">
            <a:avLst/>
          </a:prstGeom>
          <a:noFill/>
          <a:ln/>
        </p:spPr>
        <p:txBody>
          <a:bodyPr wrap="square" lIns="0" tIns="0" rIns="0" bIns="0" rtlCol="0" anchor="t"/>
          <a:lstStyle/>
          <a:p>
            <a:pPr indent="0" marL="0">
              <a:buNone/>
            </a:pPr>
            <a:r>
              <a:rPr lang="en-US" sz="1900" b="1" dirty="0">
                <a:solidFill>
                  <a:schemeClr val="accent2"/>
                </a:solidFill>
              </a:rPr>
              <a:t>Originales</a:t>
            </a:r>
            <a:endParaRPr lang="en-US" sz="1900" dirty="0"/>
          </a:p>
        </p:txBody>
      </p:sp>
      <p:sp>
        <p:nvSpPr>
          <p:cNvPr id="5" name="Text 3"/>
          <p:cNvSpPr txBox="1"/>
          <p:nvPr/>
        </p:nvSpPr>
        <p:spPr>
          <a:xfrm>
            <a:off x="731520" y="1920240"/>
            <a:ext cx="507492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Copia tal como llegó de la fuente</a:t>
            </a:r>
            <a:endParaRPr lang="en-US" sz="1500" dirty="0"/>
          </a:p>
          <a:p>
            <a:pPr marL="342900" indent="-342900">
              <a:spcAft>
                <a:spcPts val="600"/>
              </a:spcAft>
              <a:buSzPct val="100000"/>
              <a:buChar char="•"/>
            </a:pPr>
            <a:r>
              <a:rPr lang="en-US" sz="1500" dirty="0">
                <a:solidFill>
                  <a:schemeClr val="tx1"/>
                </a:solidFill>
              </a:rPr>
              <a:t>Con todas sus anomalías</a:t>
            </a:r>
            <a:endParaRPr lang="en-US" sz="1500" dirty="0"/>
          </a:p>
          <a:p>
            <a:pPr marL="342900" indent="-342900">
              <a:spcAft>
                <a:spcPts val="600"/>
              </a:spcAft>
              <a:buSzPct val="100000"/>
              <a:buChar char="•"/>
            </a:pPr>
            <a:r>
              <a:rPr lang="en-US" sz="1500" dirty="0">
                <a:solidFill>
                  <a:schemeClr val="tx1"/>
                </a:solidFill>
              </a:rPr>
              <a:t>Sirven de evidencia; no se tocan</a:t>
            </a:r>
            <a:endParaRPr lang="en-US" sz="1500" dirty="0"/>
          </a:p>
          <a:p>
            <a:pPr marL="342900" indent="-342900">
              <a:spcAft>
                <a:spcPts val="600"/>
              </a:spcAft>
              <a:buSzPct val="100000"/>
              <a:buChar char="•"/>
            </a:pPr>
            <a:r>
              <a:rPr lang="en-US" sz="1500" dirty="0">
                <a:solidFill>
                  <a:schemeClr val="tx1"/>
                </a:solidFill>
              </a:rPr>
              <a:t>Cargarlos produce cifras no confiables</a:t>
            </a:r>
            <a:endParaRPr lang="en-US" sz="1500" dirty="0"/>
          </a:p>
        </p:txBody>
      </p:sp>
      <p:sp>
        <p:nvSpPr>
          <p:cNvPr id="6" name="Shape 4"/>
          <p:cNvSpPr/>
          <p:nvPr/>
        </p:nvSpPr>
        <p:spPr>
          <a:xfrm>
            <a:off x="6199632" y="1371600"/>
            <a:ext cx="5440680" cy="2194560"/>
          </a:xfrm>
          <a:prstGeom prst="roundRect">
            <a:avLst>
              <a:gd name="adj" fmla="val 3333"/>
            </a:avLst>
          </a:prstGeom>
          <a:solidFill>
            <a:schemeClr val="bg2"/>
          </a:solidFill>
          <a:ln w="12700">
            <a:solidFill>
              <a:schemeClr val="bg2"/>
            </a:solidFill>
            <a:prstDash val="solid"/>
          </a:ln>
        </p:spPr>
      </p:sp>
      <p:sp>
        <p:nvSpPr>
          <p:cNvPr id="7" name="Text 5"/>
          <p:cNvSpPr txBox="1"/>
          <p:nvPr/>
        </p:nvSpPr>
        <p:spPr>
          <a:xfrm>
            <a:off x="6382512" y="1463040"/>
            <a:ext cx="5029200" cy="365760"/>
          </a:xfrm>
          <a:prstGeom prst="rect">
            <a:avLst/>
          </a:prstGeom>
          <a:noFill/>
          <a:ln/>
        </p:spPr>
        <p:txBody>
          <a:bodyPr wrap="square" lIns="0" tIns="0" rIns="0" bIns="0" rtlCol="0" anchor="t"/>
          <a:lstStyle/>
          <a:p>
            <a:pPr indent="0" marL="0">
              <a:buNone/>
            </a:pPr>
            <a:r>
              <a:rPr lang="en-US" sz="1900" b="1" dirty="0">
                <a:solidFill>
                  <a:schemeClr val="accent1"/>
                </a:solidFill>
              </a:rPr>
              <a:t>Preparados</a:t>
            </a:r>
            <a:endParaRPr lang="en-US" sz="1900" dirty="0"/>
          </a:p>
        </p:txBody>
      </p:sp>
      <p:sp>
        <p:nvSpPr>
          <p:cNvPr id="8" name="Text 6"/>
          <p:cNvSpPr txBox="1"/>
          <p:nvPr/>
        </p:nvSpPr>
        <p:spPr>
          <a:xfrm>
            <a:off x="6382512" y="1920240"/>
            <a:ext cx="5074920" cy="1600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Resultado de aplicar las transformaciones</a:t>
            </a:r>
            <a:endParaRPr lang="en-US" sz="1500" dirty="0"/>
          </a:p>
          <a:p>
            <a:pPr marL="342900" indent="-342900">
              <a:spcAft>
                <a:spcPts val="600"/>
              </a:spcAft>
              <a:buSzPct val="100000"/>
              <a:buChar char="•"/>
            </a:pPr>
            <a:r>
              <a:rPr lang="en-US" sz="1500" dirty="0">
                <a:solidFill>
                  <a:schemeClr val="tx1"/>
                </a:solidFill>
              </a:rPr>
              <a:t>Alimentan indicadores y gráficos</a:t>
            </a:r>
            <a:endParaRPr lang="en-US" sz="1500" dirty="0"/>
          </a:p>
          <a:p>
            <a:pPr marL="342900" indent="-342900">
              <a:spcAft>
                <a:spcPts val="600"/>
              </a:spcAft>
              <a:buSzPct val="100000"/>
              <a:buChar char="•"/>
            </a:pPr>
            <a:r>
              <a:rPr lang="en-US" sz="1500" dirty="0">
                <a:solidFill>
                  <a:schemeClr val="tx1"/>
                </a:solidFill>
              </a:rPr>
              <a:t>Con columnas que marcan lo cambiado</a:t>
            </a:r>
            <a:endParaRPr lang="en-US" sz="1500" dirty="0"/>
          </a:p>
          <a:p>
            <a:pPr marL="342900" indent="-342900">
              <a:spcAft>
                <a:spcPts val="600"/>
              </a:spcAft>
              <a:buSzPct val="100000"/>
              <a:buChar char="•"/>
            </a:pPr>
            <a:r>
              <a:rPr lang="en-US" sz="1500" dirty="0">
                <a:solidFill>
                  <a:schemeClr val="tx1"/>
                </a:solidFill>
              </a:rPr>
              <a:t>Sin documentar, nadie puede comprobarlos</a:t>
            </a:r>
            <a:endParaRPr lang="en-US" sz="1500" dirty="0"/>
          </a:p>
        </p:txBody>
      </p:sp>
      <p:sp>
        <p:nvSpPr>
          <p:cNvPr id="9" name="Text 7"/>
          <p:cNvSpPr txBox="1"/>
          <p:nvPr/>
        </p:nvSpPr>
        <p:spPr>
          <a:xfrm>
            <a:off x="548640" y="3749040"/>
            <a:ext cx="7315200" cy="365760"/>
          </a:xfrm>
          <a:prstGeom prst="rect">
            <a:avLst/>
          </a:prstGeom>
          <a:noFill/>
          <a:ln/>
        </p:spPr>
        <p:txBody>
          <a:bodyPr wrap="square" lIns="0" tIns="0" rIns="0" bIns="0" rtlCol="0" anchor="t"/>
          <a:lstStyle/>
          <a:p>
            <a:pPr indent="0" marL="0">
              <a:buNone/>
            </a:pPr>
            <a:r>
              <a:rPr lang="en-US" sz="1900" b="1" dirty="0">
                <a:solidFill>
                  <a:schemeClr val="tx2"/>
                </a:solidFill>
              </a:rPr>
              <a:t>Cómo conservo la trazabilidad</a:t>
            </a:r>
            <a:endParaRPr lang="en-US" sz="1900" dirty="0"/>
          </a:p>
        </p:txBody>
      </p:sp>
      <p:sp>
        <p:nvSpPr>
          <p:cNvPr id="10" name="Shape 8"/>
          <p:cNvSpPr/>
          <p:nvPr/>
        </p:nvSpPr>
        <p:spPr>
          <a:xfrm>
            <a:off x="548640" y="4206240"/>
            <a:ext cx="3611880" cy="914400"/>
          </a:xfrm>
          <a:prstGeom prst="roundRect">
            <a:avLst>
              <a:gd name="adj" fmla="val 8000"/>
            </a:avLst>
          </a:prstGeom>
          <a:solidFill>
            <a:schemeClr val="bg2"/>
          </a:solidFill>
          <a:ln w="12700">
            <a:solidFill>
              <a:schemeClr val="bg2"/>
            </a:solidFill>
            <a:prstDash val="solid"/>
          </a:ln>
        </p:spPr>
      </p:sp>
      <p:sp>
        <p:nvSpPr>
          <p:cNvPr id="11" name="Text 9"/>
          <p:cNvSpPr txBox="1"/>
          <p:nvPr/>
        </p:nvSpPr>
        <p:spPr>
          <a:xfrm>
            <a:off x="658368" y="4297680"/>
            <a:ext cx="365760" cy="731520"/>
          </a:xfrm>
          <a:prstGeom prst="rect">
            <a:avLst/>
          </a:prstGeom>
          <a:noFill/>
          <a:ln/>
        </p:spPr>
        <p:txBody>
          <a:bodyPr wrap="square" lIns="0" tIns="0" rIns="0" bIns="0" rtlCol="0" anchor="ctr"/>
          <a:lstStyle/>
          <a:p>
            <a:pPr indent="0" marL="0">
              <a:buNone/>
            </a:pPr>
            <a:r>
              <a:rPr lang="en-US" sz="2400" b="1" dirty="0">
                <a:solidFill>
                  <a:schemeClr val="accent1"/>
                </a:solidFill>
              </a:rPr>
              <a:t>1</a:t>
            </a:r>
            <a:endParaRPr lang="en-US" sz="2400" dirty="0"/>
          </a:p>
        </p:txBody>
      </p:sp>
      <p:sp>
        <p:nvSpPr>
          <p:cNvPr id="12" name="Text 10"/>
          <p:cNvSpPr txBox="1"/>
          <p:nvPr/>
        </p:nvSpPr>
        <p:spPr>
          <a:xfrm>
            <a:off x="1097280" y="4279392"/>
            <a:ext cx="2971800" cy="777240"/>
          </a:xfrm>
          <a:prstGeom prst="rect">
            <a:avLst/>
          </a:prstGeom>
          <a:noFill/>
          <a:ln/>
        </p:spPr>
        <p:txBody>
          <a:bodyPr wrap="square" lIns="0" tIns="0" rIns="0" bIns="0" rtlCol="0" anchor="ctr"/>
          <a:lstStyle/>
          <a:p>
            <a:pPr indent="0" marL="0">
              <a:buNone/>
            </a:pPr>
            <a:r>
              <a:rPr lang="en-US" sz="1300" dirty="0">
                <a:solidFill>
                  <a:schemeClr val="tx1"/>
                </a:solidFill>
              </a:rPr>
              <a:t>Originales intactos; limpios en archivos nuevos (_Limpio.csv)</a:t>
            </a:r>
            <a:endParaRPr lang="en-US" sz="1300" dirty="0"/>
          </a:p>
        </p:txBody>
      </p:sp>
      <p:sp>
        <p:nvSpPr>
          <p:cNvPr id="13" name="Shape 11"/>
          <p:cNvSpPr/>
          <p:nvPr/>
        </p:nvSpPr>
        <p:spPr>
          <a:xfrm>
            <a:off x="4297680" y="4206240"/>
            <a:ext cx="3611880" cy="914400"/>
          </a:xfrm>
          <a:prstGeom prst="roundRect">
            <a:avLst>
              <a:gd name="adj" fmla="val 8000"/>
            </a:avLst>
          </a:prstGeom>
          <a:solidFill>
            <a:schemeClr val="bg2"/>
          </a:solidFill>
          <a:ln w="12700">
            <a:solidFill>
              <a:schemeClr val="bg2"/>
            </a:solidFill>
            <a:prstDash val="solid"/>
          </a:ln>
        </p:spPr>
      </p:sp>
      <p:sp>
        <p:nvSpPr>
          <p:cNvPr id="14" name="Text 12"/>
          <p:cNvSpPr txBox="1"/>
          <p:nvPr/>
        </p:nvSpPr>
        <p:spPr>
          <a:xfrm>
            <a:off x="4407408" y="4297680"/>
            <a:ext cx="365760" cy="731520"/>
          </a:xfrm>
          <a:prstGeom prst="rect">
            <a:avLst/>
          </a:prstGeom>
          <a:noFill/>
          <a:ln/>
        </p:spPr>
        <p:txBody>
          <a:bodyPr wrap="square" lIns="0" tIns="0" rIns="0" bIns="0" rtlCol="0" anchor="ctr"/>
          <a:lstStyle/>
          <a:p>
            <a:pPr indent="0" marL="0">
              <a:buNone/>
            </a:pPr>
            <a:r>
              <a:rPr lang="en-US" sz="2400" b="1" dirty="0">
                <a:solidFill>
                  <a:schemeClr val="accent1"/>
                </a:solidFill>
              </a:rPr>
              <a:t>2</a:t>
            </a:r>
            <a:endParaRPr lang="en-US" sz="2400" dirty="0"/>
          </a:p>
        </p:txBody>
      </p:sp>
      <p:sp>
        <p:nvSpPr>
          <p:cNvPr id="15" name="Text 13"/>
          <p:cNvSpPr txBox="1"/>
          <p:nvPr/>
        </p:nvSpPr>
        <p:spPr>
          <a:xfrm>
            <a:off x="4846320" y="4279392"/>
            <a:ext cx="2971800" cy="777240"/>
          </a:xfrm>
          <a:prstGeom prst="rect">
            <a:avLst/>
          </a:prstGeom>
          <a:noFill/>
          <a:ln/>
        </p:spPr>
        <p:txBody>
          <a:bodyPr wrap="square" lIns="0" tIns="0" rIns="0" bIns="0" rtlCol="0" anchor="ctr"/>
          <a:lstStyle/>
          <a:p>
            <a:pPr indent="0" marL="0">
              <a:buNone/>
            </a:pPr>
            <a:r>
              <a:rPr lang="en-US" sz="1300" dirty="0">
                <a:solidFill>
                  <a:schemeClr val="tx1"/>
                </a:solidFill>
              </a:rPr>
              <a:t>Power BI: Pasos aplicados · Python: notebook comentado</a:t>
            </a:r>
            <a:endParaRPr lang="en-US" sz="1300" dirty="0"/>
          </a:p>
        </p:txBody>
      </p:sp>
      <p:sp>
        <p:nvSpPr>
          <p:cNvPr id="16" name="Shape 14"/>
          <p:cNvSpPr/>
          <p:nvPr/>
        </p:nvSpPr>
        <p:spPr>
          <a:xfrm>
            <a:off x="8046720" y="4206240"/>
            <a:ext cx="3611880" cy="914400"/>
          </a:xfrm>
          <a:prstGeom prst="roundRect">
            <a:avLst>
              <a:gd name="adj" fmla="val 8000"/>
            </a:avLst>
          </a:prstGeom>
          <a:solidFill>
            <a:schemeClr val="bg2"/>
          </a:solidFill>
          <a:ln w="12700">
            <a:solidFill>
              <a:schemeClr val="bg2"/>
            </a:solidFill>
            <a:prstDash val="solid"/>
          </a:ln>
        </p:spPr>
      </p:sp>
      <p:sp>
        <p:nvSpPr>
          <p:cNvPr id="17" name="Text 15"/>
          <p:cNvSpPr txBox="1"/>
          <p:nvPr/>
        </p:nvSpPr>
        <p:spPr>
          <a:xfrm>
            <a:off x="8156448" y="4297680"/>
            <a:ext cx="365760" cy="731520"/>
          </a:xfrm>
          <a:prstGeom prst="rect">
            <a:avLst/>
          </a:prstGeom>
          <a:noFill/>
          <a:ln/>
        </p:spPr>
        <p:txBody>
          <a:bodyPr wrap="square" lIns="0" tIns="0" rIns="0" bIns="0" rtlCol="0" anchor="ctr"/>
          <a:lstStyle/>
          <a:p>
            <a:pPr indent="0" marL="0">
              <a:buNone/>
            </a:pPr>
            <a:r>
              <a:rPr lang="en-US" sz="2400" b="1" dirty="0">
                <a:solidFill>
                  <a:schemeClr val="accent1"/>
                </a:solidFill>
              </a:rPr>
              <a:t>3</a:t>
            </a:r>
            <a:endParaRPr lang="en-US" sz="2400" dirty="0"/>
          </a:p>
        </p:txBody>
      </p:sp>
      <p:sp>
        <p:nvSpPr>
          <p:cNvPr id="18" name="Text 16"/>
          <p:cNvSpPr txBox="1"/>
          <p:nvPr/>
        </p:nvSpPr>
        <p:spPr>
          <a:xfrm>
            <a:off x="8595360" y="4279392"/>
            <a:ext cx="2971800" cy="777240"/>
          </a:xfrm>
          <a:prstGeom prst="rect">
            <a:avLst/>
          </a:prstGeom>
          <a:noFill/>
          <a:ln/>
        </p:spPr>
        <p:txBody>
          <a:bodyPr wrap="square" lIns="0" tIns="0" rIns="0" bIns="0" rtlCol="0" anchor="ctr"/>
          <a:lstStyle/>
          <a:p>
            <a:pPr indent="0" marL="0">
              <a:buNone/>
            </a:pPr>
            <a:r>
              <a:rPr lang="en-US" sz="1300" dirty="0">
                <a:solidFill>
                  <a:schemeClr val="tx1"/>
                </a:solidFill>
              </a:rPr>
              <a:t>Columnas bandera: Costo_invalido, Tiempo_invalido, Compras_invalida, Gasto_faltante</a:t>
            </a:r>
            <a:endParaRPr lang="en-US" sz="1300" dirty="0"/>
          </a:p>
        </p:txBody>
      </p:sp>
      <p:sp>
        <p:nvSpPr>
          <p:cNvPr id="19" name="Shape 17"/>
          <p:cNvSpPr/>
          <p:nvPr/>
        </p:nvSpPr>
        <p:spPr>
          <a:xfrm>
            <a:off x="548640" y="5257800"/>
            <a:ext cx="3611880" cy="914400"/>
          </a:xfrm>
          <a:prstGeom prst="roundRect">
            <a:avLst>
              <a:gd name="adj" fmla="val 8000"/>
            </a:avLst>
          </a:prstGeom>
          <a:solidFill>
            <a:schemeClr val="bg2"/>
          </a:solidFill>
          <a:ln w="12700">
            <a:solidFill>
              <a:schemeClr val="bg2"/>
            </a:solidFill>
            <a:prstDash val="solid"/>
          </a:ln>
        </p:spPr>
      </p:sp>
      <p:sp>
        <p:nvSpPr>
          <p:cNvPr id="20" name="Text 18"/>
          <p:cNvSpPr txBox="1"/>
          <p:nvPr/>
        </p:nvSpPr>
        <p:spPr>
          <a:xfrm>
            <a:off x="658368" y="5349240"/>
            <a:ext cx="365760" cy="731520"/>
          </a:xfrm>
          <a:prstGeom prst="rect">
            <a:avLst/>
          </a:prstGeom>
          <a:noFill/>
          <a:ln/>
        </p:spPr>
        <p:txBody>
          <a:bodyPr wrap="square" lIns="0" tIns="0" rIns="0" bIns="0" rtlCol="0" anchor="ctr"/>
          <a:lstStyle/>
          <a:p>
            <a:pPr indent="0" marL="0">
              <a:buNone/>
            </a:pPr>
            <a:r>
              <a:rPr lang="en-US" sz="2400" b="1" dirty="0">
                <a:solidFill>
                  <a:schemeClr val="accent1"/>
                </a:solidFill>
              </a:rPr>
              <a:t>4</a:t>
            </a:r>
            <a:endParaRPr lang="en-US" sz="2400" dirty="0"/>
          </a:p>
        </p:txBody>
      </p:sp>
      <p:sp>
        <p:nvSpPr>
          <p:cNvPr id="21" name="Text 19"/>
          <p:cNvSpPr txBox="1"/>
          <p:nvPr/>
        </p:nvSpPr>
        <p:spPr>
          <a:xfrm>
            <a:off x="1097280" y="5330952"/>
            <a:ext cx="2971800" cy="777240"/>
          </a:xfrm>
          <a:prstGeom prst="rect">
            <a:avLst/>
          </a:prstGeom>
          <a:noFill/>
          <a:ln/>
        </p:spPr>
        <p:txBody>
          <a:bodyPr wrap="square" lIns="0" tIns="0" rIns="0" bIns="0" rtlCol="0" anchor="ctr"/>
          <a:lstStyle/>
          <a:p>
            <a:pPr indent="0" marL="0">
              <a:buNone/>
            </a:pPr>
            <a:r>
              <a:rPr lang="en-US" sz="1300" dirty="0">
                <a:solidFill>
                  <a:schemeClr val="tx1"/>
                </a:solidFill>
              </a:rPr>
              <a:t>Mismas 36 filas antes y después: nada se borra</a:t>
            </a:r>
            <a:endParaRPr lang="en-US" sz="1300" dirty="0"/>
          </a:p>
        </p:txBody>
      </p:sp>
      <p:sp>
        <p:nvSpPr>
          <p:cNvPr id="22" name="Shape 20"/>
          <p:cNvSpPr/>
          <p:nvPr/>
        </p:nvSpPr>
        <p:spPr>
          <a:xfrm>
            <a:off x="4297680" y="5257800"/>
            <a:ext cx="3611880" cy="914400"/>
          </a:xfrm>
          <a:prstGeom prst="roundRect">
            <a:avLst>
              <a:gd name="adj" fmla="val 8000"/>
            </a:avLst>
          </a:prstGeom>
          <a:solidFill>
            <a:schemeClr val="bg2"/>
          </a:solidFill>
          <a:ln w="12700">
            <a:solidFill>
              <a:schemeClr val="bg2"/>
            </a:solidFill>
            <a:prstDash val="solid"/>
          </a:ln>
        </p:spPr>
      </p:sp>
      <p:sp>
        <p:nvSpPr>
          <p:cNvPr id="23" name="Text 21"/>
          <p:cNvSpPr txBox="1"/>
          <p:nvPr/>
        </p:nvSpPr>
        <p:spPr>
          <a:xfrm>
            <a:off x="4407408" y="5349240"/>
            <a:ext cx="365760" cy="731520"/>
          </a:xfrm>
          <a:prstGeom prst="rect">
            <a:avLst/>
          </a:prstGeom>
          <a:noFill/>
          <a:ln/>
        </p:spPr>
        <p:txBody>
          <a:bodyPr wrap="square" lIns="0" tIns="0" rIns="0" bIns="0" rtlCol="0" anchor="ctr"/>
          <a:lstStyle/>
          <a:p>
            <a:pPr indent="0" marL="0">
              <a:buNone/>
            </a:pPr>
            <a:r>
              <a:rPr lang="en-US" sz="2400" b="1" dirty="0">
                <a:solidFill>
                  <a:schemeClr val="accent1"/>
                </a:solidFill>
              </a:rPr>
              <a:t>5</a:t>
            </a:r>
            <a:endParaRPr lang="en-US" sz="2400" dirty="0"/>
          </a:p>
        </p:txBody>
      </p:sp>
      <p:sp>
        <p:nvSpPr>
          <p:cNvPr id="24" name="Text 22"/>
          <p:cNvSpPr txBox="1"/>
          <p:nvPr/>
        </p:nvSpPr>
        <p:spPr>
          <a:xfrm>
            <a:off x="4846320" y="5330952"/>
            <a:ext cx="2971800" cy="777240"/>
          </a:xfrm>
          <a:prstGeom prst="rect">
            <a:avLst/>
          </a:prstGeom>
          <a:noFill/>
          <a:ln/>
        </p:spPr>
        <p:txBody>
          <a:bodyPr wrap="square" lIns="0" tIns="0" rIns="0" bIns="0" rtlCol="0" anchor="ctr"/>
          <a:lstStyle/>
          <a:p>
            <a:pPr indent="0" marL="0">
              <a:buNone/>
            </a:pPr>
            <a:r>
              <a:rPr lang="en-US" sz="1300" dirty="0">
                <a:solidFill>
                  <a:schemeClr val="tx1"/>
                </a:solidFill>
              </a:rPr>
              <a:t>Bitácora de 12 cambios: valor original, tratamiento, resultado</a:t>
            </a:r>
            <a:endParaRPr lang="en-US" sz="13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Tres conclusiones</a:t>
            </a:r>
            <a:endParaRPr lang="en-US" sz="3000" dirty="0"/>
          </a:p>
        </p:txBody>
      </p:sp>
      <p:sp>
        <p:nvSpPr>
          <p:cNvPr id="3" name="Shape 1"/>
          <p:cNvSpPr/>
          <p:nvPr/>
        </p:nvSpPr>
        <p:spPr>
          <a:xfrm>
            <a:off x="548640" y="1371600"/>
            <a:ext cx="3611880" cy="4846320"/>
          </a:xfrm>
          <a:prstGeom prst="roundRect">
            <a:avLst>
              <a:gd name="adj" fmla="val 2025"/>
            </a:avLst>
          </a:prstGeom>
          <a:solidFill>
            <a:schemeClr val="bg2"/>
          </a:solidFill>
          <a:ln w="12700">
            <a:solidFill>
              <a:schemeClr val="bg2"/>
            </a:solidFill>
            <a:prstDash val="solid"/>
          </a:ln>
        </p:spPr>
      </p:sp>
      <p:sp>
        <p:nvSpPr>
          <p:cNvPr id="4" name="Shape 2"/>
          <p:cNvSpPr/>
          <p:nvPr/>
        </p:nvSpPr>
        <p:spPr>
          <a:xfrm>
            <a:off x="777240" y="1600200"/>
            <a:ext cx="640080" cy="640080"/>
          </a:xfrm>
          <a:prstGeom prst="ellipse">
            <a:avLst/>
          </a:prstGeom>
          <a:solidFill>
            <a:schemeClr val="accent1"/>
          </a:solidFill>
          <a:ln w="12700">
            <a:solidFill>
              <a:schemeClr val="accent1"/>
            </a:solidFill>
            <a:prstDash val="solid"/>
          </a:ln>
        </p:spPr>
      </p:sp>
      <p:sp>
        <p:nvSpPr>
          <p:cNvPr id="5" name="Text 3"/>
          <p:cNvSpPr txBox="1"/>
          <p:nvPr/>
        </p:nvSpPr>
        <p:spPr>
          <a:xfrm>
            <a:off x="777240" y="1600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777240" y="2423160"/>
            <a:ext cx="3154680" cy="868680"/>
          </a:xfrm>
          <a:prstGeom prst="rect">
            <a:avLst/>
          </a:prstGeom>
          <a:noFill/>
          <a:ln/>
        </p:spPr>
        <p:txBody>
          <a:bodyPr wrap="square" lIns="0" tIns="0" rIns="0" bIns="0" rtlCol="0" anchor="t"/>
          <a:lstStyle/>
          <a:p>
            <a:pPr indent="0" marL="0">
              <a:buNone/>
            </a:pPr>
            <a:r>
              <a:rPr lang="en-US" sz="1900" b="1" dirty="0">
                <a:solidFill>
                  <a:schemeClr val="tx2"/>
                </a:solidFill>
              </a:rPr>
              <a:t>Problemas pequeños, efecto real</a:t>
            </a:r>
            <a:endParaRPr lang="en-US" sz="1900" dirty="0"/>
          </a:p>
        </p:txBody>
      </p:sp>
      <p:sp>
        <p:nvSpPr>
          <p:cNvPr id="7" name="Text 5"/>
          <p:cNvSpPr txBox="1"/>
          <p:nvPr/>
        </p:nvSpPr>
        <p:spPr>
          <a:xfrm>
            <a:off x="777240" y="3383280"/>
            <a:ext cx="3154680" cy="2651760"/>
          </a:xfrm>
          <a:prstGeom prst="rect">
            <a:avLst/>
          </a:prstGeom>
          <a:noFill/>
          <a:ln/>
        </p:spPr>
        <p:txBody>
          <a:bodyPr wrap="square" lIns="0" tIns="0" rIns="0" bIns="0" rtlCol="0" anchor="t"/>
          <a:lstStyle/>
          <a:p>
            <a:pPr indent="0" marL="0">
              <a:buNone/>
            </a:pPr>
            <a:r>
              <a:rPr lang="en-US" sz="1500" dirty="0">
                <a:solidFill>
                  <a:schemeClr val="tx1"/>
                </a:solidFill>
              </a:rPr>
              <a:t>12 de 144 registros (8,3 %) tenían anomalías. Todas se trataron sin borrar filas ni inventar valores, y varias cambiaban una conclusión (E022 invierte Rural–Urbana; A026 oculta parte del problema de Urgencias).</a:t>
            </a:r>
            <a:endParaRPr lang="en-US" sz="1500" dirty="0"/>
          </a:p>
        </p:txBody>
      </p:sp>
      <p:sp>
        <p:nvSpPr>
          <p:cNvPr id="8" name="Shape 6"/>
          <p:cNvSpPr/>
          <p:nvPr/>
        </p:nvSpPr>
        <p:spPr>
          <a:xfrm>
            <a:off x="4297680" y="1371600"/>
            <a:ext cx="3611880" cy="4846320"/>
          </a:xfrm>
          <a:prstGeom prst="roundRect">
            <a:avLst>
              <a:gd name="adj" fmla="val 2025"/>
            </a:avLst>
          </a:prstGeom>
          <a:solidFill>
            <a:schemeClr val="bg2"/>
          </a:solidFill>
          <a:ln w="12700">
            <a:solidFill>
              <a:schemeClr val="bg2"/>
            </a:solidFill>
            <a:prstDash val="solid"/>
          </a:ln>
        </p:spPr>
      </p:sp>
      <p:sp>
        <p:nvSpPr>
          <p:cNvPr id="9" name="Shape 7"/>
          <p:cNvSpPr/>
          <p:nvPr/>
        </p:nvSpPr>
        <p:spPr>
          <a:xfrm>
            <a:off x="4526280" y="1600200"/>
            <a:ext cx="640080" cy="640080"/>
          </a:xfrm>
          <a:prstGeom prst="ellipse">
            <a:avLst/>
          </a:prstGeom>
          <a:solidFill>
            <a:schemeClr val="accent1"/>
          </a:solidFill>
          <a:ln w="12700">
            <a:solidFill>
              <a:schemeClr val="accent1"/>
            </a:solidFill>
            <a:prstDash val="solid"/>
          </a:ln>
        </p:spPr>
      </p:sp>
      <p:sp>
        <p:nvSpPr>
          <p:cNvPr id="10" name="Text 8"/>
          <p:cNvSpPr txBox="1"/>
          <p:nvPr/>
        </p:nvSpPr>
        <p:spPr>
          <a:xfrm>
            <a:off x="4526280" y="1600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 9"/>
          <p:cNvSpPr txBox="1"/>
          <p:nvPr/>
        </p:nvSpPr>
        <p:spPr>
          <a:xfrm>
            <a:off x="4526280" y="2423160"/>
            <a:ext cx="3154680" cy="868680"/>
          </a:xfrm>
          <a:prstGeom prst="rect">
            <a:avLst/>
          </a:prstGeom>
          <a:noFill/>
          <a:ln/>
        </p:spPr>
        <p:txBody>
          <a:bodyPr wrap="square" lIns="0" tIns="0" rIns="0" bIns="0" rtlCol="0" anchor="t"/>
          <a:lstStyle/>
          <a:p>
            <a:pPr indent="0" marL="0">
              <a:buNone/>
            </a:pPr>
            <a:r>
              <a:rPr lang="en-US" sz="1900" b="1" dirty="0">
                <a:solidFill>
                  <a:schemeClr val="tx2"/>
                </a:solidFill>
              </a:rPr>
              <a:t>En NovaMarket el ingreso está concentrado</a:t>
            </a:r>
            <a:endParaRPr lang="en-US" sz="1900" dirty="0"/>
          </a:p>
        </p:txBody>
      </p:sp>
      <p:sp>
        <p:nvSpPr>
          <p:cNvPr id="12" name="Text 10"/>
          <p:cNvSpPr txBox="1"/>
          <p:nvPr/>
        </p:nvSpPr>
        <p:spPr>
          <a:xfrm>
            <a:off x="4526280" y="3383280"/>
            <a:ext cx="3154680" cy="2651760"/>
          </a:xfrm>
          <a:prstGeom prst="rect">
            <a:avLst/>
          </a:prstGeom>
          <a:noFill/>
          <a:ln/>
        </p:spPr>
        <p:txBody>
          <a:bodyPr wrap="square" lIns="0" tIns="0" rIns="0" bIns="0" rtlCol="0" anchor="t"/>
          <a:lstStyle/>
          <a:p>
            <a:pPr indent="0" marL="0">
              <a:buNone/>
            </a:pPr>
            <a:r>
              <a:rPr lang="en-US" sz="1500" dirty="0">
                <a:solidFill>
                  <a:schemeClr val="tx1"/>
                </a:solidFill>
              </a:rPr>
              <a:t>Monitor aporta el 34,9 % y Distribuidor el 40,1 %. La facturación es casi exacta (una discrepancia de $25.000). El 38,9 % de los clientes (Alto valor) genera el 69,6 % del gasto.</a:t>
            </a:r>
            <a:endParaRPr lang="en-US" sz="1500" dirty="0"/>
          </a:p>
        </p:txBody>
      </p:sp>
      <p:sp>
        <p:nvSpPr>
          <p:cNvPr id="13" name="Shape 11"/>
          <p:cNvSpPr/>
          <p:nvPr/>
        </p:nvSpPr>
        <p:spPr>
          <a:xfrm>
            <a:off x="8046720" y="1371600"/>
            <a:ext cx="3611880" cy="4846320"/>
          </a:xfrm>
          <a:prstGeom prst="roundRect">
            <a:avLst>
              <a:gd name="adj" fmla="val 2025"/>
            </a:avLst>
          </a:prstGeom>
          <a:solidFill>
            <a:schemeClr val="bg2"/>
          </a:solidFill>
          <a:ln w="12700">
            <a:solidFill>
              <a:schemeClr val="bg2"/>
            </a:solidFill>
            <a:prstDash val="solid"/>
          </a:ln>
        </p:spPr>
      </p:sp>
      <p:sp>
        <p:nvSpPr>
          <p:cNvPr id="14" name="Shape 12"/>
          <p:cNvSpPr/>
          <p:nvPr/>
        </p:nvSpPr>
        <p:spPr>
          <a:xfrm>
            <a:off x="8275320" y="1600200"/>
            <a:ext cx="640080" cy="640080"/>
          </a:xfrm>
          <a:prstGeom prst="ellipse">
            <a:avLst/>
          </a:prstGeom>
          <a:solidFill>
            <a:schemeClr val="accent1"/>
          </a:solidFill>
          <a:ln w="12700">
            <a:solidFill>
              <a:schemeClr val="accent1"/>
            </a:solidFill>
            <a:prstDash val="solid"/>
          </a:ln>
        </p:spPr>
      </p:sp>
      <p:sp>
        <p:nvSpPr>
          <p:cNvPr id="15" name="Text 13"/>
          <p:cNvSpPr txBox="1"/>
          <p:nvPr/>
        </p:nvSpPr>
        <p:spPr>
          <a:xfrm>
            <a:off x="8275320" y="1600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6" name="Text 14"/>
          <p:cNvSpPr txBox="1"/>
          <p:nvPr/>
        </p:nvSpPr>
        <p:spPr>
          <a:xfrm>
            <a:off x="8275320" y="2423160"/>
            <a:ext cx="3154680" cy="868680"/>
          </a:xfrm>
          <a:prstGeom prst="rect">
            <a:avLst/>
          </a:prstGeom>
          <a:noFill/>
          <a:ln/>
        </p:spPr>
        <p:txBody>
          <a:bodyPr wrap="square" lIns="0" tIns="0" rIns="0" bIns="0" rtlCol="0" anchor="t"/>
          <a:lstStyle/>
          <a:p>
            <a:pPr indent="0" marL="0">
              <a:buNone/>
            </a:pPr>
            <a:r>
              <a:rPr lang="en-US" sz="1900" b="1" dirty="0">
                <a:solidFill>
                  <a:schemeClr val="tx2"/>
                </a:solidFill>
              </a:rPr>
              <a:t>VidaPlus y RutaExpress: problemas de servicio generales</a:t>
            </a:r>
            <a:endParaRPr lang="en-US" sz="1900" dirty="0"/>
          </a:p>
        </p:txBody>
      </p:sp>
      <p:sp>
        <p:nvSpPr>
          <p:cNvPr id="17" name="Text 15"/>
          <p:cNvSpPr txBox="1"/>
          <p:nvPr/>
        </p:nvSpPr>
        <p:spPr>
          <a:xfrm>
            <a:off x="8275320" y="3383280"/>
            <a:ext cx="3154680" cy="2651760"/>
          </a:xfrm>
          <a:prstGeom prst="rect">
            <a:avLst/>
          </a:prstGeom>
          <a:noFill/>
          <a:ln/>
        </p:spPr>
        <p:txBody>
          <a:bodyPr wrap="square" lIns="0" tIns="0" rIns="0" bIns="0" rtlCol="0" anchor="t"/>
          <a:lstStyle/>
          <a:p>
            <a:pPr indent="0" marL="0">
              <a:buNone/>
            </a:pPr>
            <a:r>
              <a:rPr lang="en-US" sz="1500" dirty="0">
                <a:solidFill>
                  <a:schemeClr val="tx1"/>
                </a:solidFill>
              </a:rPr>
              <a:t>Sur/Urgencias: 51,0 min, satisfacción 2,64 y todas las cancelaciones. RutaExpress: 60 % de envíos tarde en los tres transportistas y T3 con 100 % devueltos.</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Tres recomendaciones accionables</a:t>
            </a:r>
            <a:endParaRPr lang="en-US" sz="3000" dirty="0"/>
          </a:p>
        </p:txBody>
      </p:sp>
      <p:sp>
        <p:nvSpPr>
          <p:cNvPr id="3" name="Shape 1"/>
          <p:cNvSpPr/>
          <p:nvPr/>
        </p:nvSpPr>
        <p:spPr>
          <a:xfrm>
            <a:off x="548640" y="1371600"/>
            <a:ext cx="3611880" cy="4846320"/>
          </a:xfrm>
          <a:prstGeom prst="roundRect">
            <a:avLst>
              <a:gd name="adj" fmla="val 2025"/>
            </a:avLst>
          </a:prstGeom>
          <a:solidFill>
            <a:schemeClr val="bg2"/>
          </a:solidFill>
          <a:ln w="12700">
            <a:solidFill>
              <a:schemeClr val="bg2"/>
            </a:solidFill>
            <a:prstDash val="solid"/>
          </a:ln>
        </p:spPr>
      </p:sp>
      <p:sp>
        <p:nvSpPr>
          <p:cNvPr id="4" name="Shape 2"/>
          <p:cNvSpPr/>
          <p:nvPr/>
        </p:nvSpPr>
        <p:spPr>
          <a:xfrm>
            <a:off x="777240" y="1600200"/>
            <a:ext cx="640080" cy="640080"/>
          </a:xfrm>
          <a:prstGeom prst="ellipse">
            <a:avLst/>
          </a:prstGeom>
          <a:solidFill>
            <a:schemeClr val="accent2"/>
          </a:solidFill>
          <a:ln w="12700">
            <a:solidFill>
              <a:schemeClr val="accent2"/>
            </a:solidFill>
            <a:prstDash val="solid"/>
          </a:ln>
        </p:spPr>
      </p:sp>
      <p:sp>
        <p:nvSpPr>
          <p:cNvPr id="5" name="Text 3"/>
          <p:cNvSpPr txBox="1"/>
          <p:nvPr/>
        </p:nvSpPr>
        <p:spPr>
          <a:xfrm>
            <a:off x="777240" y="1600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Text 4"/>
          <p:cNvSpPr txBox="1"/>
          <p:nvPr/>
        </p:nvSpPr>
        <p:spPr>
          <a:xfrm>
            <a:off x="777240" y="2423160"/>
            <a:ext cx="3154680" cy="868680"/>
          </a:xfrm>
          <a:prstGeom prst="rect">
            <a:avLst/>
          </a:prstGeom>
          <a:noFill/>
          <a:ln/>
        </p:spPr>
        <p:txBody>
          <a:bodyPr wrap="square" lIns="0" tIns="0" rIns="0" bIns="0" rtlCol="0" anchor="t"/>
          <a:lstStyle/>
          <a:p>
            <a:pPr indent="0" marL="0">
              <a:buNone/>
            </a:pPr>
            <a:r>
              <a:rPr lang="en-US" sz="1900" b="1" dirty="0">
                <a:solidFill>
                  <a:schemeClr val="tx2"/>
                </a:solidFill>
              </a:rPr>
              <a:t>Validar los datos en la fuente</a:t>
            </a:r>
            <a:endParaRPr lang="en-US" sz="1900" dirty="0"/>
          </a:p>
        </p:txBody>
      </p:sp>
      <p:sp>
        <p:nvSpPr>
          <p:cNvPr id="7" name="Text 5"/>
          <p:cNvSpPr txBox="1"/>
          <p:nvPr/>
        </p:nvSpPr>
        <p:spPr>
          <a:xfrm>
            <a:off x="777240" y="3383280"/>
            <a:ext cx="3154680" cy="2651760"/>
          </a:xfrm>
          <a:prstGeom prst="rect">
            <a:avLst/>
          </a:prstGeom>
          <a:noFill/>
          <a:ln/>
        </p:spPr>
        <p:txBody>
          <a:bodyPr wrap="square" lIns="0" tIns="0" rIns="0" bIns="0" rtlCol="0" anchor="t"/>
          <a:lstStyle/>
          <a:p>
            <a:pPr indent="0" marL="0">
              <a:buNone/>
            </a:pPr>
            <a:r>
              <a:rPr lang="en-US" sz="1500" dirty="0">
                <a:solidFill>
                  <a:schemeClr val="tx1"/>
                </a:solidFill>
              </a:rPr>
              <a:t>Listas desplegables para región, canal, sede, zona y ciudad; satisfacción limitada a 1–5; sin costos ni compras negativos; tiempos y gasto obligatorios; ingreso calculado automáticamente. Corregir V020.</a:t>
            </a:r>
            <a:endParaRPr lang="en-US" sz="1500" dirty="0"/>
          </a:p>
        </p:txBody>
      </p:sp>
      <p:sp>
        <p:nvSpPr>
          <p:cNvPr id="8" name="Shape 6"/>
          <p:cNvSpPr/>
          <p:nvPr/>
        </p:nvSpPr>
        <p:spPr>
          <a:xfrm>
            <a:off x="4297680" y="1371600"/>
            <a:ext cx="3611880" cy="4846320"/>
          </a:xfrm>
          <a:prstGeom prst="roundRect">
            <a:avLst>
              <a:gd name="adj" fmla="val 2025"/>
            </a:avLst>
          </a:prstGeom>
          <a:solidFill>
            <a:schemeClr val="bg2"/>
          </a:solidFill>
          <a:ln w="12700">
            <a:solidFill>
              <a:schemeClr val="bg2"/>
            </a:solidFill>
            <a:prstDash val="solid"/>
          </a:ln>
        </p:spPr>
      </p:sp>
      <p:sp>
        <p:nvSpPr>
          <p:cNvPr id="9" name="Shape 7"/>
          <p:cNvSpPr/>
          <p:nvPr/>
        </p:nvSpPr>
        <p:spPr>
          <a:xfrm>
            <a:off x="4526280" y="1600200"/>
            <a:ext cx="640080" cy="640080"/>
          </a:xfrm>
          <a:prstGeom prst="ellipse">
            <a:avLst/>
          </a:prstGeom>
          <a:solidFill>
            <a:schemeClr val="accent2"/>
          </a:solidFill>
          <a:ln w="12700">
            <a:solidFill>
              <a:schemeClr val="accent2"/>
            </a:solidFill>
            <a:prstDash val="solid"/>
          </a:ln>
        </p:spPr>
      </p:sp>
      <p:sp>
        <p:nvSpPr>
          <p:cNvPr id="10" name="Text 8"/>
          <p:cNvSpPr txBox="1"/>
          <p:nvPr/>
        </p:nvSpPr>
        <p:spPr>
          <a:xfrm>
            <a:off x="4526280" y="1600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 9"/>
          <p:cNvSpPr txBox="1"/>
          <p:nvPr/>
        </p:nvSpPr>
        <p:spPr>
          <a:xfrm>
            <a:off x="4526280" y="2423160"/>
            <a:ext cx="3154680" cy="868680"/>
          </a:xfrm>
          <a:prstGeom prst="rect">
            <a:avLst/>
          </a:prstGeom>
          <a:noFill/>
          <a:ln/>
        </p:spPr>
        <p:txBody>
          <a:bodyPr wrap="square" lIns="0" tIns="0" rIns="0" bIns="0" rtlCol="0" anchor="t"/>
          <a:lstStyle/>
          <a:p>
            <a:pPr indent="0" marL="0">
              <a:buNone/>
            </a:pPr>
            <a:r>
              <a:rPr lang="en-US" sz="1900" b="1" dirty="0">
                <a:solidFill>
                  <a:schemeClr val="tx2"/>
                </a:solidFill>
              </a:rPr>
              <a:t>Plan de mejora con metas medibles</a:t>
            </a:r>
            <a:endParaRPr lang="en-US" sz="1900" dirty="0"/>
          </a:p>
        </p:txBody>
      </p:sp>
      <p:sp>
        <p:nvSpPr>
          <p:cNvPr id="12" name="Text 10"/>
          <p:cNvSpPr txBox="1"/>
          <p:nvPr/>
        </p:nvSpPr>
        <p:spPr>
          <a:xfrm>
            <a:off x="4526280" y="3383280"/>
            <a:ext cx="3154680" cy="2651760"/>
          </a:xfrm>
          <a:prstGeom prst="rect">
            <a:avLst/>
          </a:prstGeom>
          <a:noFill/>
          <a:ln/>
        </p:spPr>
        <p:txBody>
          <a:bodyPr wrap="square" lIns="0" tIns="0" rIns="0" bIns="0" rtlCol="0" anchor="t"/>
          <a:lstStyle/>
          <a:p>
            <a:pPr indent="0" marL="0">
              <a:buNone/>
            </a:pPr>
            <a:r>
              <a:rPr lang="en-US" sz="1500" dirty="0">
                <a:solidFill>
                  <a:schemeClr val="tx1"/>
                </a:solidFill>
              </a:rPr>
              <a:t>VidaPlus: revisar Urgencias en Sur y bajar la espera de 51 a menos de 40 min. RutaExpress: plan con T1, auditar las devoluciones de T3 y revisar el plazo de 1 día por zona.</a:t>
            </a:r>
            <a:endParaRPr lang="en-US" sz="1500" dirty="0"/>
          </a:p>
        </p:txBody>
      </p:sp>
      <p:sp>
        <p:nvSpPr>
          <p:cNvPr id="13" name="Shape 11"/>
          <p:cNvSpPr/>
          <p:nvPr/>
        </p:nvSpPr>
        <p:spPr>
          <a:xfrm>
            <a:off x="8046720" y="1371600"/>
            <a:ext cx="3611880" cy="4846320"/>
          </a:xfrm>
          <a:prstGeom prst="roundRect">
            <a:avLst>
              <a:gd name="adj" fmla="val 2025"/>
            </a:avLst>
          </a:prstGeom>
          <a:solidFill>
            <a:schemeClr val="bg2"/>
          </a:solidFill>
          <a:ln w="12700">
            <a:solidFill>
              <a:schemeClr val="bg2"/>
            </a:solidFill>
            <a:prstDash val="solid"/>
          </a:ln>
        </p:spPr>
      </p:sp>
      <p:sp>
        <p:nvSpPr>
          <p:cNvPr id="14" name="Shape 12"/>
          <p:cNvSpPr/>
          <p:nvPr/>
        </p:nvSpPr>
        <p:spPr>
          <a:xfrm>
            <a:off x="8275320" y="1600200"/>
            <a:ext cx="640080" cy="640080"/>
          </a:xfrm>
          <a:prstGeom prst="ellipse">
            <a:avLst/>
          </a:prstGeom>
          <a:solidFill>
            <a:schemeClr val="accent2"/>
          </a:solidFill>
          <a:ln w="12700">
            <a:solidFill>
              <a:schemeClr val="accent2"/>
            </a:solidFill>
            <a:prstDash val="solid"/>
          </a:ln>
        </p:spPr>
      </p:sp>
      <p:sp>
        <p:nvSpPr>
          <p:cNvPr id="15" name="Text 13"/>
          <p:cNvSpPr txBox="1"/>
          <p:nvPr/>
        </p:nvSpPr>
        <p:spPr>
          <a:xfrm>
            <a:off x="8275320" y="160020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6" name="Text 14"/>
          <p:cNvSpPr txBox="1"/>
          <p:nvPr/>
        </p:nvSpPr>
        <p:spPr>
          <a:xfrm>
            <a:off x="8275320" y="2423160"/>
            <a:ext cx="3154680" cy="868680"/>
          </a:xfrm>
          <a:prstGeom prst="rect">
            <a:avLst/>
          </a:prstGeom>
          <a:noFill/>
          <a:ln/>
        </p:spPr>
        <p:txBody>
          <a:bodyPr wrap="square" lIns="0" tIns="0" rIns="0" bIns="0" rtlCol="0" anchor="t"/>
          <a:lstStyle/>
          <a:p>
            <a:pPr indent="0" marL="0">
              <a:buNone/>
            </a:pPr>
            <a:r>
              <a:rPr lang="en-US" sz="1900" b="1" dirty="0">
                <a:solidFill>
                  <a:schemeClr val="tx2"/>
                </a:solidFill>
              </a:rPr>
              <a:t>Campaña de clientes en dos fases</a:t>
            </a:r>
            <a:endParaRPr lang="en-US" sz="1900" dirty="0"/>
          </a:p>
        </p:txBody>
      </p:sp>
      <p:sp>
        <p:nvSpPr>
          <p:cNvPr id="17" name="Text 15"/>
          <p:cNvSpPr txBox="1"/>
          <p:nvPr/>
        </p:nvSpPr>
        <p:spPr>
          <a:xfrm>
            <a:off x="8275320" y="3383280"/>
            <a:ext cx="3154680" cy="2651760"/>
          </a:xfrm>
          <a:prstGeom prst="rect">
            <a:avLst/>
          </a:prstGeom>
          <a:noFill/>
          <a:ln/>
        </p:spPr>
        <p:txBody>
          <a:bodyPr wrap="square" lIns="0" tIns="0" rIns="0" bIns="0" rtlCol="0" anchor="t"/>
          <a:lstStyle/>
          <a:p>
            <a:pPr indent="0" marL="0">
              <a:buNone/>
            </a:pPr>
            <a:r>
              <a:rPr lang="en-US" sz="1500" dirty="0">
                <a:solidFill>
                  <a:schemeClr val="tx1"/>
                </a:solidFill>
              </a:rPr>
              <a:t>Recuperar a C033, C007, C015, C023 y C031; luego fidelizar al top 5 y empujar a C006 y C014. Medir con el gasto a 90 días y los días desde la última compra.</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Fuentes de información y bibliografía</a:t>
            </a:r>
            <a:endParaRPr lang="en-US" sz="3000" dirty="0"/>
          </a:p>
        </p:txBody>
      </p:sp>
      <p:sp>
        <p:nvSpPr>
          <p:cNvPr id="3" name="Text 1"/>
          <p:cNvSpPr txBox="1"/>
          <p:nvPr/>
        </p:nvSpPr>
        <p:spPr>
          <a:xfrm>
            <a:off x="548640" y="146304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Universidad EAN. (2026). Datos_ETL_Cuatro_Desafios.zip y guía de la Learning Activity 3 – Data Intelligence Challenge [Material de clase]. Bogotá, Colombia.</a:t>
            </a:r>
            <a:endParaRPr lang="en-US" sz="1600" dirty="0"/>
          </a:p>
          <a:p>
            <a:pPr marL="342900" indent="-342900">
              <a:spcAft>
                <a:spcPts val="600"/>
              </a:spcAft>
              <a:buSzPct val="100000"/>
              <a:buChar char="•"/>
            </a:pPr>
            <a:r>
              <a:rPr lang="en-US" sz="1600" dirty="0">
                <a:solidFill>
                  <a:schemeClr val="tx1"/>
                </a:solidFill>
              </a:rPr>
              <a:t>Microsoft. (s. f.). Power Query documentation. Microsoft Learn. https://learn.microsoft.com/en-us/power-query/</a:t>
            </a:r>
            <a:endParaRPr lang="en-US" sz="1600" dirty="0"/>
          </a:p>
          <a:p>
            <a:pPr marL="342900" indent="-342900">
              <a:spcAft>
                <a:spcPts val="600"/>
              </a:spcAft>
              <a:buSzPct val="100000"/>
              <a:buChar char="•"/>
            </a:pPr>
            <a:r>
              <a:rPr lang="en-US" sz="1600" dirty="0">
                <a:solidFill>
                  <a:schemeClr val="tx1"/>
                </a:solidFill>
              </a:rPr>
              <a:t>Microsoft. (s. f.). DAX overview. Microsoft Learn. https://learn.microsoft.com/en-us/dax/dax-overview</a:t>
            </a:r>
            <a:endParaRPr lang="en-US" sz="1600" dirty="0"/>
          </a:p>
          <a:p>
            <a:pPr marL="342900" indent="-342900">
              <a:spcAft>
                <a:spcPts val="600"/>
              </a:spcAft>
              <a:buSzPct val="100000"/>
              <a:buChar char="•"/>
            </a:pPr>
            <a:r>
              <a:rPr lang="en-US" sz="1600" dirty="0">
                <a:solidFill>
                  <a:schemeClr val="tx1"/>
                </a:solidFill>
              </a:rPr>
              <a:t>The pandas development team. (s. f.). pandas documentation. https://pandas.pydata.org/docs/</a:t>
            </a:r>
            <a:endParaRPr lang="en-US" sz="1600" dirty="0"/>
          </a:p>
          <a:p>
            <a:pPr marL="342900" indent="-342900">
              <a:spcAft>
                <a:spcPts val="600"/>
              </a:spcAft>
              <a:buSzPct val="100000"/>
              <a:buChar char="•"/>
            </a:pPr>
            <a:r>
              <a:rPr lang="en-US" sz="1600" dirty="0">
                <a:solidFill>
                  <a:schemeClr val="tx1"/>
                </a:solidFill>
              </a:rPr>
              <a:t>Hunter, J. D. (2007). Matplotlib: A 2D graphics environment. Computing in Science &amp; Engineering, 9(3), 90–95.</a:t>
            </a:r>
            <a:endParaRPr lang="en-US" sz="16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868680"/>
          </a:xfrm>
          <a:prstGeom prst="rect">
            <a:avLst/>
          </a:prstGeom>
          <a:noFill/>
          <a:ln/>
        </p:spPr>
        <p:txBody>
          <a:bodyPr wrap="square" lIns="0" tIns="0" rIns="0" bIns="0" rtlCol="0" anchor="ctr"/>
          <a:lstStyle/>
          <a:p>
            <a:pPr algn="l" indent="0" marL="0">
              <a:buNone/>
            </a:pPr>
            <a:r>
              <a:rPr lang="en-US" sz="3000" b="1" dirty="0">
                <a:solidFill>
                  <a:schemeClr val="tx2"/>
                </a:solidFill>
              </a:rPr>
              <a:t>Anexos</a:t>
            </a:r>
            <a:endParaRPr lang="en-US" sz="3000" dirty="0"/>
          </a:p>
        </p:txBody>
      </p:sp>
      <p:sp>
        <p:nvSpPr>
          <p:cNvPr id="3" name="Shape 1"/>
          <p:cNvSpPr/>
          <p:nvPr/>
        </p:nvSpPr>
        <p:spPr>
          <a:xfrm>
            <a:off x="548640" y="1371600"/>
            <a:ext cx="3611880" cy="3291840"/>
          </a:xfrm>
          <a:prstGeom prst="roundRect">
            <a:avLst>
              <a:gd name="adj" fmla="val 2222"/>
            </a:avLst>
          </a:prstGeom>
          <a:solidFill>
            <a:schemeClr val="bg2"/>
          </a:solidFill>
          <a:ln w="12700">
            <a:solidFill>
              <a:schemeClr val="bg2"/>
            </a:solidFill>
            <a:prstDash val="solid"/>
          </a:ln>
        </p:spPr>
      </p:sp>
      <p:sp>
        <p:nvSpPr>
          <p:cNvPr id="4" name="Text 2"/>
          <p:cNvSpPr txBox="1"/>
          <p:nvPr/>
        </p:nvSpPr>
        <p:spPr>
          <a:xfrm>
            <a:off x="777240" y="1554480"/>
            <a:ext cx="3154680" cy="457200"/>
          </a:xfrm>
          <a:prstGeom prst="rect">
            <a:avLst/>
          </a:prstGeom>
          <a:noFill/>
          <a:ln/>
        </p:spPr>
        <p:txBody>
          <a:bodyPr wrap="square" lIns="0" tIns="0" rIns="0" bIns="0" rtlCol="0" anchor="t"/>
          <a:lstStyle/>
          <a:p>
            <a:pPr indent="0" marL="0">
              <a:buNone/>
            </a:pPr>
            <a:r>
              <a:rPr lang="en-US" sz="2000" b="1" dirty="0">
                <a:solidFill>
                  <a:schemeClr val="accent1"/>
                </a:solidFill>
              </a:rPr>
              <a:t>Código</a:t>
            </a:r>
            <a:endParaRPr lang="en-US" sz="2000" dirty="0"/>
          </a:p>
        </p:txBody>
      </p:sp>
      <p:sp>
        <p:nvSpPr>
          <p:cNvPr id="5" name="Text 3"/>
          <p:cNvSpPr txBox="1"/>
          <p:nvPr/>
        </p:nvSpPr>
        <p:spPr>
          <a:xfrm>
            <a:off x="777240" y="2148840"/>
            <a:ext cx="315468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Notebook_Ej3_Ej4.ipynb (ejercicios 3 y 4, con comentarios)</a:t>
            </a:r>
            <a:endParaRPr lang="en-US" sz="1500" dirty="0"/>
          </a:p>
          <a:p>
            <a:pPr marL="342900" indent="-342900">
              <a:spcAft>
                <a:spcPts val="600"/>
              </a:spcAft>
              <a:buSzPct val="100000"/>
              <a:buChar char="•"/>
            </a:pPr>
            <a:r>
              <a:rPr lang="en-US" sz="1500" dirty="0">
                <a:solidFill>
                  <a:schemeClr val="tx1"/>
                </a:solidFill>
              </a:rPr>
              <a:t>Power Query (M) y medidas DAX de los ejercicios 1 y 2 (en el informe, Anexo A)</a:t>
            </a:r>
            <a:endParaRPr lang="en-US" sz="1500" dirty="0"/>
          </a:p>
        </p:txBody>
      </p:sp>
      <p:sp>
        <p:nvSpPr>
          <p:cNvPr id="6" name="Shape 4"/>
          <p:cNvSpPr/>
          <p:nvPr/>
        </p:nvSpPr>
        <p:spPr>
          <a:xfrm>
            <a:off x="4297680" y="1371600"/>
            <a:ext cx="3611880" cy="3291840"/>
          </a:xfrm>
          <a:prstGeom prst="roundRect">
            <a:avLst>
              <a:gd name="adj" fmla="val 2222"/>
            </a:avLst>
          </a:prstGeom>
          <a:solidFill>
            <a:schemeClr val="bg2"/>
          </a:solidFill>
          <a:ln w="12700">
            <a:solidFill>
              <a:schemeClr val="bg2"/>
            </a:solidFill>
            <a:prstDash val="solid"/>
          </a:ln>
        </p:spPr>
      </p:sp>
      <p:sp>
        <p:nvSpPr>
          <p:cNvPr id="7" name="Text 5"/>
          <p:cNvSpPr txBox="1"/>
          <p:nvPr/>
        </p:nvSpPr>
        <p:spPr>
          <a:xfrm>
            <a:off x="4526280" y="1554480"/>
            <a:ext cx="3154680" cy="457200"/>
          </a:xfrm>
          <a:prstGeom prst="rect">
            <a:avLst/>
          </a:prstGeom>
          <a:noFill/>
          <a:ln/>
        </p:spPr>
        <p:txBody>
          <a:bodyPr wrap="square" lIns="0" tIns="0" rIns="0" bIns="0" rtlCol="0" anchor="t"/>
          <a:lstStyle/>
          <a:p>
            <a:pPr indent="0" marL="0">
              <a:buNone/>
            </a:pPr>
            <a:r>
              <a:rPr lang="en-US" sz="2000" b="1" dirty="0">
                <a:solidFill>
                  <a:schemeClr val="accent1"/>
                </a:solidFill>
              </a:rPr>
              <a:t>Archivos depurados</a:t>
            </a:r>
            <a:endParaRPr lang="en-US" sz="2000" dirty="0"/>
          </a:p>
        </p:txBody>
      </p:sp>
      <p:sp>
        <p:nvSpPr>
          <p:cNvPr id="8" name="Text 6"/>
          <p:cNvSpPr txBox="1"/>
          <p:nvPr/>
        </p:nvSpPr>
        <p:spPr>
          <a:xfrm>
            <a:off x="4526280" y="2148840"/>
            <a:ext cx="315468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RutaExpress_Limpio.csv (36 × 10)</a:t>
            </a:r>
            <a:endParaRPr lang="en-US" sz="1500" dirty="0"/>
          </a:p>
          <a:p>
            <a:pPr marL="342900" indent="-342900">
              <a:spcAft>
                <a:spcPts val="600"/>
              </a:spcAft>
              <a:buSzPct val="100000"/>
              <a:buChar char="•"/>
            </a:pPr>
            <a:r>
              <a:rPr lang="en-US" sz="1500" dirty="0">
                <a:solidFill>
                  <a:schemeClr val="tx1"/>
                </a:solidFill>
              </a:rPr>
              <a:t>NovaMarket_Clientes_Limpio.csv (36 × 10)</a:t>
            </a:r>
            <a:endParaRPr lang="en-US" sz="1500" dirty="0"/>
          </a:p>
          <a:p>
            <a:pPr marL="342900" indent="-342900">
              <a:spcAft>
                <a:spcPts val="600"/>
              </a:spcAft>
              <a:buSzPct val="100000"/>
              <a:buChar char="•"/>
            </a:pPr>
            <a:r>
              <a:rPr lang="en-US" sz="1500" dirty="0">
                <a:solidFill>
                  <a:schemeClr val="tx1"/>
                </a:solidFill>
              </a:rPr>
              <a:t>Bitácora de 12 cambios (informe, Anexo C)</a:t>
            </a:r>
            <a:endParaRPr lang="en-US" sz="1500" dirty="0"/>
          </a:p>
        </p:txBody>
      </p:sp>
      <p:sp>
        <p:nvSpPr>
          <p:cNvPr id="9" name="Shape 7"/>
          <p:cNvSpPr/>
          <p:nvPr/>
        </p:nvSpPr>
        <p:spPr>
          <a:xfrm>
            <a:off x="8046720" y="1371600"/>
            <a:ext cx="3611880" cy="3291840"/>
          </a:xfrm>
          <a:prstGeom prst="roundRect">
            <a:avLst>
              <a:gd name="adj" fmla="val 2222"/>
            </a:avLst>
          </a:prstGeom>
          <a:solidFill>
            <a:schemeClr val="bg2"/>
          </a:solidFill>
          <a:ln w="12700">
            <a:solidFill>
              <a:schemeClr val="bg2"/>
            </a:solidFill>
            <a:prstDash val="solid"/>
          </a:ln>
        </p:spPr>
      </p:sp>
      <p:sp>
        <p:nvSpPr>
          <p:cNvPr id="10" name="Text 8"/>
          <p:cNvSpPr txBox="1"/>
          <p:nvPr/>
        </p:nvSpPr>
        <p:spPr>
          <a:xfrm>
            <a:off x="8275320" y="1554480"/>
            <a:ext cx="3154680" cy="457200"/>
          </a:xfrm>
          <a:prstGeom prst="rect">
            <a:avLst/>
          </a:prstGeom>
          <a:noFill/>
          <a:ln/>
        </p:spPr>
        <p:txBody>
          <a:bodyPr wrap="square" lIns="0" tIns="0" rIns="0" bIns="0" rtlCol="0" anchor="t"/>
          <a:lstStyle/>
          <a:p>
            <a:pPr indent="0" marL="0">
              <a:buNone/>
            </a:pPr>
            <a:r>
              <a:rPr lang="en-US" sz="2000" b="1" dirty="0">
                <a:solidFill>
                  <a:schemeClr val="accent1"/>
                </a:solidFill>
              </a:rPr>
              <a:t>Capturas complementarias</a:t>
            </a:r>
            <a:endParaRPr lang="en-US" sz="2000" dirty="0"/>
          </a:p>
        </p:txBody>
      </p:sp>
      <p:sp>
        <p:nvSpPr>
          <p:cNvPr id="11" name="Text 9"/>
          <p:cNvSpPr txBox="1"/>
          <p:nvPr/>
        </p:nvSpPr>
        <p:spPr>
          <a:xfrm>
            <a:off x="8275320" y="2148840"/>
            <a:ext cx="3154680" cy="2377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Capturas 1 a 4 de esta presentación (salidas reales del notebook)</a:t>
            </a:r>
            <a:endParaRPr lang="en-US" sz="1500" dirty="0"/>
          </a:p>
          <a:p>
            <a:pPr marL="342900" indent="-342900">
              <a:spcAft>
                <a:spcPts val="600"/>
              </a:spcAft>
              <a:buSzPct val="100000"/>
              <a:buChar char="•"/>
            </a:pPr>
            <a:r>
              <a:rPr lang="en-US" sz="1500" dirty="0">
                <a:solidFill>
                  <a:schemeClr val="tx1"/>
                </a:solidFill>
              </a:rPr>
              <a:t>Salidas completas de head(), info() e isna() en el notebook</a:t>
            </a:r>
            <a:endParaRPr lang="en-US" sz="1500" dirty="0"/>
          </a:p>
          <a:p>
            <a:pPr marL="342900" indent="-342900">
              <a:spcAft>
                <a:spcPts val="600"/>
              </a:spcAft>
              <a:buSzPct val="100000"/>
              <a:buChar char="•"/>
            </a:pPr>
            <a:r>
              <a:rPr lang="en-US" sz="1500" dirty="0">
                <a:solidFill>
                  <a:schemeClr val="tx1"/>
                </a:solidFill>
              </a:rPr>
              <a:t>Gráficos individuales en la carpeta graficos/</a:t>
            </a:r>
            <a:endParaRPr lang="en-US" sz="1500" dirty="0"/>
          </a:p>
        </p:txBody>
      </p:sp>
      <p:sp>
        <p:nvSpPr>
          <p:cNvPr id="25" name="Slide Number Placeholder 0"/>
          <p:cNvSpPr>
            <a:spLocks noGrp="1"/>
          </p:cNvSpPr>
          <p:nvPr>
            <p:ph type="sldNum" sz="quarter" idx="4294967295"/>
          </p:nvPr>
        </p:nvSpPr>
        <p:spPr>
          <a:xfrm>
            <a:off x="1115568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822960" y="640080"/>
            <a:ext cx="10058400" cy="822960"/>
          </a:xfrm>
          <a:prstGeom prst="rect">
            <a:avLst/>
          </a:prstGeom>
          <a:noFill/>
          <a:ln/>
        </p:spPr>
        <p:txBody>
          <a:bodyPr wrap="square" lIns="0" tIns="0" rIns="0" bIns="0" rtlCol="0" anchor="t"/>
          <a:lstStyle/>
          <a:p>
            <a:pPr indent="0" marL="0">
              <a:buNone/>
            </a:pPr>
            <a:r>
              <a:rPr lang="en-US" sz="4000" b="1" dirty="0">
                <a:solidFill>
                  <a:schemeClr val="bg1"/>
                </a:solidFill>
              </a:rPr>
              <a:t>Demostración en vivo</a:t>
            </a:r>
            <a:endParaRPr lang="en-US" sz="4000" dirty="0"/>
          </a:p>
        </p:txBody>
      </p:sp>
      <p:sp>
        <p:nvSpPr>
          <p:cNvPr id="3" name="Text 1"/>
          <p:cNvSpPr txBox="1"/>
          <p:nvPr/>
        </p:nvSpPr>
        <p:spPr>
          <a:xfrm>
            <a:off x="822960" y="1463040"/>
            <a:ext cx="10058400" cy="457200"/>
          </a:xfrm>
          <a:prstGeom prst="rect">
            <a:avLst/>
          </a:prstGeom>
          <a:noFill/>
          <a:ln/>
        </p:spPr>
        <p:txBody>
          <a:bodyPr wrap="square" lIns="0" tIns="0" rIns="0" bIns="0" rtlCol="0" anchor="t"/>
          <a:lstStyle/>
          <a:p>
            <a:pPr indent="0" marL="0">
              <a:buNone/>
            </a:pPr>
            <a:r>
              <a:rPr lang="en-US" sz="2000" dirty="0">
                <a:solidFill>
                  <a:schemeClr val="bg2"/>
                </a:solidFill>
              </a:rPr>
              <a:t>Listo para mostrar el ejercicio que pida el profesor</a:t>
            </a:r>
            <a:endParaRPr lang="en-US" sz="2000" dirty="0"/>
          </a:p>
        </p:txBody>
      </p:sp>
      <p:sp>
        <p:nvSpPr>
          <p:cNvPr id="4" name="Shape 2"/>
          <p:cNvSpPr/>
          <p:nvPr/>
        </p:nvSpPr>
        <p:spPr>
          <a:xfrm>
            <a:off x="822960" y="2377440"/>
            <a:ext cx="5120640" cy="1691640"/>
          </a:xfrm>
          <a:prstGeom prst="roundRect">
            <a:avLst>
              <a:gd name="adj" fmla="val 4324"/>
            </a:avLst>
          </a:prstGeom>
          <a:solidFill>
            <a:schemeClr val="accent1">
              <a:alpha val="25000"/>
            </a:schemeClr>
          </a:solidFill>
          <a:ln w="12700">
            <a:solidFill>
              <a:schemeClr val="accent1"/>
            </a:solidFill>
            <a:prstDash val="solid"/>
          </a:ln>
        </p:spPr>
      </p:sp>
      <p:sp>
        <p:nvSpPr>
          <p:cNvPr id="5" name="Text 3"/>
          <p:cNvSpPr txBox="1"/>
          <p:nvPr/>
        </p:nvSpPr>
        <p:spPr>
          <a:xfrm>
            <a:off x="1051560" y="2514600"/>
            <a:ext cx="4663440" cy="411480"/>
          </a:xfrm>
          <a:prstGeom prst="rect">
            <a:avLst/>
          </a:prstGeom>
          <a:noFill/>
          <a:ln/>
        </p:spPr>
        <p:txBody>
          <a:bodyPr wrap="square" lIns="0" tIns="0" rIns="0" bIns="0" rtlCol="0" anchor="t"/>
          <a:lstStyle/>
          <a:p>
            <a:pPr indent="0" marL="0">
              <a:buNone/>
            </a:pPr>
            <a:r>
              <a:rPr lang="en-US" sz="2000" b="1" dirty="0">
                <a:solidFill>
                  <a:schemeClr val="bg1"/>
                </a:solidFill>
              </a:rPr>
              <a:t>Ejercicio 1 · Power BI</a:t>
            </a:r>
            <a:endParaRPr lang="en-US" sz="2000" dirty="0"/>
          </a:p>
        </p:txBody>
      </p:sp>
      <p:sp>
        <p:nvSpPr>
          <p:cNvPr id="6" name="Text 4"/>
          <p:cNvSpPr txBox="1"/>
          <p:nvPr/>
        </p:nvSpPr>
        <p:spPr>
          <a:xfrm>
            <a:off x="1051560" y="3017520"/>
            <a:ext cx="4663440" cy="960120"/>
          </a:xfrm>
          <a:prstGeom prst="rect">
            <a:avLst/>
          </a:prstGeom>
          <a:noFill/>
          <a:ln/>
        </p:spPr>
        <p:txBody>
          <a:bodyPr wrap="square" lIns="0" tIns="0" rIns="0" bIns="0" rtlCol="0" anchor="t"/>
          <a:lstStyle/>
          <a:p>
            <a:pPr indent="0" marL="0">
              <a:buNone/>
            </a:pPr>
            <a:r>
              <a:rPr lang="en-US" sz="1500" dirty="0">
                <a:solidFill>
                  <a:schemeClr val="bg1"/>
                </a:solidFill>
              </a:rPr>
              <a:t>Pasos aplicados · tabla Ventas · tarjetas: $12.723.750 / $12.748.750 / $25.000</a:t>
            </a:r>
            <a:endParaRPr lang="en-US" sz="1500" dirty="0"/>
          </a:p>
        </p:txBody>
      </p:sp>
      <p:sp>
        <p:nvSpPr>
          <p:cNvPr id="7" name="Shape 5"/>
          <p:cNvSpPr/>
          <p:nvPr/>
        </p:nvSpPr>
        <p:spPr>
          <a:xfrm>
            <a:off x="6217920" y="2377440"/>
            <a:ext cx="5120640" cy="1691640"/>
          </a:xfrm>
          <a:prstGeom prst="roundRect">
            <a:avLst>
              <a:gd name="adj" fmla="val 4324"/>
            </a:avLst>
          </a:prstGeom>
          <a:solidFill>
            <a:schemeClr val="accent1">
              <a:alpha val="25000"/>
            </a:schemeClr>
          </a:solidFill>
          <a:ln w="12700">
            <a:solidFill>
              <a:schemeClr val="accent1"/>
            </a:solidFill>
            <a:prstDash val="solid"/>
          </a:ln>
        </p:spPr>
      </p:sp>
      <p:sp>
        <p:nvSpPr>
          <p:cNvPr id="8" name="Text 6"/>
          <p:cNvSpPr txBox="1"/>
          <p:nvPr/>
        </p:nvSpPr>
        <p:spPr>
          <a:xfrm>
            <a:off x="6446520" y="2514600"/>
            <a:ext cx="4663440" cy="411480"/>
          </a:xfrm>
          <a:prstGeom prst="rect">
            <a:avLst/>
          </a:prstGeom>
          <a:noFill/>
          <a:ln/>
        </p:spPr>
        <p:txBody>
          <a:bodyPr wrap="square" lIns="0" tIns="0" rIns="0" bIns="0" rtlCol="0" anchor="t"/>
          <a:lstStyle/>
          <a:p>
            <a:pPr indent="0" marL="0">
              <a:buNone/>
            </a:pPr>
            <a:r>
              <a:rPr lang="en-US" sz="2000" b="1" dirty="0">
                <a:solidFill>
                  <a:schemeClr val="bg1"/>
                </a:solidFill>
              </a:rPr>
              <a:t>Ejercicio 2 · Power BI</a:t>
            </a:r>
            <a:endParaRPr lang="en-US" sz="2000" dirty="0"/>
          </a:p>
        </p:txBody>
      </p:sp>
      <p:sp>
        <p:nvSpPr>
          <p:cNvPr id="9" name="Text 7"/>
          <p:cNvSpPr txBox="1"/>
          <p:nvPr/>
        </p:nvSpPr>
        <p:spPr>
          <a:xfrm>
            <a:off x="6446520" y="3017520"/>
            <a:ext cx="4663440" cy="960120"/>
          </a:xfrm>
          <a:prstGeom prst="rect">
            <a:avLst/>
          </a:prstGeom>
          <a:noFill/>
          <a:ln/>
        </p:spPr>
        <p:txBody>
          <a:bodyPr wrap="square" lIns="0" tIns="0" rIns="0" bIns="0" rtlCol="0" anchor="t"/>
          <a:lstStyle/>
          <a:p>
            <a:pPr indent="0" marL="0">
              <a:buNone/>
            </a:pPr>
            <a:r>
              <a:rPr lang="en-US" sz="1500" dirty="0">
                <a:solidFill>
                  <a:schemeClr val="bg1"/>
                </a:solidFill>
              </a:rPr>
              <a:t>Intervalo_Espera · tabla Atenciones · 51,4 % &gt; 40 min · Sur 51,0 min</a:t>
            </a:r>
            <a:endParaRPr lang="en-US" sz="1500" dirty="0"/>
          </a:p>
        </p:txBody>
      </p:sp>
      <p:sp>
        <p:nvSpPr>
          <p:cNvPr id="10" name="Shape 8"/>
          <p:cNvSpPr/>
          <p:nvPr/>
        </p:nvSpPr>
        <p:spPr>
          <a:xfrm>
            <a:off x="822960" y="4297680"/>
            <a:ext cx="5120640" cy="1691640"/>
          </a:xfrm>
          <a:prstGeom prst="roundRect">
            <a:avLst>
              <a:gd name="adj" fmla="val 4324"/>
            </a:avLst>
          </a:prstGeom>
          <a:solidFill>
            <a:schemeClr val="accent1">
              <a:alpha val="25000"/>
            </a:schemeClr>
          </a:solidFill>
          <a:ln w="12700">
            <a:solidFill>
              <a:schemeClr val="accent1"/>
            </a:solidFill>
            <a:prstDash val="solid"/>
          </a:ln>
        </p:spPr>
      </p:sp>
      <p:sp>
        <p:nvSpPr>
          <p:cNvPr id="11" name="Text 9"/>
          <p:cNvSpPr txBox="1"/>
          <p:nvPr/>
        </p:nvSpPr>
        <p:spPr>
          <a:xfrm>
            <a:off x="1051560" y="4434840"/>
            <a:ext cx="4663440" cy="411480"/>
          </a:xfrm>
          <a:prstGeom prst="rect">
            <a:avLst/>
          </a:prstGeom>
          <a:noFill/>
          <a:ln/>
        </p:spPr>
        <p:txBody>
          <a:bodyPr wrap="square" lIns="0" tIns="0" rIns="0" bIns="0" rtlCol="0" anchor="t"/>
          <a:lstStyle/>
          <a:p>
            <a:pPr indent="0" marL="0">
              <a:buNone/>
            </a:pPr>
            <a:r>
              <a:rPr lang="en-US" sz="2000" b="1" dirty="0">
                <a:solidFill>
                  <a:schemeClr val="bg1"/>
                </a:solidFill>
              </a:rPr>
              <a:t>Ejercicio 3 · Python</a:t>
            </a:r>
            <a:endParaRPr lang="en-US" sz="2000" dirty="0"/>
          </a:p>
        </p:txBody>
      </p:sp>
      <p:sp>
        <p:nvSpPr>
          <p:cNvPr id="12" name="Text 10"/>
          <p:cNvSpPr txBox="1"/>
          <p:nvPr/>
        </p:nvSpPr>
        <p:spPr>
          <a:xfrm>
            <a:off x="1051560" y="4937760"/>
            <a:ext cx="4663440" cy="960120"/>
          </a:xfrm>
          <a:prstGeom prst="rect">
            <a:avLst/>
          </a:prstGeom>
          <a:noFill/>
          <a:ln/>
        </p:spPr>
        <p:txBody>
          <a:bodyPr wrap="square" lIns="0" tIns="0" rIns="0" bIns="0" rtlCol="0" anchor="t"/>
          <a:lstStyle/>
          <a:p>
            <a:pPr indent="0" marL="0">
              <a:buNone/>
            </a:pPr>
            <a:r>
              <a:rPr lang="en-US" sz="1500" dirty="0">
                <a:solidFill>
                  <a:schemeClr val="bg1"/>
                </a:solidFill>
              </a:rPr>
              <a:t>Colab: lectura, limpieza, 60 % de retrasos, costo Rural $26.000</a:t>
            </a:r>
            <a:endParaRPr lang="en-US" sz="1500" dirty="0"/>
          </a:p>
        </p:txBody>
      </p:sp>
      <p:sp>
        <p:nvSpPr>
          <p:cNvPr id="13" name="Shape 11"/>
          <p:cNvSpPr/>
          <p:nvPr/>
        </p:nvSpPr>
        <p:spPr>
          <a:xfrm>
            <a:off x="6217920" y="4297680"/>
            <a:ext cx="5120640" cy="1691640"/>
          </a:xfrm>
          <a:prstGeom prst="roundRect">
            <a:avLst>
              <a:gd name="adj" fmla="val 4324"/>
            </a:avLst>
          </a:prstGeom>
          <a:solidFill>
            <a:schemeClr val="accent1">
              <a:alpha val="25000"/>
            </a:schemeClr>
          </a:solidFill>
          <a:ln w="12700">
            <a:solidFill>
              <a:schemeClr val="accent1"/>
            </a:solidFill>
            <a:prstDash val="solid"/>
          </a:ln>
        </p:spPr>
      </p:sp>
      <p:sp>
        <p:nvSpPr>
          <p:cNvPr id="14" name="Text 12"/>
          <p:cNvSpPr txBox="1"/>
          <p:nvPr/>
        </p:nvSpPr>
        <p:spPr>
          <a:xfrm>
            <a:off x="6446520" y="4434840"/>
            <a:ext cx="4663440" cy="411480"/>
          </a:xfrm>
          <a:prstGeom prst="rect">
            <a:avLst/>
          </a:prstGeom>
          <a:noFill/>
          <a:ln/>
        </p:spPr>
        <p:txBody>
          <a:bodyPr wrap="square" lIns="0" tIns="0" rIns="0" bIns="0" rtlCol="0" anchor="t"/>
          <a:lstStyle/>
          <a:p>
            <a:pPr indent="0" marL="0">
              <a:buNone/>
            </a:pPr>
            <a:r>
              <a:rPr lang="en-US" sz="2000" b="1" dirty="0">
                <a:solidFill>
                  <a:schemeClr val="bg1"/>
                </a:solidFill>
              </a:rPr>
              <a:t>Ejercicio 4 · Python</a:t>
            </a:r>
            <a:endParaRPr lang="en-US" sz="2000" dirty="0"/>
          </a:p>
        </p:txBody>
      </p:sp>
      <p:sp>
        <p:nvSpPr>
          <p:cNvPr id="15" name="Text 13"/>
          <p:cNvSpPr txBox="1"/>
          <p:nvPr/>
        </p:nvSpPr>
        <p:spPr>
          <a:xfrm>
            <a:off x="6446520" y="4937760"/>
            <a:ext cx="4663440" cy="960120"/>
          </a:xfrm>
          <a:prstGeom prst="rect">
            <a:avLst/>
          </a:prstGeom>
          <a:noFill/>
          <a:ln/>
        </p:spPr>
        <p:txBody>
          <a:bodyPr wrap="square" lIns="0" tIns="0" rIns="0" bIns="0" rtlCol="0" anchor="t"/>
          <a:lstStyle/>
          <a:p>
            <a:pPr indent="0" marL="0">
              <a:buNone/>
            </a:pPr>
            <a:r>
              <a:rPr lang="en-US" sz="1500" dirty="0">
                <a:solidFill>
                  <a:schemeClr val="bg1"/>
                </a:solidFill>
              </a:rPr>
              <a:t>Colab: clasificación 14 / 15 / 5 / 2 y CSV exportado</a:t>
            </a:r>
            <a:endParaRPr lang="en-US" sz="1500" dirty="0"/>
          </a:p>
        </p:txBody>
      </p:sp>
      <p:sp>
        <p:nvSpPr>
          <p:cNvPr id="16" name="Text 14"/>
          <p:cNvSpPr txBox="1"/>
          <p:nvPr/>
        </p:nvSpPr>
        <p:spPr>
          <a:xfrm>
            <a:off x="822960" y="6263640"/>
            <a:ext cx="7315200" cy="411480"/>
          </a:xfrm>
          <a:prstGeom prst="rect">
            <a:avLst/>
          </a:prstGeom>
          <a:noFill/>
          <a:ln/>
        </p:spPr>
        <p:txBody>
          <a:bodyPr wrap="square" lIns="0" tIns="0" rIns="0" bIns="0" rtlCol="0" anchor="t"/>
          <a:lstStyle/>
          <a:p>
            <a:pPr indent="0" marL="0">
              <a:buNone/>
            </a:pPr>
            <a:r>
              <a:rPr lang="en-US" sz="1800" b="1" dirty="0">
                <a:solidFill>
                  <a:schemeClr val="bg2"/>
                </a:solidFill>
              </a:rPr>
              <a:t>Gracias · ¿Preguntas?</a:t>
            </a:r>
            <a:endParaRPr lang="en-US" sz="1800" dirty="0"/>
          </a:p>
        </p:txBody>
      </p:sp>
    </p:spTree>
  </p:cSld>
  <p:clrMapOvr>
    <a:masterClrMapping/>
  </p:clrMapOvr>
</p:sld>
</file>

<file path=ppt/theme/theme1.xml><?xml version="1.0" encoding="utf-8"?>
<a:theme xmlns:a="http://schemas.openxmlformats.org/drawingml/2006/main" name="Data Intelligence">
  <a:themeElements>
    <a:clrScheme name="Data Intelligence">
      <a:dk1>
        <a:srgbClr val="222222"/>
      </a:dk1>
      <a:lt1>
        <a:srgbClr val="FFFFFF"/>
      </a:lt1>
      <a:dk2>
        <a:srgbClr val="1F3864"/>
      </a:dk2>
      <a:lt2>
        <a:srgbClr val="EEF3FA"/>
      </a:lt2>
      <a:accent1>
        <a:srgbClr val="2A78D6"/>
      </a:accent1>
      <a:accent2>
        <a:srgbClr val="EB6834"/>
      </a:accent2>
      <a:accent3>
        <a:srgbClr val="1BAF7A"/>
      </a:accent3>
      <a:accent4>
        <a:srgbClr val="9A9A95"/>
      </a:accent4>
      <a:accent5>
        <a:srgbClr val="6250D6"/>
      </a:accent5>
      <a:accent6>
        <a:srgbClr val="EDA100"/>
      </a:accent6>
      <a:hlink>
        <a:srgbClr val="2A78D6"/>
      </a:hlink>
      <a:folHlink>
        <a:srgbClr val="6250D6"/>
      </a:folHlink>
    </a:clrScheme>
    <a:fontScheme name="Data Intelligen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Intelligence Challenge</dc:title>
  <dc:subject>PptxGenJS Presentation</dc:subject>
  <dc:creator>Jorge Piñeros</dc:creator>
  <cp:lastModifiedBy>Jorge Piñeros</cp:lastModifiedBy>
  <cp:revision>1</cp:revision>
  <dcterms:created xsi:type="dcterms:W3CDTF">2026-10-25T21:28:14Z</dcterms:created>
  <dcterms:modified xsi:type="dcterms:W3CDTF">2026-10-25T21:28:14Z</dcterms:modified>
</cp:coreProperties>
</file>